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95B3B5-B3FD-CF1E-5DFC-CC0C8CF5A7B7}" v="40" dt="2026-02-27T14:10:00.0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2/27/2026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51604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2/27/2026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11643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2/27/2026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4566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2/27/2026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31090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2/27/2026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98235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2/27/2026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8604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2/27/2026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11268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2/27/2026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6933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2/27/2026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64282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2/27/2026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68806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2/27/2026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5660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2/27/2026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78800143"/>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40E07D40-A245-9D21-990E-163093592FF5}"/>
              </a:ext>
            </a:extLst>
          </p:cNvPr>
          <p:cNvPicPr>
            <a:picLocks noChangeAspect="1"/>
          </p:cNvPicPr>
          <p:nvPr/>
        </p:nvPicPr>
        <p:blipFill>
          <a:blip r:embed="rId2">
            <a:alphaModFix amt="40000"/>
          </a:blip>
          <a:srcRect t="25000"/>
          <a:stretch>
            <a:fillRect/>
          </a:stretch>
        </p:blipFill>
        <p:spPr>
          <a:xfrm>
            <a:off x="-2" y="-4"/>
            <a:ext cx="12192001" cy="6858001"/>
          </a:xfrm>
          <a:prstGeom prst="rect">
            <a:avLst/>
          </a:prstGeom>
        </p:spPr>
      </p:pic>
      <p:sp>
        <p:nvSpPr>
          <p:cNvPr id="2" name="Title 1"/>
          <p:cNvSpPr>
            <a:spLocks noGrp="1"/>
          </p:cNvSpPr>
          <p:nvPr>
            <p:ph type="ctrTitle"/>
          </p:nvPr>
        </p:nvSpPr>
        <p:spPr>
          <a:xfrm>
            <a:off x="517870" y="978408"/>
            <a:ext cx="10628720" cy="2450592"/>
          </a:xfrm>
        </p:spPr>
        <p:txBody>
          <a:bodyPr vert="horz" lIns="91440" tIns="45720" rIns="91440" bIns="45720" rtlCol="0" anchor="t">
            <a:noAutofit/>
          </a:bodyPr>
          <a:lstStyle/>
          <a:p>
            <a:r>
              <a:rPr lang="en-US" sz="6000" b="0"/>
              <a:t>Artificial intelligence to enhance BIM-BEPS integration via IFC: Challenges, solutions, and future directions</a:t>
            </a:r>
          </a:p>
          <a:p>
            <a:endParaRPr lang="en-US" b="0" dirty="0"/>
          </a:p>
          <a:p>
            <a:endParaRPr lang="en-US" b="0" dirty="0"/>
          </a:p>
          <a:p>
            <a:pPr>
              <a:lnSpc>
                <a:spcPct val="90000"/>
              </a:lnSpc>
            </a:pPr>
            <a:endParaRPr lang="en-US" sz="5100" dirty="0">
              <a:solidFill>
                <a:srgbClr val="FFFFFF"/>
              </a:solidFill>
              <a:latin typeface="Segoe UI"/>
              <a:cs typeface="Segoe UI"/>
            </a:endParaRPr>
          </a:p>
        </p:txBody>
      </p:sp>
      <p:sp>
        <p:nvSpPr>
          <p:cNvPr id="3" name="Subtitle 2"/>
          <p:cNvSpPr>
            <a:spLocks noGrp="1"/>
          </p:cNvSpPr>
          <p:nvPr>
            <p:ph type="subTitle" idx="1"/>
          </p:nvPr>
        </p:nvSpPr>
        <p:spPr>
          <a:xfrm>
            <a:off x="6652366" y="4017818"/>
            <a:ext cx="5040785" cy="1828799"/>
          </a:xfrm>
        </p:spPr>
        <p:txBody>
          <a:bodyPr anchor="b">
            <a:normAutofit/>
          </a:bodyPr>
          <a:lstStyle/>
          <a:p>
            <a:r>
              <a:rPr lang="en-US" sz="2400">
                <a:solidFill>
                  <a:srgbClr val="FFFFFF"/>
                </a:solidFill>
              </a:rPr>
              <a:t>Week of February 23</a:t>
            </a:r>
            <a:endParaRPr lang="en-US">
              <a:solidFill>
                <a:srgbClr val="FFFFFF"/>
              </a:solidFill>
            </a:endParaRPr>
          </a:p>
          <a:p>
            <a:r>
              <a:rPr lang="en-US" sz="2400" dirty="0">
                <a:solidFill>
                  <a:srgbClr val="FFFFFF"/>
                </a:solidFill>
              </a:rPr>
              <a:t>Jacob Appling</a:t>
            </a:r>
            <a:endParaRPr lang="en-US" dirty="0"/>
          </a:p>
        </p:txBody>
      </p:sp>
      <p:sp>
        <p:nvSpPr>
          <p:cNvPr id="24" name="Rectangle 23">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7" name="Rectangle 3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DC23DC2D-0DFD-B0BD-C646-933B6D10DB32}"/>
              </a:ext>
            </a:extLst>
          </p:cNvPr>
          <p:cNvSpPr>
            <a:spLocks noGrp="1"/>
          </p:cNvSpPr>
          <p:nvPr>
            <p:ph type="title"/>
          </p:nvPr>
        </p:nvSpPr>
        <p:spPr>
          <a:xfrm>
            <a:off x="521208" y="5289381"/>
            <a:ext cx="7263804" cy="1008208"/>
          </a:xfrm>
        </p:spPr>
        <p:txBody>
          <a:bodyPr vert="horz" lIns="91440" tIns="45720" rIns="91440" bIns="45720" rtlCol="0" anchor="ctr">
            <a:normAutofit/>
          </a:bodyPr>
          <a:lstStyle/>
          <a:p>
            <a:pPr>
              <a:lnSpc>
                <a:spcPct val="90000"/>
              </a:lnSpc>
            </a:pPr>
            <a:r>
              <a:rPr lang="en-US" sz="1600"/>
              <a:t>Article #4 (Row 4 via Google Sheet)</a:t>
            </a:r>
          </a:p>
        </p:txBody>
      </p:sp>
      <p:sp>
        <p:nvSpPr>
          <p:cNvPr id="39" name="Freeform: Shape 38">
            <a:extLst>
              <a:ext uri="{FF2B5EF4-FFF2-40B4-BE49-F238E27FC236}">
                <a16:creationId xmlns:a16="http://schemas.microsoft.com/office/drawing/2014/main" id="{FDD57DDC-2075-7CBD-00B4-0A5FF0991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 name="Picture 1" descr="A screenshot of a computer&#10;&#10;AI-generated content may be incorrect.">
            <a:extLst>
              <a:ext uri="{FF2B5EF4-FFF2-40B4-BE49-F238E27FC236}">
                <a16:creationId xmlns:a16="http://schemas.microsoft.com/office/drawing/2014/main" id="{8584BE5C-142C-3745-1374-538ADE89E71C}"/>
              </a:ext>
            </a:extLst>
          </p:cNvPr>
          <p:cNvPicPr>
            <a:picLocks noChangeAspect="1"/>
          </p:cNvPicPr>
          <p:nvPr/>
        </p:nvPicPr>
        <p:blipFill>
          <a:blip r:embed="rId2"/>
          <a:stretch>
            <a:fillRect/>
          </a:stretch>
        </p:blipFill>
        <p:spPr>
          <a:xfrm>
            <a:off x="727685" y="939556"/>
            <a:ext cx="7903551" cy="3669811"/>
          </a:xfrm>
          <a:prstGeom prst="rect">
            <a:avLst/>
          </a:prstGeom>
        </p:spPr>
      </p:pic>
    </p:spTree>
    <p:extLst>
      <p:ext uri="{BB962C8B-B14F-4D97-AF65-F5344CB8AC3E}">
        <p14:creationId xmlns:p14="http://schemas.microsoft.com/office/powerpoint/2010/main" val="2777920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710FC-6EAE-BA9C-1641-3B63159CE6B4}"/>
              </a:ext>
            </a:extLst>
          </p:cNvPr>
          <p:cNvSpPr>
            <a:spLocks noGrp="1"/>
          </p:cNvSpPr>
          <p:nvPr>
            <p:ph type="title"/>
          </p:nvPr>
        </p:nvSpPr>
        <p:spPr/>
        <p:txBody>
          <a:bodyPr/>
          <a:lstStyle/>
          <a:p>
            <a:r>
              <a:rPr lang="en-US" dirty="0"/>
              <a:t>Link to the Source    </a:t>
            </a:r>
          </a:p>
        </p:txBody>
      </p:sp>
      <p:sp>
        <p:nvSpPr>
          <p:cNvPr id="3" name="Content Placeholder 2">
            <a:extLst>
              <a:ext uri="{FF2B5EF4-FFF2-40B4-BE49-F238E27FC236}">
                <a16:creationId xmlns:a16="http://schemas.microsoft.com/office/drawing/2014/main" id="{B3D4E899-76A9-7A08-8C46-D08850176F0C}"/>
              </a:ext>
            </a:extLst>
          </p:cNvPr>
          <p:cNvSpPr>
            <a:spLocks noGrp="1"/>
          </p:cNvSpPr>
          <p:nvPr>
            <p:ph idx="1"/>
          </p:nvPr>
        </p:nvSpPr>
        <p:spPr/>
        <p:txBody>
          <a:bodyPr vert="horz" lIns="91440" tIns="45720" rIns="91440" bIns="45720" rtlCol="0" anchor="t">
            <a:normAutofit/>
          </a:bodyPr>
          <a:lstStyle/>
          <a:p>
            <a:r>
              <a:rPr lang="en-US" sz="2800" dirty="0">
                <a:solidFill>
                  <a:srgbClr val="1155CC"/>
                </a:solidFill>
                <a:ea typeface="+mn-lt"/>
                <a:cs typeface="+mn-lt"/>
              </a:rPr>
              <a:t>https://www.sciencedirect.com/science/article/abs/pii/S1474034625007177</a:t>
            </a:r>
          </a:p>
        </p:txBody>
      </p:sp>
    </p:spTree>
    <p:extLst>
      <p:ext uri="{BB962C8B-B14F-4D97-AF65-F5344CB8AC3E}">
        <p14:creationId xmlns:p14="http://schemas.microsoft.com/office/powerpoint/2010/main" val="2821818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C0A62-D915-1CA6-8C2A-76FBC0EE7B96}"/>
              </a:ext>
            </a:extLst>
          </p:cNvPr>
          <p:cNvSpPr>
            <a:spLocks noGrp="1"/>
          </p:cNvSpPr>
          <p:nvPr>
            <p:ph type="title"/>
          </p:nvPr>
        </p:nvSpPr>
        <p:spPr>
          <a:xfrm>
            <a:off x="521208" y="802562"/>
            <a:ext cx="11155680" cy="740117"/>
          </a:xfrm>
        </p:spPr>
        <p:txBody>
          <a:bodyPr>
            <a:normAutofit fontScale="90000"/>
          </a:bodyPr>
          <a:lstStyle/>
          <a:p>
            <a:r>
              <a:rPr lang="en-US" dirty="0"/>
              <a:t>Main Findings</a:t>
            </a:r>
          </a:p>
        </p:txBody>
      </p:sp>
      <p:sp>
        <p:nvSpPr>
          <p:cNvPr id="3" name="Content Placeholder 2">
            <a:extLst>
              <a:ext uri="{FF2B5EF4-FFF2-40B4-BE49-F238E27FC236}">
                <a16:creationId xmlns:a16="http://schemas.microsoft.com/office/drawing/2014/main" id="{5A9EB02B-DC8F-5BE0-79DB-2C3117E5AE21}"/>
              </a:ext>
            </a:extLst>
          </p:cNvPr>
          <p:cNvSpPr>
            <a:spLocks noGrp="1"/>
          </p:cNvSpPr>
          <p:nvPr>
            <p:ph idx="1"/>
          </p:nvPr>
        </p:nvSpPr>
        <p:spPr>
          <a:xfrm>
            <a:off x="521208" y="1416070"/>
            <a:ext cx="11155680" cy="4607481"/>
          </a:xfrm>
        </p:spPr>
        <p:txBody>
          <a:bodyPr vert="horz" lIns="91440" tIns="45720" rIns="91440" bIns="45720" rtlCol="0" anchor="t">
            <a:noAutofit/>
          </a:bodyPr>
          <a:lstStyle/>
          <a:p>
            <a:r>
              <a:rPr lang="en-US" sz="1400" b="1">
                <a:solidFill>
                  <a:srgbClr val="242424"/>
                </a:solidFill>
                <a:highlight>
                  <a:srgbClr val="FFFFFF"/>
                </a:highlight>
                <a:latin typeface="Segoe UI"/>
                <a:cs typeface="Segoe UI"/>
              </a:rPr>
              <a:t>Core argument: </a:t>
            </a:r>
            <a:r>
              <a:rPr lang="en-US" sz="1400">
                <a:solidFill>
                  <a:srgbClr val="242424"/>
                </a:solidFill>
                <a:highlight>
                  <a:srgbClr val="FFFFFF"/>
                </a:highlight>
                <a:latin typeface="Segoe UI"/>
                <a:cs typeface="Segoe UI"/>
              </a:rPr>
              <a:t>The paper argues that AI can meaningfully improve interoperability between BIM and Building Energy Performance Simulation (BEPS) when the exchange is done through IFC (Industry Foundation Classes), which is widely used but still error-prone and inefficient in practice. </a:t>
            </a:r>
            <a:endParaRPr lang="en-US" sz="1400" dirty="0">
              <a:solidFill>
                <a:srgbClr val="242424"/>
              </a:solidFill>
              <a:highlight>
                <a:srgbClr val="FFFFFF"/>
              </a:highlight>
              <a:latin typeface="Segoe UI"/>
              <a:cs typeface="Segoe UI"/>
            </a:endParaRPr>
          </a:p>
          <a:p>
            <a:r>
              <a:rPr lang="en-US" sz="1400" b="1" dirty="0">
                <a:solidFill>
                  <a:srgbClr val="242424"/>
                </a:solidFill>
                <a:highlight>
                  <a:srgbClr val="FFFFFF"/>
                </a:highlight>
                <a:latin typeface="Segoe UI"/>
                <a:cs typeface="Segoe UI"/>
              </a:rPr>
              <a:t>What the authors do:</a:t>
            </a:r>
            <a:r>
              <a:rPr lang="en-US" sz="1400" dirty="0">
                <a:solidFill>
                  <a:srgbClr val="242424"/>
                </a:solidFill>
                <a:highlight>
                  <a:srgbClr val="FFFFFF"/>
                </a:highlight>
                <a:latin typeface="Segoe UI"/>
                <a:cs typeface="Segoe UI"/>
              </a:rPr>
              <a:t> It’s essentially a structured literature review / mapping study that:</a:t>
            </a:r>
          </a:p>
          <a:p>
            <a:pPr lvl="1"/>
            <a:r>
              <a:rPr lang="en-US" sz="1400" dirty="0">
                <a:solidFill>
                  <a:srgbClr val="242424"/>
                </a:solidFill>
                <a:highlight>
                  <a:srgbClr val="FFFFFF"/>
                </a:highlight>
                <a:latin typeface="Segoe UI"/>
                <a:cs typeface="Segoe UI"/>
              </a:rPr>
              <a:t>identifies where BIM→BEPS workflows break down when exporting/importing IFC,</a:t>
            </a:r>
          </a:p>
          <a:p>
            <a:pPr lvl="1"/>
            <a:r>
              <a:rPr lang="en-US" sz="1400">
                <a:solidFill>
                  <a:srgbClr val="242424"/>
                </a:solidFill>
                <a:highlight>
                  <a:srgbClr val="FFFFFF"/>
                </a:highlight>
                <a:latin typeface="Segoe UI"/>
                <a:cs typeface="Segoe UI"/>
              </a:rPr>
              <a:t>groups these issues into categories (modeling/export quality vs. IFC schema/structure issues),</a:t>
            </a:r>
            <a:endParaRPr lang="en-US" sz="1400" dirty="0">
              <a:solidFill>
                <a:srgbClr val="242424"/>
              </a:solidFill>
              <a:highlight>
                <a:srgbClr val="FFFFFF"/>
              </a:highlight>
              <a:latin typeface="Segoe UI"/>
              <a:cs typeface="Segoe UI"/>
            </a:endParaRPr>
          </a:p>
          <a:p>
            <a:pPr lvl="1"/>
            <a:r>
              <a:rPr lang="en-US" sz="1400">
                <a:solidFill>
                  <a:srgbClr val="242424"/>
                </a:solidFill>
                <a:highlight>
                  <a:srgbClr val="FFFFFF"/>
                </a:highlight>
                <a:latin typeface="Segoe UI"/>
                <a:cs typeface="Segoe UI"/>
              </a:rPr>
              <a:t>and maps AI-enabled solution approaches to those problem types. </a:t>
            </a:r>
            <a:endParaRPr lang="en-US" sz="1400" dirty="0">
              <a:solidFill>
                <a:srgbClr val="242424"/>
              </a:solidFill>
              <a:highlight>
                <a:srgbClr val="FFFFFF"/>
              </a:highlight>
              <a:latin typeface="Segoe UI"/>
              <a:cs typeface="Segoe UI"/>
            </a:endParaRPr>
          </a:p>
          <a:p>
            <a:r>
              <a:rPr lang="en-US" sz="1400" b="1">
                <a:solidFill>
                  <a:srgbClr val="242424"/>
                </a:solidFill>
                <a:highlight>
                  <a:srgbClr val="FFFFFF"/>
                </a:highlight>
                <a:latin typeface="Segoe UI"/>
                <a:cs typeface="Segoe UI"/>
              </a:rPr>
              <a:t>Key solution areas highlighted:</a:t>
            </a:r>
            <a:r>
              <a:rPr lang="en-US" sz="1400">
                <a:solidFill>
                  <a:srgbClr val="242424"/>
                </a:solidFill>
                <a:highlight>
                  <a:srgbClr val="FFFFFF"/>
                </a:highlight>
                <a:latin typeface="Segoe UI"/>
                <a:cs typeface="Segoe UI"/>
              </a:rPr>
              <a:t> The paper points to AI (and AI-adjacent methods) helping most in:</a:t>
            </a:r>
            <a:endParaRPr lang="en-US" sz="1400" dirty="0">
              <a:solidFill>
                <a:srgbClr val="242424"/>
              </a:solidFill>
              <a:highlight>
                <a:srgbClr val="FFFFFF"/>
              </a:highlight>
              <a:latin typeface="Segoe UI"/>
              <a:cs typeface="Segoe UI"/>
            </a:endParaRPr>
          </a:p>
          <a:p>
            <a:pPr lvl="1"/>
            <a:r>
              <a:rPr lang="en-US" sz="1400">
                <a:solidFill>
                  <a:srgbClr val="242424"/>
                </a:solidFill>
                <a:highlight>
                  <a:srgbClr val="FFFFFF"/>
                </a:highlight>
                <a:latin typeface="Segoe UI"/>
                <a:cs typeface="Segoe UI"/>
              </a:rPr>
              <a:t>automating geometry extraction from IFC for simulation-ready models,</a:t>
            </a:r>
            <a:endParaRPr lang="en-US" sz="1400" dirty="0">
              <a:solidFill>
                <a:srgbClr val="242424"/>
              </a:solidFill>
              <a:highlight>
                <a:srgbClr val="FFFFFF"/>
              </a:highlight>
              <a:latin typeface="Segoe UI"/>
              <a:cs typeface="Segoe UI"/>
            </a:endParaRPr>
          </a:p>
          <a:p>
            <a:pPr lvl="1"/>
            <a:r>
              <a:rPr lang="en-US" sz="1400">
                <a:solidFill>
                  <a:srgbClr val="242424"/>
                </a:solidFill>
                <a:highlight>
                  <a:srgbClr val="FFFFFF"/>
                </a:highlight>
                <a:latin typeface="Segoe UI"/>
                <a:cs typeface="Segoe UI"/>
              </a:rPr>
              <a:t>geometric and data “enrichment” (filling gaps, adding missing simulation-relevant properties),</a:t>
            </a:r>
            <a:endParaRPr lang="en-US" sz="1400" dirty="0">
              <a:solidFill>
                <a:srgbClr val="242424"/>
              </a:solidFill>
              <a:highlight>
                <a:srgbClr val="FFFFFF"/>
              </a:highlight>
              <a:latin typeface="Segoe UI"/>
              <a:cs typeface="Segoe UI"/>
            </a:endParaRPr>
          </a:p>
          <a:p>
            <a:pPr lvl="1"/>
            <a:r>
              <a:rPr lang="en-US" sz="1400">
                <a:solidFill>
                  <a:srgbClr val="242424"/>
                </a:solidFill>
                <a:highlight>
                  <a:srgbClr val="FFFFFF"/>
                </a:highlight>
                <a:latin typeface="Segoe UI"/>
                <a:cs typeface="Segoe UI"/>
              </a:rPr>
              <a:t>inconsistency/error detection (finding conflicts, malformed spaces/zones, missing or misinterpreted attributes),</a:t>
            </a:r>
            <a:endParaRPr lang="en-US" sz="1400" dirty="0">
              <a:solidFill>
                <a:srgbClr val="242424"/>
              </a:solidFill>
              <a:highlight>
                <a:srgbClr val="FFFFFF"/>
              </a:highlight>
              <a:latin typeface="Segoe UI"/>
              <a:cs typeface="Segoe UI"/>
            </a:endParaRPr>
          </a:p>
          <a:p>
            <a:pPr lvl="1"/>
            <a:r>
              <a:rPr lang="en-US" sz="1400">
                <a:solidFill>
                  <a:srgbClr val="242424"/>
                </a:solidFill>
                <a:highlight>
                  <a:srgbClr val="FFFFFF"/>
                </a:highlight>
                <a:latin typeface="Segoe UI"/>
                <a:cs typeface="Segoe UI"/>
              </a:rPr>
              <a:t>and rule-checking frameworks (notably ontologies + rules) combined with ML for classification/verification tasks. </a:t>
            </a:r>
            <a:endParaRPr lang="en-US" sz="1400" dirty="0">
              <a:solidFill>
                <a:srgbClr val="242424"/>
              </a:solidFill>
              <a:highlight>
                <a:srgbClr val="FFFFFF"/>
              </a:highlight>
              <a:latin typeface="Segoe UI"/>
              <a:cs typeface="Segoe UI"/>
            </a:endParaRPr>
          </a:p>
          <a:p>
            <a:r>
              <a:rPr lang="en-US" sz="1400" b="1" dirty="0">
                <a:solidFill>
                  <a:srgbClr val="242424"/>
                </a:solidFill>
                <a:highlight>
                  <a:srgbClr val="FFFFFF"/>
                </a:highlight>
                <a:latin typeface="Segoe UI"/>
                <a:cs typeface="Segoe UI"/>
              </a:rPr>
              <a:t>Adoption reality check:</a:t>
            </a:r>
            <a:r>
              <a:rPr lang="en-US" sz="1400" dirty="0">
                <a:solidFill>
                  <a:srgbClr val="242424"/>
                </a:solidFill>
                <a:highlight>
                  <a:srgbClr val="FFFFFF"/>
                </a:highlight>
                <a:latin typeface="Segoe UI"/>
                <a:cs typeface="Segoe UI"/>
              </a:rPr>
              <a:t> The authors emphasize that AI won’t “magically fix” bad workflows—quality inputs, clear modeling requirements, and standardized processes are still essential to get value. </a:t>
            </a:r>
          </a:p>
          <a:p>
            <a:pPr marL="0" indent="0">
              <a:lnSpc>
                <a:spcPct val="100000"/>
              </a:lnSpc>
              <a:spcBef>
                <a:spcPts val="200"/>
              </a:spcBef>
              <a:buNone/>
            </a:pPr>
            <a:endParaRPr lang="en-US" b="1" dirty="0">
              <a:solidFill>
                <a:srgbClr val="242424"/>
              </a:solidFill>
              <a:highlight>
                <a:srgbClr val="FFFFFF"/>
              </a:highlight>
              <a:latin typeface="Segoe UI"/>
              <a:cs typeface="Segoe UI"/>
            </a:endParaRPr>
          </a:p>
        </p:txBody>
      </p:sp>
    </p:spTree>
    <p:extLst>
      <p:ext uri="{BB962C8B-B14F-4D97-AF65-F5344CB8AC3E}">
        <p14:creationId xmlns:p14="http://schemas.microsoft.com/office/powerpoint/2010/main" val="2898071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75790-8890-3628-B7DD-81E1954290AD}"/>
              </a:ext>
            </a:extLst>
          </p:cNvPr>
          <p:cNvSpPr>
            <a:spLocks noGrp="1"/>
          </p:cNvSpPr>
          <p:nvPr>
            <p:ph type="title"/>
          </p:nvPr>
        </p:nvSpPr>
        <p:spPr>
          <a:xfrm>
            <a:off x="521208" y="763485"/>
            <a:ext cx="11155680" cy="720579"/>
          </a:xfrm>
        </p:spPr>
        <p:txBody>
          <a:bodyPr>
            <a:normAutofit/>
          </a:bodyPr>
          <a:lstStyle/>
          <a:p>
            <a:r>
              <a:rPr lang="en-US" sz="4000" dirty="0">
                <a:solidFill>
                  <a:srgbClr val="242424"/>
                </a:solidFill>
                <a:latin typeface="Segoe UI"/>
                <a:cs typeface="Segoe UI"/>
              </a:rPr>
              <a:t>Broader implications for society</a:t>
            </a:r>
            <a:endParaRPr lang="en-US" sz="4000" b="0" dirty="0">
              <a:solidFill>
                <a:srgbClr val="242424"/>
              </a:solidFill>
              <a:latin typeface="Segoe UI"/>
              <a:cs typeface="Segoe UI"/>
            </a:endParaRPr>
          </a:p>
        </p:txBody>
      </p:sp>
      <p:sp>
        <p:nvSpPr>
          <p:cNvPr id="3" name="Content Placeholder 2">
            <a:extLst>
              <a:ext uri="{FF2B5EF4-FFF2-40B4-BE49-F238E27FC236}">
                <a16:creationId xmlns:a16="http://schemas.microsoft.com/office/drawing/2014/main" id="{91F7E37E-6308-33F8-8F93-FC5CF544A68A}"/>
              </a:ext>
            </a:extLst>
          </p:cNvPr>
          <p:cNvSpPr>
            <a:spLocks noGrp="1"/>
          </p:cNvSpPr>
          <p:nvPr>
            <p:ph idx="1"/>
          </p:nvPr>
        </p:nvSpPr>
        <p:spPr>
          <a:xfrm>
            <a:off x="521208" y="1679839"/>
            <a:ext cx="11155680" cy="4666097"/>
          </a:xfrm>
        </p:spPr>
        <p:txBody>
          <a:bodyPr vert="horz" lIns="91440" tIns="45720" rIns="91440" bIns="45720" rtlCol="0" anchor="t">
            <a:noAutofit/>
          </a:bodyPr>
          <a:lstStyle/>
          <a:p>
            <a:r>
              <a:rPr lang="en-US" sz="2000" b="1">
                <a:solidFill>
                  <a:srgbClr val="242424"/>
                </a:solidFill>
                <a:highlight>
                  <a:srgbClr val="FFFFFF"/>
                </a:highlight>
                <a:latin typeface="Segoe UI"/>
                <a:cs typeface="Segoe UI"/>
              </a:rPr>
              <a:t>Better energy outcomes at scale:</a:t>
            </a:r>
            <a:r>
              <a:rPr lang="en-US" sz="2000">
                <a:solidFill>
                  <a:srgbClr val="242424"/>
                </a:solidFill>
                <a:highlight>
                  <a:srgbClr val="FFFFFF"/>
                </a:highlight>
                <a:latin typeface="Segoe UI"/>
                <a:cs typeface="Segoe UI"/>
              </a:rPr>
              <a:t> If BIM→BEPS integration becomes more reliable and automated, energy simulation can be used earlier and more often, supporting design decisions that reduce energy use and carbon impacts over a building’s lifecycle. </a:t>
            </a:r>
            <a:endParaRPr lang="en-US" sz="2000" dirty="0">
              <a:solidFill>
                <a:srgbClr val="242424"/>
              </a:solidFill>
              <a:highlight>
                <a:srgbClr val="FFFFFF"/>
              </a:highlight>
              <a:latin typeface="Segoe UI"/>
              <a:cs typeface="Segoe UI"/>
            </a:endParaRPr>
          </a:p>
          <a:p>
            <a:r>
              <a:rPr lang="en-US" sz="2000" b="1" dirty="0">
                <a:solidFill>
                  <a:srgbClr val="242424"/>
                </a:solidFill>
                <a:highlight>
                  <a:srgbClr val="FFFFFF"/>
                </a:highlight>
                <a:latin typeface="Segoe UI"/>
                <a:cs typeface="Segoe UI"/>
              </a:rPr>
              <a:t>Shifting expertise and workforce needs: </a:t>
            </a:r>
            <a:r>
              <a:rPr lang="en-US" sz="2000" dirty="0">
                <a:solidFill>
                  <a:srgbClr val="242424"/>
                </a:solidFill>
                <a:highlight>
                  <a:srgbClr val="FFFFFF"/>
                </a:highlight>
                <a:latin typeface="Segoe UI"/>
                <a:cs typeface="Segoe UI"/>
              </a:rPr>
              <a:t>Wider AI adoption increases demand for professionals who can manage data quality, standards, and model governance, not just “run the software.” That implies changes in training, roles, and expectations across AEC. </a:t>
            </a:r>
          </a:p>
          <a:p>
            <a:r>
              <a:rPr lang="en-US" sz="2000" b="1">
                <a:solidFill>
                  <a:srgbClr val="242424"/>
                </a:solidFill>
                <a:highlight>
                  <a:srgbClr val="FFFFFF"/>
                </a:highlight>
                <a:latin typeface="Segoe UI"/>
                <a:cs typeface="Segoe UI"/>
              </a:rPr>
              <a:t>Trust and accountability:</a:t>
            </a:r>
            <a:r>
              <a:rPr lang="en-US" sz="2000">
                <a:solidFill>
                  <a:srgbClr val="242424"/>
                </a:solidFill>
                <a:highlight>
                  <a:srgbClr val="FFFFFF"/>
                </a:highlight>
                <a:latin typeface="Segoe UI"/>
                <a:cs typeface="Segoe UI"/>
              </a:rPr>
              <a:t> Using AI to infer missing properties or “fix” models raises societal questions about transparency and validation—who is responsible if an AI-enriched model produces misleading simulation results? (The paper frames this through barriers to adoption and workflow discipline.) </a:t>
            </a:r>
            <a:endParaRPr lang="en-US" sz="2000" dirty="0">
              <a:solidFill>
                <a:srgbClr val="242424"/>
              </a:solidFill>
              <a:highlight>
                <a:srgbClr val="FFFFFF"/>
              </a:highlight>
              <a:latin typeface="Segoe UI"/>
              <a:cs typeface="Segoe UI"/>
            </a:endParaRPr>
          </a:p>
          <a:p>
            <a:pPr>
              <a:spcBef>
                <a:spcPts val="600"/>
              </a:spcBef>
            </a:pPr>
            <a:endParaRPr lang="en-US" sz="2800" b="1" dirty="0">
              <a:solidFill>
                <a:srgbClr val="242424"/>
              </a:solidFill>
              <a:highlight>
                <a:srgbClr val="FFFFFF"/>
              </a:highlight>
              <a:latin typeface="Segoe UI"/>
              <a:cs typeface="Segoe UI"/>
            </a:endParaRPr>
          </a:p>
        </p:txBody>
      </p:sp>
    </p:spTree>
    <p:extLst>
      <p:ext uri="{BB962C8B-B14F-4D97-AF65-F5344CB8AC3E}">
        <p14:creationId xmlns:p14="http://schemas.microsoft.com/office/powerpoint/2010/main" val="2496355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24BB7-78A4-A9DA-7DA1-9EB2C8A6DE93}"/>
              </a:ext>
            </a:extLst>
          </p:cNvPr>
          <p:cNvSpPr>
            <a:spLocks noGrp="1"/>
          </p:cNvSpPr>
          <p:nvPr>
            <p:ph type="title"/>
          </p:nvPr>
        </p:nvSpPr>
        <p:spPr>
          <a:xfrm>
            <a:off x="521208" y="673608"/>
            <a:ext cx="11155680" cy="1463040"/>
          </a:xfrm>
        </p:spPr>
        <p:txBody>
          <a:bodyPr>
            <a:normAutofit/>
          </a:bodyPr>
          <a:lstStyle/>
          <a:p>
            <a:r>
              <a:rPr lang="en-US" sz="4000" dirty="0">
                <a:solidFill>
                  <a:srgbClr val="242424"/>
                </a:solidFill>
                <a:latin typeface="Segoe UI"/>
                <a:cs typeface="Segoe UI"/>
              </a:rPr>
              <a:t>Relevance and potential influence on the construction industry</a:t>
            </a:r>
            <a:endParaRPr lang="en-US" sz="4000" b="0" dirty="0">
              <a:solidFill>
                <a:srgbClr val="242424"/>
              </a:solidFill>
              <a:latin typeface="Segoe UI"/>
              <a:cs typeface="Segoe UI"/>
            </a:endParaRPr>
          </a:p>
        </p:txBody>
      </p:sp>
      <p:sp>
        <p:nvSpPr>
          <p:cNvPr id="3" name="Content Placeholder 2">
            <a:extLst>
              <a:ext uri="{FF2B5EF4-FFF2-40B4-BE49-F238E27FC236}">
                <a16:creationId xmlns:a16="http://schemas.microsoft.com/office/drawing/2014/main" id="{6C5EF147-DC52-21BF-3341-DF3BD5996821}"/>
              </a:ext>
            </a:extLst>
          </p:cNvPr>
          <p:cNvSpPr>
            <a:spLocks noGrp="1"/>
          </p:cNvSpPr>
          <p:nvPr>
            <p:ph idx="1"/>
          </p:nvPr>
        </p:nvSpPr>
        <p:spPr>
          <a:xfrm>
            <a:off x="521208" y="2138994"/>
            <a:ext cx="11155680" cy="4705172"/>
          </a:xfrm>
        </p:spPr>
        <p:txBody>
          <a:bodyPr vert="horz" lIns="91440" tIns="45720" rIns="91440" bIns="45720" rtlCol="0" anchor="t">
            <a:noAutofit/>
          </a:bodyPr>
          <a:lstStyle/>
          <a:p>
            <a:pPr>
              <a:buFont typeface="Arial"/>
              <a:buChar char="•"/>
            </a:pPr>
            <a:r>
              <a:rPr lang="en-US" sz="2000" b="1" dirty="0">
                <a:solidFill>
                  <a:srgbClr val="242424"/>
                </a:solidFill>
                <a:highlight>
                  <a:srgbClr val="FFFFFF"/>
                </a:highlight>
                <a:latin typeface="Segoe UI"/>
                <a:cs typeface="Segoe UI"/>
              </a:rPr>
              <a:t>Practical impact on BIM/VDC + sustainability workflows</a:t>
            </a:r>
            <a:r>
              <a:rPr lang="en-US" sz="2000" dirty="0">
                <a:solidFill>
                  <a:srgbClr val="242424"/>
                </a:solidFill>
                <a:highlight>
                  <a:srgbClr val="FFFFFF"/>
                </a:highlight>
                <a:latin typeface="Segoe UI"/>
                <a:cs typeface="Segoe UI"/>
              </a:rPr>
              <a:t>: The work targets a real pain point: BIM models often aren’t simulation-ready, and IFC transfers can be messy. AI-assisted extraction, enrichment, and checking could reduce manual remodeling, speed up iteration cycles, and improve design-to-performance decision-making. </a:t>
            </a:r>
          </a:p>
          <a:p>
            <a:pPr>
              <a:buFont typeface="Arial"/>
              <a:buChar char="•"/>
            </a:pPr>
            <a:r>
              <a:rPr lang="en-US" sz="2000" b="1">
                <a:solidFill>
                  <a:srgbClr val="242424"/>
                </a:solidFill>
                <a:highlight>
                  <a:srgbClr val="FFFFFF"/>
                </a:highlight>
                <a:latin typeface="Segoe UI"/>
                <a:cs typeface="Segoe UI"/>
              </a:rPr>
              <a:t>Standardization becomes even more valuable:</a:t>
            </a:r>
            <a:r>
              <a:rPr lang="en-US" sz="2000">
                <a:solidFill>
                  <a:srgbClr val="242424"/>
                </a:solidFill>
                <a:highlight>
                  <a:srgbClr val="FFFFFF"/>
                </a:highlight>
                <a:latin typeface="Segoe UI"/>
                <a:cs typeface="Segoe UI"/>
              </a:rPr>
              <a:t> The authors stress that the industry needs well-defined modeling requirements, level-of-detail expectations, and process maps for different analysis types—otherwise AI tools will be limited by inconsistent inputs. </a:t>
            </a:r>
            <a:endParaRPr lang="en-US" sz="2000" dirty="0">
              <a:solidFill>
                <a:srgbClr val="242424"/>
              </a:solidFill>
              <a:highlight>
                <a:srgbClr val="FFFFFF"/>
              </a:highlight>
              <a:latin typeface="Segoe UI"/>
              <a:cs typeface="Segoe UI"/>
            </a:endParaRPr>
          </a:p>
          <a:p>
            <a:pPr>
              <a:buFont typeface="Arial"/>
              <a:buChar char="•"/>
            </a:pPr>
            <a:r>
              <a:rPr lang="en-US" sz="2000" b="1" dirty="0">
                <a:solidFill>
                  <a:srgbClr val="242424"/>
                </a:solidFill>
                <a:highlight>
                  <a:srgbClr val="FFFFFF"/>
                </a:highlight>
                <a:latin typeface="Segoe UI"/>
                <a:cs typeface="Segoe UI"/>
              </a:rPr>
              <a:t>Signals where tools may evolve next:</a:t>
            </a:r>
            <a:r>
              <a:rPr lang="en-US" sz="2000" dirty="0">
                <a:solidFill>
                  <a:srgbClr val="242424"/>
                </a:solidFill>
                <a:highlight>
                  <a:srgbClr val="FFFFFF"/>
                </a:highlight>
                <a:latin typeface="Segoe UI"/>
                <a:cs typeface="Segoe UI"/>
              </a:rPr>
              <a:t> The paper highlights opportunities around IFC4 and future IFC generations, and especially hybrid approaches (ontology/rules + ML) as a likely direction for more robust, scalable BIM→BEPS interoperability tooling.  </a:t>
            </a:r>
          </a:p>
          <a:p>
            <a:pPr indent="0">
              <a:buNone/>
            </a:pPr>
            <a:endParaRPr lang="en-US" sz="2400" dirty="0">
              <a:solidFill>
                <a:srgbClr val="242424"/>
              </a:solidFill>
              <a:highlight>
                <a:srgbClr val="FFFFFF"/>
              </a:highlight>
              <a:latin typeface="Aptos"/>
              <a:cs typeface="Segoe UI"/>
            </a:endParaRPr>
          </a:p>
          <a:p>
            <a:pPr>
              <a:buNone/>
            </a:pPr>
            <a:endParaRPr lang="en-US" sz="2400" dirty="0">
              <a:solidFill>
                <a:srgbClr val="242424"/>
              </a:solidFill>
              <a:highlight>
                <a:srgbClr val="FFFFFF"/>
              </a:highlight>
              <a:latin typeface="Aptos"/>
              <a:cs typeface="Segoe UI"/>
            </a:endParaRPr>
          </a:p>
          <a:p>
            <a:pPr indent="0">
              <a:lnSpc>
                <a:spcPct val="100000"/>
              </a:lnSpc>
              <a:spcBef>
                <a:spcPts val="200"/>
              </a:spcBef>
              <a:buNone/>
            </a:pPr>
            <a:endParaRPr lang="en-US" sz="2800" b="1" dirty="0">
              <a:solidFill>
                <a:srgbClr val="242424"/>
              </a:solidFill>
              <a:highlight>
                <a:srgbClr val="FFFFFF"/>
              </a:highlight>
              <a:latin typeface="Segoe UI"/>
              <a:cs typeface="Segoe UI"/>
            </a:endParaRPr>
          </a:p>
        </p:txBody>
      </p:sp>
    </p:spTree>
    <p:extLst>
      <p:ext uri="{BB962C8B-B14F-4D97-AF65-F5344CB8AC3E}">
        <p14:creationId xmlns:p14="http://schemas.microsoft.com/office/powerpoint/2010/main" val="211493863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GestaltVTI</vt:lpstr>
      <vt:lpstr>Artificial intelligence to enhance BIM-BEPS integration via IFC: Challenges, solutions, and future directions   </vt:lpstr>
      <vt:lpstr>Article #4 (Row 4 via Google Sheet)</vt:lpstr>
      <vt:lpstr>Link to the Source    </vt:lpstr>
      <vt:lpstr>Main Findings</vt:lpstr>
      <vt:lpstr>Broader implications for society</vt:lpstr>
      <vt:lpstr>Relevance and potential influence on the construction industry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246</cp:revision>
  <dcterms:created xsi:type="dcterms:W3CDTF">2026-01-21T18:15:53Z</dcterms:created>
  <dcterms:modified xsi:type="dcterms:W3CDTF">2026-02-27T14:15:33Z</dcterms:modified>
</cp:coreProperties>
</file>
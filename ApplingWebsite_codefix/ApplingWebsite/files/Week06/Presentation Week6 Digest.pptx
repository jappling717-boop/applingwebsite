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06C3E3-3CC7-12EB-8565-A39CF73292D5}" v="66" dt="2026-02-20T13:45:00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0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43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6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9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3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6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0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6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0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07D40-A245-9D21-990E-163093592F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000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10628720" cy="24505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/>
              <a:t>2026 AI Construction Trends: 25+ Experts Share Insights</a:t>
            </a:r>
            <a:endParaRPr lang="en-US"/>
          </a:p>
          <a:p>
            <a:endParaRPr lang="en-US" b="0" dirty="0"/>
          </a:p>
          <a:p>
            <a:endParaRPr lang="en-US" b="0" dirty="0"/>
          </a:p>
          <a:p>
            <a:pPr>
              <a:lnSpc>
                <a:spcPct val="90000"/>
              </a:lnSpc>
            </a:pPr>
            <a:endParaRPr lang="en-US" sz="510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Week of February 16</a:t>
            </a:r>
            <a:endParaRPr lang="en-US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Jacob Appling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C23DC2D-0DFD-B0BD-C646-933B6D10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289381"/>
            <a:ext cx="7263804" cy="100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Article #4 (Row 4 via Google Sheet)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DD57DDC-2075-7CBD-00B4-0A5FF0991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crane on a construction site&#10;&#10;AI-generated content may be incorrect.">
            <a:extLst>
              <a:ext uri="{FF2B5EF4-FFF2-40B4-BE49-F238E27FC236}">
                <a16:creationId xmlns:a16="http://schemas.microsoft.com/office/drawing/2014/main" id="{8B79F6FA-ED5C-89D1-8AAE-2CB0AEB11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68" y="789842"/>
            <a:ext cx="8036171" cy="43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20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10FC-6EAE-BA9C-1641-3B63159C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to the Source    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4E899-76A9-7A08-8C46-D08850176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solidFill>
                  <a:srgbClr val="1155CC"/>
                </a:solidFill>
                <a:ea typeface="+mn-lt"/>
                <a:cs typeface="+mn-lt"/>
              </a:rPr>
              <a:t>https://www.autodesk.com/blogs/construction/2026-ai-trends-25-experts-share-insights/</a:t>
            </a:r>
          </a:p>
        </p:txBody>
      </p:sp>
    </p:spTree>
    <p:extLst>
      <p:ext uri="{BB962C8B-B14F-4D97-AF65-F5344CB8AC3E}">
        <p14:creationId xmlns:p14="http://schemas.microsoft.com/office/powerpoint/2010/main" val="282181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0A62-D915-1CA6-8C2A-76FBC0EE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02562"/>
            <a:ext cx="11155680" cy="740117"/>
          </a:xfrm>
        </p:spPr>
        <p:txBody>
          <a:bodyPr>
            <a:normAutofit fontScale="90000"/>
          </a:bodyPr>
          <a:lstStyle/>
          <a:p>
            <a:r>
              <a:rPr lang="en-US" dirty="0"/>
              <a:t>Main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EB02B-DC8F-5BE0-79DB-2C3117E5A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416070"/>
            <a:ext cx="11155680" cy="460748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AI Is Moving From Hype to Reality</a:t>
            </a:r>
            <a:endParaRPr lang="en-US" sz="140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The article opens by noting that AI has shifted past buzzword status and is becoming a real, operational force in construction workflows.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While only ~32% of construction leaders feel they’re close to their AI goals, most agree AI adoption will continue to grow.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Experts Identify Key AI Trends for 2026</a:t>
            </a:r>
            <a:endParaRPr lang="en-US" sz="140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Industry leaders shared insights on how AI will impact construction, including: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• Democratization and Accessibility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AI tools will become more standardized and widely used across organizations, enabling even smaller firms to benefit.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• Routine Task Automation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AI will handle repetitive work like summarizing documents, generating meeting recaps, organizing punch lists, and updating schedules, freeing human teams to focus on decisions.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• Embedded Workflow Intelligence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Rather than existing as standalone tools, AI features will be embedded across planning, design, and execution workflows, offering deeper insight and consistency.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• Predictive Capabilities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AI will help identify risks (schedule, procurement, coordination) before they occur, improving project certainty and decision-making.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• Spatial and Contextual Intelligence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AI systems tied to visual and spatial data (e.g., reality capture) will bring better real-world insight into field conditions, bridging digital plans and onsite reality.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• Expansion Across Lifecycle Phases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From generative design and risk analysis to safety monitoring and quality control (e.g., drone/LiDAR checks), AI will influence nearly every stage of a project.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• Integration With Broader Digital Ecosystems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AI will help unify data across design tools, supply chain information, facilities management, and real estate analytics.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• Human-AI Partnership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 recurring view is that AI augments rather than replaces human expertise, acting as a “co-pilot” for professionals while preserving judgment and accountability.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Diverse Perspectives</a:t>
            </a:r>
            <a:endParaRPr lang="en-US" sz="140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Some contributors emphasize major transformation and competitive advantage from AI, while a few remain cautious, urging realistic expectations and attention to legal, ethical, and data privacy concerns. 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9807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5790-8890-3628-B7DD-81E195429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3485"/>
            <a:ext cx="11155680" cy="72057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42424"/>
                </a:solidFill>
                <a:latin typeface="Segoe UI"/>
                <a:cs typeface="Segoe UI"/>
              </a:rPr>
              <a:t>Broader implications for society</a:t>
            </a:r>
            <a:endParaRPr lang="en-US" sz="4000" b="0" dirty="0">
              <a:solidFill>
                <a:srgbClr val="242424"/>
              </a:solidFill>
              <a:latin typeface="Segoe UI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7E37E-6308-33F8-8F93-FC5CF544A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79839"/>
            <a:ext cx="11155680" cy="466609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Workforce Transformation</a:t>
            </a:r>
            <a:endParaRPr lang="en-US"/>
          </a:p>
          <a:p>
            <a:pPr>
              <a:spcBef>
                <a:spcPts val="6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AI is expected to shift the nature of work, eliminating low-value tasks while emphasizing decision-making, problem-solving, and strategic thinking. </a:t>
            </a:r>
          </a:p>
          <a:p>
            <a:pPr>
              <a:spcBef>
                <a:spcPts val="6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This may help address labor shortages and enhance productivity across sectors, though it also raises questions about skills evolution, retraining, and workforce equity. </a:t>
            </a:r>
          </a:p>
          <a:p>
            <a:pPr>
              <a:spcBef>
                <a:spcPts val="600"/>
              </a:spcBef>
            </a:pPr>
            <a:endParaRPr lang="en-US" sz="11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Data Ethics and Governance</a:t>
            </a:r>
          </a:p>
          <a:p>
            <a:pPr>
              <a:spcBef>
                <a:spcPts val="6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As AI becomes embedded in critical workflows, concerns around data privacy, transparency, security, and legal liability gain prominence. </a:t>
            </a:r>
          </a:p>
          <a:p>
            <a:pPr>
              <a:spcBef>
                <a:spcPts val="6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Broader society will need frameworks to ensure ethical use, accountability, and trust in AI systems. </a:t>
            </a:r>
          </a:p>
          <a:p>
            <a:pPr>
              <a:spcBef>
                <a:spcPts val="600"/>
              </a:spcBef>
            </a:pPr>
            <a:endParaRPr lang="en-US" sz="11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Efficiency and Decision Quality</a:t>
            </a:r>
          </a:p>
          <a:p>
            <a:pPr>
              <a:spcBef>
                <a:spcPts val="6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AI’s capacity to analyze massive datasets quickly could positively influence industry productivity, sustainability goals, and economic efficiency—benefitting communities by reducing project delays, waste, and cost overruns. </a:t>
            </a:r>
          </a:p>
          <a:p>
            <a:pPr>
              <a:spcBef>
                <a:spcPts val="600"/>
              </a:spcBef>
            </a:pPr>
            <a:endParaRPr lang="en-US" sz="11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Digital Divide Considerations</a:t>
            </a:r>
          </a:p>
          <a:p>
            <a:pPr>
              <a:spcBef>
                <a:spcPts val="600"/>
              </a:spcBef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There’s an implied risk that firms not investing in AI may lag behind, potentially widening gaps between technology adopters and laggards, which may influence employment and market competitiveness. </a:t>
            </a:r>
          </a:p>
          <a:p>
            <a:pPr>
              <a:spcBef>
                <a:spcPts val="600"/>
              </a:spcBef>
            </a:pPr>
            <a:endParaRPr lang="en-US" sz="11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96355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24BB7-78A4-A9DA-7DA1-9EB2C8A6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73608"/>
            <a:ext cx="11155680" cy="146304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42424"/>
                </a:solidFill>
                <a:latin typeface="Segoe UI"/>
                <a:cs typeface="Segoe UI"/>
              </a:rPr>
              <a:t>Relevance and potential influence on the construction industry</a:t>
            </a:r>
            <a:endParaRPr lang="en-US" sz="4000" b="0" dirty="0">
              <a:solidFill>
                <a:srgbClr val="242424"/>
              </a:solidFill>
              <a:latin typeface="Segoe UI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F147-DC52-21BF-3341-DF3BD5996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38994"/>
            <a:ext cx="11155680" cy="4705172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Operational Baseline Shift</a:t>
            </a:r>
            <a:endParaRPr lang="en-US" sz="14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 indent="0">
              <a:lnSpc>
                <a:spcPct val="100000"/>
              </a:lnSpc>
              <a:buFont typeface="Arial"/>
              <a:buChar char="•"/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2026 is described as the year when AI becomes an industry baseline, not a future trend—meaning adoption may become essential for competitiveness. 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Risk, Quality, &amp; Safety Improvements</a:t>
            </a:r>
            <a:endParaRPr lang="en-US" sz="14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 indent="0">
              <a:lnSpc>
                <a:spcPct val="100000"/>
              </a:lnSpc>
              <a:buFont typeface="Arial"/>
              <a:buChar char="•"/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AI’s predictive analysis and real-time monitoring promise fewer delays, improved safety conditions, and reduced rework, directly impacting project delivery and jobsite outcomes. 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Enhanced Project Coordination &amp; Insight</a:t>
            </a:r>
            <a:endParaRPr lang="en-US" sz="14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 indent="0">
              <a:lnSpc>
                <a:spcPct val="100000"/>
              </a:lnSpc>
              <a:buFont typeface="Arial"/>
              <a:buChar char="•"/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By centralizing and interpreting data across tools and teams, AI can boost visibility, coordination, and insight, leading to smarter planning and faster decision cycles. 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Cost &amp; Time Savings</a:t>
            </a:r>
            <a:endParaRPr lang="en-US" sz="14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 indent="0">
              <a:lnSpc>
                <a:spcPct val="100000"/>
              </a:lnSpc>
              <a:buFont typeface="Arial"/>
              <a:buChar char="•"/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Automated tasks such as takeoffs, document summarization, and clash detection could significantly reduce manual labor and human error, improving cost control and schedule reliability. 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Expanded Role Across the Value Chain</a:t>
            </a:r>
            <a:endParaRPr lang="en-US" sz="14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 indent="0">
              <a:lnSpc>
                <a:spcPct val="100000"/>
              </a:lnSpc>
              <a:buFont typeface="Arial"/>
              <a:buChar char="•"/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AI’s influence will extend beyond construction execution into facilities management, real estate forecasting, and lifecycle asset performance, creating new strategic opportunities for firms. 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Overall Takeaway</a:t>
            </a:r>
            <a:endParaRPr lang="en-US" sz="14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 marL="400050" indent="-171450">
              <a:lnSpc>
                <a:spcPct val="100000"/>
              </a:lnSpc>
            </a:pPr>
            <a:r>
              <a:rPr lang="en-US" sz="11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In 2026, AI in construction will no longer be experimental—it will be practical, integrated, and mission-critical, reshaping how projects are planned, built, and managed. Firms that adopt and govern AI responsibly stand to gain operational advantages, improve outcomes, and help redefine the industry’s future.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1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1493863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GestaltVTI</vt:lpstr>
      <vt:lpstr>2026 AI Construction Trends: 25+ Experts Share Insights   </vt:lpstr>
      <vt:lpstr>Article #4 (Row 4 via Google Sheet)</vt:lpstr>
      <vt:lpstr>Link to the Source    </vt:lpstr>
      <vt:lpstr>Main Findings</vt:lpstr>
      <vt:lpstr>Broader implications for society</vt:lpstr>
      <vt:lpstr>Relevance and potential influence on the construction industry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220</cp:revision>
  <dcterms:created xsi:type="dcterms:W3CDTF">2026-01-21T18:15:53Z</dcterms:created>
  <dcterms:modified xsi:type="dcterms:W3CDTF">2026-02-20T19:30:36Z</dcterms:modified>
</cp:coreProperties>
</file>
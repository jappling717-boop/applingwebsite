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Quattrocento Sans"/>
      <p:regular r:id="rId12"/>
      <p:bold r:id="rId13"/>
      <p:italic r:id="rId14"/>
      <p:boldItalic r:id="rId15"/>
    </p:embeddedFont>
    <p:embeddedFont>
      <p:font typeface="Merriweath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iMcn+2vbVbaEIixMzz+ti+zxP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QuattrocentoSans-bold.fntdata"/><Relationship Id="rId12"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QuattrocentoSans-boldItalic.fntdata"/><Relationship Id="rId14" Type="http://schemas.openxmlformats.org/officeDocument/2006/relationships/font" Target="fonts/QuattrocentoSans-italic.fntdata"/><Relationship Id="rId17" Type="http://schemas.openxmlformats.org/officeDocument/2006/relationships/font" Target="fonts/Merriweather-bold.fntdata"/><Relationship Id="rId16" Type="http://schemas.openxmlformats.org/officeDocument/2006/relationships/font" Target="fonts/Merriweather-regular.fntdata"/><Relationship Id="rId5" Type="http://schemas.openxmlformats.org/officeDocument/2006/relationships/notesMaster" Target="notesMasters/notesMaster1.xml"/><Relationship Id="rId19" Type="http://schemas.openxmlformats.org/officeDocument/2006/relationships/font" Target="fonts/Merriweather-boldItalic.fntdata"/><Relationship Id="rId6" Type="http://schemas.openxmlformats.org/officeDocument/2006/relationships/slide" Target="slides/slide1.xml"/><Relationship Id="rId18"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0"/>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10"/>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0"/>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lt1"/>
              </a:buClr>
              <a:buSzPts val="2200"/>
              <a:buNone/>
              <a:defRPr i="1" sz="22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1"/>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1"/>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1"/>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9"/>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4" name="Google Shape;34;p9"/>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200"/>
              <a:buNone/>
              <a:defRPr i="1" sz="22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9" name="Shape 39"/>
        <p:cNvGrpSpPr/>
        <p:nvPr/>
      </p:nvGrpSpPr>
      <p:grpSpPr>
        <a:xfrm>
          <a:off x="0" y="0"/>
          <a:ext cx="0" cy="0"/>
          <a:chOff x="0" y="0"/>
          <a:chExt cx="0" cy="0"/>
        </a:xfrm>
      </p:grpSpPr>
      <p:sp>
        <p:nvSpPr>
          <p:cNvPr id="40" name="Google Shape;40;p12"/>
          <p:cNvSpPr txBox="1"/>
          <p:nvPr>
            <p:ph type="title"/>
          </p:nvPr>
        </p:nvSpPr>
        <p:spPr>
          <a:xfrm>
            <a:off x="521208" y="978408"/>
            <a:ext cx="5020056" cy="428853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2"/>
          <p:cNvSpPr txBox="1"/>
          <p:nvPr>
            <p:ph idx="1" type="body"/>
          </p:nvPr>
        </p:nvSpPr>
        <p:spPr>
          <a:xfrm>
            <a:off x="521208" y="5266944"/>
            <a:ext cx="5020056" cy="1088136"/>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rgbClr val="757575"/>
              </a:buClr>
              <a:buSzPts val="2200"/>
              <a:buNone/>
              <a:defRPr i="1" sz="2200">
                <a:solidFill>
                  <a:srgbClr val="757575"/>
                </a:solidFill>
              </a:defRPr>
            </a:lvl1pPr>
            <a:lvl2pPr indent="-228600" lvl="1" marL="914400" algn="l">
              <a:lnSpc>
                <a:spcPct val="110000"/>
              </a:lnSpc>
              <a:spcBef>
                <a:spcPts val="500"/>
              </a:spcBef>
              <a:spcAft>
                <a:spcPts val="0"/>
              </a:spcAft>
              <a:buClr>
                <a:srgbClr val="757575"/>
              </a:buClr>
              <a:buSzPts val="2000"/>
              <a:buNone/>
              <a:defRPr sz="2000">
                <a:solidFill>
                  <a:srgbClr val="757575"/>
                </a:solidFill>
              </a:defRPr>
            </a:lvl2pPr>
            <a:lvl3pPr indent="-228600" lvl="2" marL="1371600" algn="l">
              <a:lnSpc>
                <a:spcPct val="110000"/>
              </a:lnSpc>
              <a:spcBef>
                <a:spcPts val="500"/>
              </a:spcBef>
              <a:spcAft>
                <a:spcPts val="0"/>
              </a:spcAft>
              <a:buClr>
                <a:srgbClr val="757575"/>
              </a:buClr>
              <a:buSzPts val="1800"/>
              <a:buNone/>
              <a:defRPr sz="1800">
                <a:solidFill>
                  <a:srgbClr val="757575"/>
                </a:solidFill>
              </a:defRPr>
            </a:lvl3pPr>
            <a:lvl4pPr indent="-228600" lvl="3" marL="1828800" algn="l">
              <a:lnSpc>
                <a:spcPct val="110000"/>
              </a:lnSpc>
              <a:spcBef>
                <a:spcPts val="500"/>
              </a:spcBef>
              <a:spcAft>
                <a:spcPts val="0"/>
              </a:spcAft>
              <a:buClr>
                <a:srgbClr val="757575"/>
              </a:buClr>
              <a:buSzPts val="1600"/>
              <a:buNone/>
              <a:defRPr sz="1600">
                <a:solidFill>
                  <a:srgbClr val="757575"/>
                </a:solidFill>
              </a:defRPr>
            </a:lvl4pPr>
            <a:lvl5pPr indent="-228600" lvl="4" marL="2286000" algn="l">
              <a:lnSpc>
                <a:spcPct val="11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12"/>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2"/>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2"/>
          <p:cNvSpPr/>
          <p:nvPr/>
        </p:nvSpPr>
        <p:spPr>
          <a:xfrm>
            <a:off x="517870" y="508090"/>
            <a:ext cx="5021183"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1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3"/>
          <p:cNvSpPr txBox="1"/>
          <p:nvPr>
            <p:ph idx="1" type="body"/>
          </p:nvPr>
        </p:nvSpPr>
        <p:spPr>
          <a:xfrm>
            <a:off x="521208"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3"/>
          <p:cNvSpPr txBox="1"/>
          <p:nvPr>
            <p:ph idx="2" type="body"/>
          </p:nvPr>
        </p:nvSpPr>
        <p:spPr>
          <a:xfrm>
            <a:off x="6519672"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3"/>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3"/>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14"/>
          <p:cNvSpPr txBox="1"/>
          <p:nvPr>
            <p:ph type="title"/>
          </p:nvPr>
        </p:nvSpPr>
        <p:spPr>
          <a:xfrm>
            <a:off x="521208" y="978408"/>
            <a:ext cx="11164824" cy="12161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4"/>
          <p:cNvSpPr txBox="1"/>
          <p:nvPr>
            <p:ph idx="1" type="body"/>
          </p:nvPr>
        </p:nvSpPr>
        <p:spPr>
          <a:xfrm>
            <a:off x="521208"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14"/>
          <p:cNvSpPr txBox="1"/>
          <p:nvPr>
            <p:ph idx="2" type="body"/>
          </p:nvPr>
        </p:nvSpPr>
        <p:spPr>
          <a:xfrm>
            <a:off x="521208"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4"/>
          <p:cNvSpPr txBox="1"/>
          <p:nvPr>
            <p:ph idx="3" type="body"/>
          </p:nvPr>
        </p:nvSpPr>
        <p:spPr>
          <a:xfrm>
            <a:off x="6519672"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4"/>
          <p:cNvSpPr txBox="1"/>
          <p:nvPr>
            <p:ph idx="4" type="body"/>
          </p:nvPr>
        </p:nvSpPr>
        <p:spPr>
          <a:xfrm>
            <a:off x="6519672"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4"/>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1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7" name="Shape 67"/>
        <p:cNvGrpSpPr/>
        <p:nvPr/>
      </p:nvGrpSpPr>
      <p:grpSpPr>
        <a:xfrm>
          <a:off x="0" y="0"/>
          <a:ext cx="0" cy="0"/>
          <a:chOff x="0" y="0"/>
          <a:chExt cx="0" cy="0"/>
        </a:xfrm>
      </p:grpSpPr>
      <p:sp>
        <p:nvSpPr>
          <p:cNvPr id="68" name="Google Shape;68;p16"/>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17"/>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7"/>
          <p:cNvSpPr txBox="1"/>
          <p:nvPr>
            <p:ph idx="1" type="body"/>
          </p:nvPr>
        </p:nvSpPr>
        <p:spPr>
          <a:xfrm>
            <a:off x="6519672" y="987424"/>
            <a:ext cx="5166360" cy="5358384"/>
          </a:xfrm>
          <a:prstGeom prst="rect">
            <a:avLst/>
          </a:prstGeom>
          <a:noFill/>
          <a:ln>
            <a:noFill/>
          </a:ln>
        </p:spPr>
        <p:txBody>
          <a:bodyPr anchorCtr="0" anchor="t" bIns="45700" lIns="91425" spcFirstLastPara="1" rIns="91425" wrap="square" tIns="45700">
            <a:normAutofit/>
          </a:bodyPr>
          <a:lstStyle>
            <a:lvl1pPr indent="-355600" lvl="0" marL="457200" algn="l">
              <a:lnSpc>
                <a:spcPct val="110000"/>
              </a:lnSpc>
              <a:spcBef>
                <a:spcPts val="1000"/>
              </a:spcBef>
              <a:spcAft>
                <a:spcPts val="0"/>
              </a:spcAft>
              <a:buClr>
                <a:schemeClr val="dk1"/>
              </a:buClr>
              <a:buSzPts val="2000"/>
              <a:buChar char="•"/>
              <a:defRPr sz="2000"/>
            </a:lvl1pPr>
            <a:lvl2pPr indent="-342900" lvl="1" marL="914400" algn="l">
              <a:lnSpc>
                <a:spcPct val="110000"/>
              </a:lnSpc>
              <a:spcBef>
                <a:spcPts val="500"/>
              </a:spcBef>
              <a:spcAft>
                <a:spcPts val="0"/>
              </a:spcAft>
              <a:buClr>
                <a:schemeClr val="dk1"/>
              </a:buClr>
              <a:buSzPts val="1800"/>
              <a:buChar char="•"/>
              <a:defRPr sz="1800"/>
            </a:lvl2pPr>
            <a:lvl3pPr indent="-330200" lvl="2" marL="1371600" algn="l">
              <a:lnSpc>
                <a:spcPct val="110000"/>
              </a:lnSpc>
              <a:spcBef>
                <a:spcPts val="500"/>
              </a:spcBef>
              <a:spcAft>
                <a:spcPts val="0"/>
              </a:spcAft>
              <a:buClr>
                <a:schemeClr val="dk1"/>
              </a:buClr>
              <a:buSzPts val="1600"/>
              <a:buChar char="•"/>
              <a:defRPr sz="1600"/>
            </a:lvl3pPr>
            <a:lvl4pPr indent="-317500" lvl="3" marL="1828800" algn="l">
              <a:lnSpc>
                <a:spcPct val="110000"/>
              </a:lnSpc>
              <a:spcBef>
                <a:spcPts val="500"/>
              </a:spcBef>
              <a:spcAft>
                <a:spcPts val="0"/>
              </a:spcAft>
              <a:buClr>
                <a:schemeClr val="dk1"/>
              </a:buClr>
              <a:buSzPts val="1400"/>
              <a:buChar char="•"/>
              <a:defRPr sz="1400"/>
            </a:lvl4pPr>
            <a:lvl5pPr indent="-317500" lvl="4" marL="2286000" algn="l">
              <a:lnSpc>
                <a:spcPct val="110000"/>
              </a:lnSpc>
              <a:spcBef>
                <a:spcPts val="500"/>
              </a:spcBef>
              <a:spcAft>
                <a:spcPts val="0"/>
              </a:spcAft>
              <a:buClr>
                <a:schemeClr val="dk1"/>
              </a:buClr>
              <a:buSzPts val="1400"/>
              <a:buChar char="•"/>
              <a:defRPr sz="14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17"/>
          <p:cNvSpPr txBox="1"/>
          <p:nvPr>
            <p:ph idx="2"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8"/>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p:nvPr>
            <p:ph idx="2" type="pic"/>
          </p:nvPr>
        </p:nvSpPr>
        <p:spPr>
          <a:xfrm>
            <a:off x="6519672" y="987424"/>
            <a:ext cx="5166360" cy="5358384"/>
          </a:xfrm>
          <a:prstGeom prst="rect">
            <a:avLst/>
          </a:prstGeom>
          <a:noFill/>
          <a:ln>
            <a:noFill/>
          </a:ln>
        </p:spPr>
      </p:sp>
      <p:sp>
        <p:nvSpPr>
          <p:cNvPr id="81" name="Google Shape;81;p18"/>
          <p:cNvSpPr txBox="1"/>
          <p:nvPr>
            <p:ph idx="1"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19"/>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rot="5400000">
            <a:off x="4215384" y="-1115568"/>
            <a:ext cx="3767328" cy="1115568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1" name="Shape 91"/>
        <p:cNvGrpSpPr/>
        <p:nvPr/>
      </p:nvGrpSpPr>
      <p:grpSpPr>
        <a:xfrm>
          <a:off x="0" y="0"/>
          <a:ext cx="0" cy="0"/>
          <a:chOff x="0" y="0"/>
          <a:chExt cx="0" cy="0"/>
        </a:xfrm>
      </p:grpSpPr>
      <p:sp>
        <p:nvSpPr>
          <p:cNvPr id="92" name="Google Shape;92;p20"/>
          <p:cNvSpPr txBox="1"/>
          <p:nvPr>
            <p:ph type="title"/>
          </p:nvPr>
        </p:nvSpPr>
        <p:spPr>
          <a:xfrm rot="5400000">
            <a:off x="7251192" y="2386584"/>
            <a:ext cx="5367528" cy="255117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0"/>
          <p:cNvSpPr txBox="1"/>
          <p:nvPr>
            <p:ph idx="1" type="body"/>
          </p:nvPr>
        </p:nvSpPr>
        <p:spPr>
          <a:xfrm rot="5400000">
            <a:off x="1842516" y="-342900"/>
            <a:ext cx="5367528" cy="801014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20"/>
          <p:cNvSpPr/>
          <p:nvPr/>
        </p:nvSpPr>
        <p:spPr>
          <a:xfrm rot="5400000">
            <a:off x="8936623" y="3585018"/>
            <a:ext cx="5325734"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1"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1pPr>
            <a:lvl2pPr indent="-330200" lvl="1" marL="914400" marR="0" rtl="0" algn="l">
              <a:lnSpc>
                <a:spcPct val="11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2pPr>
            <a:lvl3pPr indent="-317500" lvl="2" marL="1371600" marR="0" rtl="0" algn="l">
              <a:lnSpc>
                <a:spcPct val="110000"/>
              </a:lnSpc>
              <a:spcBef>
                <a:spcPts val="5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3pPr>
            <a:lvl4pPr indent="-304800" lvl="3" marL="18288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4pPr>
            <a:lvl5pPr indent="-304800" lvl="4" marL="22860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 name="Google Shape;9;p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0" name="Google Shape;10;p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lt1"/>
                </a:solidFill>
                <a:latin typeface="Arial"/>
                <a:ea typeface="Arial"/>
                <a:cs typeface="Arial"/>
                <a:sym typeface="Arial"/>
              </a:defRPr>
            </a:lvl1pPr>
            <a:lvl2pPr indent="0" lvl="1" marL="0" marR="0" rtl="0" algn="r">
              <a:spcBef>
                <a:spcPts val="0"/>
              </a:spcBef>
              <a:buNone/>
              <a:defRPr b="0" i="0" sz="900" u="none" cap="none" strike="noStrike">
                <a:solidFill>
                  <a:schemeClr val="lt1"/>
                </a:solidFill>
                <a:latin typeface="Arial"/>
                <a:ea typeface="Arial"/>
                <a:cs typeface="Arial"/>
                <a:sym typeface="Arial"/>
              </a:defRPr>
            </a:lvl2pPr>
            <a:lvl3pPr indent="0" lvl="2" marL="0" marR="0" rtl="0" algn="r">
              <a:spcBef>
                <a:spcPts val="0"/>
              </a:spcBef>
              <a:buNone/>
              <a:defRPr b="0" i="0" sz="900" u="none" cap="none" strike="noStrike">
                <a:solidFill>
                  <a:schemeClr val="lt1"/>
                </a:solidFill>
                <a:latin typeface="Arial"/>
                <a:ea typeface="Arial"/>
                <a:cs typeface="Arial"/>
                <a:sym typeface="Arial"/>
              </a:defRPr>
            </a:lvl3pPr>
            <a:lvl4pPr indent="0" lvl="3" marL="0" marR="0" rtl="0" algn="r">
              <a:spcBef>
                <a:spcPts val="0"/>
              </a:spcBef>
              <a:buNone/>
              <a:defRPr b="0" i="0" sz="900" u="none" cap="none" strike="noStrike">
                <a:solidFill>
                  <a:schemeClr val="lt1"/>
                </a:solidFill>
                <a:latin typeface="Arial"/>
                <a:ea typeface="Arial"/>
                <a:cs typeface="Arial"/>
                <a:sym typeface="Arial"/>
              </a:defRPr>
            </a:lvl4pPr>
            <a:lvl5pPr indent="0" lvl="4" marL="0" marR="0" rtl="0" algn="r">
              <a:spcBef>
                <a:spcPts val="0"/>
              </a:spcBef>
              <a:buNone/>
              <a:defRPr b="0" i="0" sz="900" u="none" cap="none" strike="noStrike">
                <a:solidFill>
                  <a:schemeClr val="lt1"/>
                </a:solidFill>
                <a:latin typeface="Arial"/>
                <a:ea typeface="Arial"/>
                <a:cs typeface="Arial"/>
                <a:sym typeface="Arial"/>
              </a:defRPr>
            </a:lvl5pPr>
            <a:lvl6pPr indent="0" lvl="5" marL="0" marR="0" rtl="0" algn="r">
              <a:spcBef>
                <a:spcPts val="0"/>
              </a:spcBef>
              <a:buNone/>
              <a:defRPr b="0" i="0" sz="900" u="none" cap="none" strike="noStrike">
                <a:solidFill>
                  <a:schemeClr val="lt1"/>
                </a:solidFill>
                <a:latin typeface="Arial"/>
                <a:ea typeface="Arial"/>
                <a:cs typeface="Arial"/>
                <a:sym typeface="Arial"/>
              </a:defRPr>
            </a:lvl6pPr>
            <a:lvl7pPr indent="0" lvl="6" marL="0" marR="0" rtl="0" algn="r">
              <a:spcBef>
                <a:spcPts val="0"/>
              </a:spcBef>
              <a:buNone/>
              <a:defRPr b="0" i="0" sz="900" u="none" cap="none" strike="noStrike">
                <a:solidFill>
                  <a:schemeClr val="lt1"/>
                </a:solidFill>
                <a:latin typeface="Arial"/>
                <a:ea typeface="Arial"/>
                <a:cs typeface="Arial"/>
                <a:sym typeface="Arial"/>
              </a:defRPr>
            </a:lvl7pPr>
            <a:lvl8pPr indent="0" lvl="7" marL="0" marR="0" rtl="0" algn="r">
              <a:spcBef>
                <a:spcPts val="0"/>
              </a:spcBef>
              <a:buNone/>
              <a:defRPr b="0" i="0" sz="900" u="none" cap="none" strike="noStrike">
                <a:solidFill>
                  <a:schemeClr val="lt1"/>
                </a:solidFill>
                <a:latin typeface="Arial"/>
                <a:ea typeface="Arial"/>
                <a:cs typeface="Arial"/>
                <a:sym typeface="Arial"/>
              </a:defRPr>
            </a:lvl8pPr>
            <a:lvl9pPr indent="0" lvl="8" marL="0" marR="0" rt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8"/>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7"/>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7"/>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 name="Google Shape;23;p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4" name="Google Shape;24;p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dk1"/>
                </a:solidFill>
                <a:latin typeface="Arial"/>
                <a:ea typeface="Arial"/>
                <a:cs typeface="Arial"/>
                <a:sym typeface="Arial"/>
              </a:defRPr>
            </a:lvl1pPr>
            <a:lvl2pPr indent="0" lvl="1" marL="0" marR="0" rtl="0" algn="r">
              <a:spcBef>
                <a:spcPts val="0"/>
              </a:spcBef>
              <a:buNone/>
              <a:defRPr b="0" i="0" sz="900" u="none" cap="none" strike="noStrike">
                <a:solidFill>
                  <a:schemeClr val="dk1"/>
                </a:solidFill>
                <a:latin typeface="Arial"/>
                <a:ea typeface="Arial"/>
                <a:cs typeface="Arial"/>
                <a:sym typeface="Arial"/>
              </a:defRPr>
            </a:lvl2pPr>
            <a:lvl3pPr indent="0" lvl="2" marL="0" marR="0" rtl="0" algn="r">
              <a:spcBef>
                <a:spcPts val="0"/>
              </a:spcBef>
              <a:buNone/>
              <a:defRPr b="0" i="0" sz="900" u="none" cap="none" strike="noStrike">
                <a:solidFill>
                  <a:schemeClr val="dk1"/>
                </a:solidFill>
                <a:latin typeface="Arial"/>
                <a:ea typeface="Arial"/>
                <a:cs typeface="Arial"/>
                <a:sym typeface="Arial"/>
              </a:defRPr>
            </a:lvl3pPr>
            <a:lvl4pPr indent="0" lvl="3" marL="0" marR="0" rtl="0" algn="r">
              <a:spcBef>
                <a:spcPts val="0"/>
              </a:spcBef>
              <a:buNone/>
              <a:defRPr b="0" i="0" sz="900" u="none" cap="none" strike="noStrike">
                <a:solidFill>
                  <a:schemeClr val="dk1"/>
                </a:solidFill>
                <a:latin typeface="Arial"/>
                <a:ea typeface="Arial"/>
                <a:cs typeface="Arial"/>
                <a:sym typeface="Arial"/>
              </a:defRPr>
            </a:lvl4pPr>
            <a:lvl5pPr indent="0" lvl="4" marL="0" marR="0" rtl="0" algn="r">
              <a:spcBef>
                <a:spcPts val="0"/>
              </a:spcBef>
              <a:buNone/>
              <a:defRPr b="0" i="0" sz="900" u="none" cap="none" strike="noStrike">
                <a:solidFill>
                  <a:schemeClr val="dk1"/>
                </a:solidFill>
                <a:latin typeface="Arial"/>
                <a:ea typeface="Arial"/>
                <a:cs typeface="Arial"/>
                <a:sym typeface="Arial"/>
              </a:defRPr>
            </a:lvl5pPr>
            <a:lvl6pPr indent="0" lvl="5" marL="0" marR="0" rtl="0" algn="r">
              <a:spcBef>
                <a:spcPts val="0"/>
              </a:spcBef>
              <a:buNone/>
              <a:defRPr b="0" i="0" sz="900" u="none" cap="none" strike="noStrike">
                <a:solidFill>
                  <a:schemeClr val="dk1"/>
                </a:solidFill>
                <a:latin typeface="Arial"/>
                <a:ea typeface="Arial"/>
                <a:cs typeface="Arial"/>
                <a:sym typeface="Arial"/>
              </a:defRPr>
            </a:lvl6pPr>
            <a:lvl7pPr indent="0" lvl="6" marL="0" marR="0" rtl="0" algn="r">
              <a:spcBef>
                <a:spcPts val="0"/>
              </a:spcBef>
              <a:buNone/>
              <a:defRPr b="0" i="0" sz="900" u="none" cap="none" strike="noStrike">
                <a:solidFill>
                  <a:schemeClr val="dk1"/>
                </a:solidFill>
                <a:latin typeface="Arial"/>
                <a:ea typeface="Arial"/>
                <a:cs typeface="Arial"/>
                <a:sym typeface="Arial"/>
              </a:defRPr>
            </a:lvl7pPr>
            <a:lvl8pPr indent="0" lvl="7" marL="0" marR="0" rtl="0" algn="r">
              <a:spcBef>
                <a:spcPts val="0"/>
              </a:spcBef>
              <a:buNone/>
              <a:defRPr b="0" i="0" sz="900" u="none" cap="none" strike="noStrike">
                <a:solidFill>
                  <a:schemeClr val="dk1"/>
                </a:solidFill>
                <a:latin typeface="Arial"/>
                <a:ea typeface="Arial"/>
                <a:cs typeface="Arial"/>
                <a:sym typeface="Arial"/>
              </a:defRPr>
            </a:lvl8pPr>
            <a:lvl9pPr indent="0" lvl="8" marL="0" marR="0" rt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7"/>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1"/>
          <p:cNvSpPr/>
          <p:nvPr/>
        </p:nvSpPr>
        <p:spPr>
          <a:xfrm>
            <a:off x="0" y="-2"/>
            <a:ext cx="12192000" cy="685800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mt="40000"/>
          </a:blip>
          <a:srcRect b="0" l="0" r="0" t="25000"/>
          <a:stretch/>
        </p:blipFill>
        <p:spPr>
          <a:xfrm>
            <a:off x="-2" y="-4"/>
            <a:ext cx="12192001" cy="6858001"/>
          </a:xfrm>
          <a:prstGeom prst="rect">
            <a:avLst/>
          </a:prstGeom>
          <a:noFill/>
          <a:ln>
            <a:noFill/>
          </a:ln>
        </p:spPr>
      </p:pic>
      <p:sp>
        <p:nvSpPr>
          <p:cNvPr id="104" name="Google Shape;104;p1"/>
          <p:cNvSpPr txBox="1"/>
          <p:nvPr>
            <p:ph type="ctrTitle"/>
          </p:nvPr>
        </p:nvSpPr>
        <p:spPr>
          <a:xfrm>
            <a:off x="517870" y="978408"/>
            <a:ext cx="10628720" cy="245059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6000"/>
              <a:buFont typeface="Arial"/>
              <a:buNone/>
            </a:pPr>
            <a:r>
              <a:rPr b="0" lang="en-US" sz="7000">
                <a:latin typeface="Merriweather"/>
                <a:ea typeface="Merriweather"/>
                <a:cs typeface="Merriweather"/>
                <a:sym typeface="Merriweather"/>
              </a:rPr>
              <a:t>Agentic AI, explained</a:t>
            </a:r>
            <a:endParaRPr sz="13200">
              <a:latin typeface="Merriweather"/>
              <a:ea typeface="Merriweather"/>
              <a:cs typeface="Merriweather"/>
              <a:sym typeface="Merriweather"/>
            </a:endParaRPr>
          </a:p>
          <a:p>
            <a:pPr indent="0" lvl="0" marL="0" rtl="0" algn="l">
              <a:lnSpc>
                <a:spcPct val="100000"/>
              </a:lnSpc>
              <a:spcBef>
                <a:spcPts val="0"/>
              </a:spcBef>
              <a:spcAft>
                <a:spcPts val="0"/>
              </a:spcAft>
              <a:buClr>
                <a:schemeClr val="lt1"/>
              </a:buClr>
              <a:buSzPts val="7200"/>
              <a:buFont typeface="Arial"/>
              <a:buNone/>
            </a:pPr>
            <a:r>
              <a:t/>
            </a:r>
            <a:endParaRPr b="0"/>
          </a:p>
          <a:p>
            <a:pPr indent="0" lvl="0" marL="0" rtl="0" algn="l">
              <a:lnSpc>
                <a:spcPct val="100000"/>
              </a:lnSpc>
              <a:spcBef>
                <a:spcPts val="0"/>
              </a:spcBef>
              <a:spcAft>
                <a:spcPts val="0"/>
              </a:spcAft>
              <a:buClr>
                <a:schemeClr val="lt1"/>
              </a:buClr>
              <a:buSzPts val="7200"/>
              <a:buFont typeface="Arial"/>
              <a:buNone/>
            </a:pPr>
            <a:r>
              <a:t/>
            </a:r>
            <a:endParaRPr b="0"/>
          </a:p>
          <a:p>
            <a:pPr indent="0" lvl="0" marL="0" rtl="0" algn="l">
              <a:lnSpc>
                <a:spcPct val="90000"/>
              </a:lnSpc>
              <a:spcBef>
                <a:spcPts val="0"/>
              </a:spcBef>
              <a:spcAft>
                <a:spcPts val="0"/>
              </a:spcAft>
              <a:buClr>
                <a:schemeClr val="lt1"/>
              </a:buClr>
              <a:buSzPts val="5100"/>
              <a:buFont typeface="Arial"/>
              <a:buNone/>
            </a:pPr>
            <a:r>
              <a:t/>
            </a:r>
            <a:endParaRPr sz="5100">
              <a:solidFill>
                <a:srgbClr val="FFFFFF"/>
              </a:solidFill>
              <a:latin typeface="Quattrocento Sans"/>
              <a:ea typeface="Quattrocento Sans"/>
              <a:cs typeface="Quattrocento Sans"/>
              <a:sym typeface="Quattrocento Sans"/>
            </a:endParaRPr>
          </a:p>
        </p:txBody>
      </p:sp>
      <p:sp>
        <p:nvSpPr>
          <p:cNvPr id="105" name="Google Shape;105;p1"/>
          <p:cNvSpPr txBox="1"/>
          <p:nvPr>
            <p:ph idx="1" type="subTitle"/>
          </p:nvPr>
        </p:nvSpPr>
        <p:spPr>
          <a:xfrm>
            <a:off x="6652366" y="4017818"/>
            <a:ext cx="5040785" cy="1828799"/>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rgbClr val="FFFFFF"/>
              </a:buClr>
              <a:buSzPts val="2400"/>
              <a:buNone/>
            </a:pPr>
            <a:r>
              <a:rPr lang="en-US" sz="2400">
                <a:solidFill>
                  <a:srgbClr val="FFFFFF"/>
                </a:solidFill>
              </a:rPr>
              <a:t>Week of March 2</a:t>
            </a:r>
            <a:endParaRPr>
              <a:solidFill>
                <a:srgbClr val="FFFFFF"/>
              </a:solidFill>
            </a:endParaRPr>
          </a:p>
          <a:p>
            <a:pPr indent="0" lvl="0" marL="0" rtl="0" algn="l">
              <a:lnSpc>
                <a:spcPct val="110000"/>
              </a:lnSpc>
              <a:spcBef>
                <a:spcPts val="1000"/>
              </a:spcBef>
              <a:spcAft>
                <a:spcPts val="0"/>
              </a:spcAft>
              <a:buClr>
                <a:srgbClr val="FFFFFF"/>
              </a:buClr>
              <a:buSzPts val="2400"/>
              <a:buNone/>
            </a:pPr>
            <a:r>
              <a:rPr lang="en-US" sz="2400">
                <a:solidFill>
                  <a:srgbClr val="FFFFFF"/>
                </a:solidFill>
              </a:rPr>
              <a:t>Jacob Appling</a:t>
            </a:r>
            <a:endParaRPr/>
          </a:p>
        </p:txBody>
      </p:sp>
      <p:sp>
        <p:nvSpPr>
          <p:cNvPr id="106" name="Google Shape;106;p1"/>
          <p:cNvSpPr/>
          <p:nvPr/>
        </p:nvSpPr>
        <p:spPr>
          <a:xfrm>
            <a:off x="517870" y="508090"/>
            <a:ext cx="5021183" cy="1492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7" name="Google Shape;107;p1"/>
          <p:cNvSpPr/>
          <p:nvPr/>
        </p:nvSpPr>
        <p:spPr>
          <a:xfrm>
            <a:off x="6662168" y="6209925"/>
            <a:ext cx="5021183" cy="457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3" name="Google Shape;113;p2"/>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4" name="Google Shape;11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5" name="Google Shape;115;p2"/>
          <p:cNvSpPr txBox="1"/>
          <p:nvPr>
            <p:ph type="title"/>
          </p:nvPr>
        </p:nvSpPr>
        <p:spPr>
          <a:xfrm>
            <a:off x="521208" y="5289381"/>
            <a:ext cx="7263804" cy="10082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Arial"/>
              <a:buNone/>
            </a:pPr>
            <a:r>
              <a:rPr lang="en-US" sz="1600"/>
              <a:t>Article #4 (Row 4 via Google Sheet)</a:t>
            </a:r>
            <a:endParaRPr/>
          </a:p>
        </p:txBody>
      </p:sp>
      <p:sp>
        <p:nvSpPr>
          <p:cNvPr id="116" name="Google Shape;116;p2"/>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17" name="Google Shape;117;p2"/>
          <p:cNvPicPr preferRelativeResize="0"/>
          <p:nvPr/>
        </p:nvPicPr>
        <p:blipFill>
          <a:blip r:embed="rId3">
            <a:alphaModFix/>
          </a:blip>
          <a:stretch>
            <a:fillRect/>
          </a:stretch>
        </p:blipFill>
        <p:spPr>
          <a:xfrm>
            <a:off x="521202" y="657375"/>
            <a:ext cx="7131700" cy="50285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Link to the Source    </a:t>
            </a:r>
            <a:endParaRPr/>
          </a:p>
        </p:txBody>
      </p:sp>
      <p:sp>
        <p:nvSpPr>
          <p:cNvPr id="123" name="Google Shape;123;p3"/>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rgbClr val="1155CC"/>
              </a:buClr>
              <a:buSzPts val="2800"/>
              <a:buChar char="•"/>
            </a:pPr>
            <a:r>
              <a:rPr lang="en-US" sz="2800">
                <a:solidFill>
                  <a:srgbClr val="1155CC"/>
                </a:solidFill>
              </a:rPr>
              <a:t>https://mitsloan.mit.edu/ideas-made-to-matter/agentic-ai-explained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521208" y="802562"/>
            <a:ext cx="11155680" cy="740117"/>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en-US"/>
              <a:t>Main Findings</a:t>
            </a:r>
            <a:endParaRPr/>
          </a:p>
        </p:txBody>
      </p:sp>
      <p:sp>
        <p:nvSpPr>
          <p:cNvPr id="129" name="Google Shape;129;p4"/>
          <p:cNvSpPr txBox="1"/>
          <p:nvPr>
            <p:ph idx="1" type="body"/>
          </p:nvPr>
        </p:nvSpPr>
        <p:spPr>
          <a:xfrm>
            <a:off x="521208" y="1416070"/>
            <a:ext cx="11155680" cy="4607481"/>
          </a:xfrm>
          <a:prstGeom prst="rect">
            <a:avLst/>
          </a:prstGeom>
          <a:noFill/>
          <a:ln>
            <a:noFill/>
          </a:ln>
        </p:spPr>
        <p:txBody>
          <a:bodyPr anchorCtr="0" anchor="t" bIns="45700" lIns="91425" spcFirstLastPara="1" rIns="91425" wrap="square" tIns="45700">
            <a:noAutofit/>
          </a:bodyPr>
          <a:lstStyle/>
          <a:p>
            <a:pPr indent="-228600" lvl="0" marL="228600" rtl="0" algn="l">
              <a:lnSpc>
                <a:spcPct val="115000"/>
              </a:lnSpc>
              <a:spcBef>
                <a:spcPts val="1200"/>
              </a:spcBef>
              <a:spcAft>
                <a:spcPts val="0"/>
              </a:spcAft>
              <a:buClr>
                <a:srgbClr val="242424"/>
              </a:buClr>
              <a:buSzPts val="1800"/>
              <a:buChar char="•"/>
            </a:pPr>
            <a:r>
              <a:rPr lang="en-US" sz="1500"/>
              <a:t>The article explains that agentic AI is the</a:t>
            </a:r>
            <a:r>
              <a:rPr b="1" lang="en-US" sz="1500"/>
              <a:t> next stage in artificial intelligence</a:t>
            </a:r>
            <a:r>
              <a:rPr lang="en-US" sz="1500"/>
              <a:t> beyond standard generative AI tools like chatbots. Unlike traditional generative AI, which mainly responds to prompts by producing text, images, or other content, agentic AI can perceive, reason, make decisions, and take actions with limited human supervision. These AI agents can interact with digital systems, use APIs, access information, complete workflows, and in some cases even influence physical operations, such as stopping a conveyor belt in a warehouse when a problem is detected.</a:t>
            </a:r>
            <a:endParaRPr sz="1500"/>
          </a:p>
          <a:p>
            <a:pPr indent="-228600" lvl="0" marL="228600" rtl="0" algn="l">
              <a:lnSpc>
                <a:spcPct val="115000"/>
              </a:lnSpc>
              <a:spcBef>
                <a:spcPts val="0"/>
              </a:spcBef>
              <a:spcAft>
                <a:spcPts val="0"/>
              </a:spcAft>
              <a:buClr>
                <a:srgbClr val="242424"/>
              </a:buClr>
              <a:buSzPts val="1800"/>
              <a:buChar char="•"/>
            </a:pPr>
            <a:r>
              <a:rPr lang="en-US" sz="1500"/>
              <a:t>A major highlight of the article is that </a:t>
            </a:r>
            <a:r>
              <a:rPr b="1" lang="en-US" sz="1500"/>
              <a:t>agentic AI is already being adopted across industries.</a:t>
            </a:r>
            <a:r>
              <a:rPr lang="en-US" sz="1500"/>
              <a:t> Large companies and software vendors such as Microsoft, Google, Salesforce, and IBM are embedding these capabilities into their platforms, while businesses in banking, retail, and other sectors are exploring uses like fraud detection, customer service automation, financial advising, compliance processes, and shopping assistance. Researchers cited in the article argue that AI agents create value by reducing transaction costs, working continuously without fatigue, processing huge amounts of data quickly, and helping humans make better or faster decisions.</a:t>
            </a:r>
            <a:endParaRPr sz="1500"/>
          </a:p>
          <a:p>
            <a:pPr indent="-228600" lvl="0" marL="228600" rtl="0" algn="l">
              <a:lnSpc>
                <a:spcPct val="115000"/>
              </a:lnSpc>
              <a:spcBef>
                <a:spcPts val="0"/>
              </a:spcBef>
              <a:spcAft>
                <a:spcPts val="0"/>
              </a:spcAft>
              <a:buClr>
                <a:srgbClr val="242424"/>
              </a:buClr>
              <a:buSzPts val="1800"/>
              <a:buChar char="•"/>
            </a:pPr>
            <a:r>
              <a:rPr lang="en-US" sz="1500"/>
              <a:t>However, the article also stresses that </a:t>
            </a:r>
            <a:r>
              <a:rPr b="1" lang="en-US" sz="1500"/>
              <a:t>implementation is difficult and risky.</a:t>
            </a:r>
            <a:r>
              <a:rPr lang="en-US" sz="1500"/>
              <a:t> Much of the real work is not in prompting the AI, but in data engineering, governance, integration, validation, and stakeholder alignment. The article warns that organizations still do not fully understand the broader societal effects of agentic AI and that there are significant concerns around reliability, cybersecurity, accountability, and ethical decision-making. Overall, the article presents agentic AI as a powerful but still developing technology that requires careful oversight.</a:t>
            </a:r>
            <a:endParaRPr sz="1500"/>
          </a:p>
          <a:p>
            <a:pPr indent="0" lvl="0" marL="228600" rtl="0" algn="l">
              <a:lnSpc>
                <a:spcPct val="110000"/>
              </a:lnSpc>
              <a:spcBef>
                <a:spcPts val="1200"/>
              </a:spcBef>
              <a:spcAft>
                <a:spcPts val="0"/>
              </a:spcAft>
              <a:buNone/>
            </a:pPr>
            <a:r>
              <a:t/>
            </a:r>
            <a:endParaRPr b="1">
              <a:solidFill>
                <a:srgbClr val="242424"/>
              </a:solidFill>
              <a:highlight>
                <a:srgbClr val="FFFFFF"/>
              </a:highlight>
              <a:latin typeface="Quattrocento Sans"/>
              <a:ea typeface="Quattrocento Sans"/>
              <a:cs typeface="Quattrocento Sans"/>
              <a:sym typeface="Quattrocento Sans"/>
            </a:endParaRPr>
          </a:p>
          <a:p>
            <a:pPr indent="0" lvl="0" marL="0" rtl="0" algn="l">
              <a:lnSpc>
                <a:spcPct val="100000"/>
              </a:lnSpc>
              <a:spcBef>
                <a:spcPts val="200"/>
              </a:spcBef>
              <a:spcAft>
                <a:spcPts val="0"/>
              </a:spcAft>
              <a:buClr>
                <a:schemeClr val="dk1"/>
              </a:buClr>
              <a:buSzPts val="1800"/>
              <a:buNone/>
            </a:pPr>
            <a:r>
              <a:t/>
            </a:r>
            <a:endParaRPr b="1">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521208" y="763485"/>
            <a:ext cx="11155680" cy="72057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42424"/>
              </a:buClr>
              <a:buSzPts val="4000"/>
              <a:buFont typeface="Quattrocento Sans"/>
              <a:buNone/>
            </a:pPr>
            <a:r>
              <a:rPr lang="en-US" sz="4000">
                <a:solidFill>
                  <a:srgbClr val="242424"/>
                </a:solidFill>
                <a:latin typeface="Quattrocento Sans"/>
                <a:ea typeface="Quattrocento Sans"/>
                <a:cs typeface="Quattrocento Sans"/>
                <a:sym typeface="Quattrocento Sans"/>
              </a:rPr>
              <a:t>Broader implications for society</a:t>
            </a:r>
            <a:endParaRPr b="0" sz="4000">
              <a:solidFill>
                <a:srgbClr val="242424"/>
              </a:solidFill>
              <a:latin typeface="Quattrocento Sans"/>
              <a:ea typeface="Quattrocento Sans"/>
              <a:cs typeface="Quattrocento Sans"/>
              <a:sym typeface="Quattrocento Sans"/>
            </a:endParaRPr>
          </a:p>
        </p:txBody>
      </p:sp>
      <p:sp>
        <p:nvSpPr>
          <p:cNvPr id="135" name="Google Shape;135;p5"/>
          <p:cNvSpPr txBox="1"/>
          <p:nvPr>
            <p:ph idx="1" type="body"/>
          </p:nvPr>
        </p:nvSpPr>
        <p:spPr>
          <a:xfrm>
            <a:off x="521208" y="1679839"/>
            <a:ext cx="11155680" cy="4666097"/>
          </a:xfrm>
          <a:prstGeom prst="rect">
            <a:avLst/>
          </a:prstGeom>
          <a:noFill/>
          <a:ln>
            <a:noFill/>
          </a:ln>
        </p:spPr>
        <p:txBody>
          <a:bodyPr anchorCtr="0" anchor="t" bIns="45700" lIns="91425" spcFirstLastPara="1" rIns="91425" wrap="square" tIns="45700">
            <a:noAutofit/>
          </a:bodyPr>
          <a:lstStyle/>
          <a:p>
            <a:pPr indent="-279400" lvl="0" marL="228600" rtl="0" algn="l">
              <a:lnSpc>
                <a:spcPct val="115000"/>
              </a:lnSpc>
              <a:spcBef>
                <a:spcPts val="1200"/>
              </a:spcBef>
              <a:spcAft>
                <a:spcPts val="0"/>
              </a:spcAft>
              <a:buClr>
                <a:srgbClr val="242424"/>
              </a:buClr>
              <a:buSzPts val="2600"/>
              <a:buChar char="•"/>
            </a:pPr>
            <a:r>
              <a:rPr b="1" lang="en-US" sz="1700"/>
              <a:t>The broader societal implications of agentic AI are significant</a:t>
            </a:r>
            <a:r>
              <a:rPr lang="en-US" sz="1700"/>
              <a:t> because these systems may increasingly perform tasks that were once handled only by humans. This could improve efficiency, lower costs, and increase access to services in areas like finance, healthcare, logistics, and consumer decision-making. AI agents may help people make better-informed choices by analyzing more data than a human could reasonably process, and they may reduce the time and effort required for complicated transactions such as insurance, real estate, or procurement.</a:t>
            </a:r>
            <a:endParaRPr sz="1700"/>
          </a:p>
          <a:p>
            <a:pPr indent="-279400" lvl="0" marL="228600" rtl="0" algn="l">
              <a:lnSpc>
                <a:spcPct val="115000"/>
              </a:lnSpc>
              <a:spcBef>
                <a:spcPts val="0"/>
              </a:spcBef>
              <a:spcAft>
                <a:spcPts val="0"/>
              </a:spcAft>
              <a:buClr>
                <a:srgbClr val="242424"/>
              </a:buClr>
              <a:buSzPts val="2600"/>
              <a:buChar char="•"/>
            </a:pPr>
            <a:r>
              <a:rPr lang="en-US" sz="1700"/>
              <a:t>At the same time, the article makes clear that these </a:t>
            </a:r>
            <a:r>
              <a:rPr b="1" lang="en-US" sz="1700"/>
              <a:t>benefits come with serious concerns.</a:t>
            </a:r>
            <a:r>
              <a:rPr lang="en-US" sz="1700"/>
              <a:t> If AI agents are given decision-making authority, errors could have major consequences, especially in high-stakes situations like loan approvals, admissions decisions, or legal and financial matters. Society will need stronger governance frameworks, clearer accountability, and more transparent standards for how these systems are used. There is also the risk of organizations adopting agentic AI too quickly without fully understanding how to manage it safely. In that sense, agentic AI could reshape not only work, but also trust, responsibility, and fairness in institutions</a:t>
            </a:r>
            <a:endParaRPr b="1" sz="2600">
              <a:solidFill>
                <a:srgbClr val="242424"/>
              </a:solidFill>
              <a:highlight>
                <a:srgbClr val="FFFFFF"/>
              </a:highlight>
              <a:latin typeface="Quattrocento Sans"/>
              <a:ea typeface="Quattrocento Sans"/>
              <a:cs typeface="Quattrocento Sans"/>
              <a:sym typeface="Quattrocento Sans"/>
            </a:endParaRPr>
          </a:p>
          <a:p>
            <a:pPr indent="-50800" lvl="0" marL="228600" rtl="0" algn="l">
              <a:lnSpc>
                <a:spcPct val="110000"/>
              </a:lnSpc>
              <a:spcBef>
                <a:spcPts val="1200"/>
              </a:spcBef>
              <a:spcAft>
                <a:spcPts val="0"/>
              </a:spcAft>
              <a:buClr>
                <a:schemeClr val="dk1"/>
              </a:buClr>
              <a:buSzPts val="2800"/>
              <a:buNone/>
            </a:pPr>
            <a:r>
              <a:t/>
            </a:r>
            <a:endParaRPr b="1" sz="3400">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521208" y="6736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42424"/>
              </a:buClr>
              <a:buSzPts val="4000"/>
              <a:buFont typeface="Quattrocento Sans"/>
              <a:buNone/>
            </a:pPr>
            <a:r>
              <a:rPr lang="en-US" sz="4000">
                <a:solidFill>
                  <a:srgbClr val="242424"/>
                </a:solidFill>
                <a:latin typeface="Quattrocento Sans"/>
                <a:ea typeface="Quattrocento Sans"/>
                <a:cs typeface="Quattrocento Sans"/>
                <a:sym typeface="Quattrocento Sans"/>
              </a:rPr>
              <a:t>Relevance and potential influence on the construction industry</a:t>
            </a:r>
            <a:endParaRPr b="0" sz="4000">
              <a:solidFill>
                <a:srgbClr val="242424"/>
              </a:solidFill>
              <a:latin typeface="Quattrocento Sans"/>
              <a:ea typeface="Quattrocento Sans"/>
              <a:cs typeface="Quattrocento Sans"/>
              <a:sym typeface="Quattrocento Sans"/>
            </a:endParaRPr>
          </a:p>
        </p:txBody>
      </p:sp>
      <p:sp>
        <p:nvSpPr>
          <p:cNvPr id="141" name="Google Shape;141;p6"/>
          <p:cNvSpPr txBox="1"/>
          <p:nvPr>
            <p:ph idx="1" type="body"/>
          </p:nvPr>
        </p:nvSpPr>
        <p:spPr>
          <a:xfrm>
            <a:off x="521208" y="2138994"/>
            <a:ext cx="11155680" cy="4705172"/>
          </a:xfrm>
          <a:prstGeom prst="rect">
            <a:avLst/>
          </a:prstGeom>
          <a:noFill/>
          <a:ln>
            <a:noFill/>
          </a:ln>
        </p:spPr>
        <p:txBody>
          <a:bodyPr anchorCtr="0" anchor="t" bIns="45700" lIns="91425" spcFirstLastPara="1" rIns="91425" wrap="square" tIns="45700">
            <a:noAutofit/>
          </a:bodyPr>
          <a:lstStyle/>
          <a:p>
            <a:pPr indent="-260350" lvl="0" marL="228600" rtl="0" algn="l">
              <a:lnSpc>
                <a:spcPct val="115000"/>
              </a:lnSpc>
              <a:spcBef>
                <a:spcPts val="1200"/>
              </a:spcBef>
              <a:spcAft>
                <a:spcPts val="0"/>
              </a:spcAft>
              <a:buClr>
                <a:srgbClr val="242424"/>
              </a:buClr>
              <a:buSzPts val="2300"/>
              <a:buChar char="•"/>
            </a:pPr>
            <a:r>
              <a:rPr lang="en-US" sz="1400"/>
              <a:t>Agentic AI has strong potential to influence the construction industry because </a:t>
            </a:r>
            <a:r>
              <a:rPr b="1" lang="en-US" sz="1400"/>
              <a:t>construction depends heavily on coordination, scheduling, documentation, procurement, safety monitoring, and communication across many stakeholders.</a:t>
            </a:r>
            <a:r>
              <a:rPr lang="en-US" sz="1400"/>
              <a:t> AI agents could help automate multi-step workflows such as reviewing submittals, tracking RFIs, monitoring budgets, coordinating schedules, checking procurement statuses, and flagging inconsistencies across project data. Because construction projects involve many moving parts and large amounts of information, AI agents could improve efficiency by reducing manual administrative work and helping project teams make quicker decisions.</a:t>
            </a:r>
            <a:endParaRPr sz="1400"/>
          </a:p>
          <a:p>
            <a:pPr indent="-260350" lvl="0" marL="228600" rtl="0" algn="l">
              <a:lnSpc>
                <a:spcPct val="115000"/>
              </a:lnSpc>
              <a:spcBef>
                <a:spcPts val="0"/>
              </a:spcBef>
              <a:spcAft>
                <a:spcPts val="0"/>
              </a:spcAft>
              <a:buClr>
                <a:srgbClr val="242424"/>
              </a:buClr>
              <a:buSzPts val="2300"/>
              <a:buChar char="•"/>
            </a:pPr>
            <a:r>
              <a:rPr lang="en-US" sz="1400"/>
              <a:t>The technology may also have </a:t>
            </a:r>
            <a:r>
              <a:rPr b="1" lang="en-US" sz="1400"/>
              <a:t>major value in jobsite safety and facilities operations.</a:t>
            </a:r>
            <a:r>
              <a:rPr lang="en-US" sz="1400"/>
              <a:t> Similar to the warehouse example in the article, agentic AI could be paired with cameras, sensors, or digital reporting systems to detect unsafe conditions, identify abnormal events, or trigger alerts when risks are present. In design and preconstruction, AI agents could help compare options, review documents, assist with clash detection workflows, and support BIM-based coordination processes. For facility management, agentic AI could eventually assist with predictive maintenance, space management, and ongoing building performance monitoring.</a:t>
            </a:r>
            <a:endParaRPr sz="1400"/>
          </a:p>
          <a:p>
            <a:pPr indent="-260350" lvl="0" marL="228600" rtl="0" algn="l">
              <a:lnSpc>
                <a:spcPct val="115000"/>
              </a:lnSpc>
              <a:spcBef>
                <a:spcPts val="0"/>
              </a:spcBef>
              <a:spcAft>
                <a:spcPts val="0"/>
              </a:spcAft>
              <a:buClr>
                <a:srgbClr val="242424"/>
              </a:buClr>
              <a:buSzPts val="2300"/>
              <a:buChar char="•"/>
            </a:pPr>
            <a:r>
              <a:rPr lang="en-US" sz="1400"/>
              <a:t>Still, the construction industry would </a:t>
            </a:r>
            <a:r>
              <a:rPr b="1" lang="en-US" sz="1400"/>
              <a:t>need to be careful about implementation.</a:t>
            </a:r>
            <a:r>
              <a:rPr lang="en-US" sz="1400"/>
              <a:t> Construction data is often fragmented, inconsistent, and spread across multiple platforms, which could make integration difficult. In addition, decisions involving safety, cost, and contracts require strong human oversight. For that reason, the biggest influence of agentic AI in construction will likely come from human-AI collaboration rather than fully autonomous decision-making. If implemented carefully, agentic AI could improve productivity, reduce delays, and strengthen project controls, but it will require strong governance, clear accountability, and reliable data systems.</a:t>
            </a:r>
            <a:endParaRPr sz="1400"/>
          </a:p>
          <a:p>
            <a:pPr indent="-260350" lvl="0" marL="228600" rtl="0" algn="l">
              <a:lnSpc>
                <a:spcPct val="110000"/>
              </a:lnSpc>
              <a:spcBef>
                <a:spcPts val="1000"/>
              </a:spcBef>
              <a:spcAft>
                <a:spcPts val="0"/>
              </a:spcAft>
              <a:buClr>
                <a:srgbClr val="242424"/>
              </a:buClr>
              <a:buSzPts val="2500"/>
              <a:buFont typeface="Quattrocento Sans"/>
              <a:buChar char="•"/>
            </a:pPr>
            <a:r>
              <a:t/>
            </a:r>
            <a:endParaRPr b="1" sz="2500">
              <a:solidFill>
                <a:srgbClr val="242424"/>
              </a:solidFill>
              <a:highlight>
                <a:srgbClr val="FFFFFF"/>
              </a:highlight>
              <a:latin typeface="Quattrocento Sans"/>
              <a:ea typeface="Quattrocento Sans"/>
              <a:cs typeface="Quattrocento Sans"/>
              <a:sym typeface="Quattrocento Sans"/>
            </a:endParaRPr>
          </a:p>
          <a:p>
            <a:pPr indent="0" lvl="0" marL="228600" rtl="0" algn="l">
              <a:lnSpc>
                <a:spcPct val="110000"/>
              </a:lnSpc>
              <a:spcBef>
                <a:spcPts val="1000"/>
              </a:spcBef>
              <a:spcAft>
                <a:spcPts val="0"/>
              </a:spcAft>
              <a:buClr>
                <a:schemeClr val="dk1"/>
              </a:buClr>
              <a:buSzPts val="2400"/>
              <a:buNone/>
            </a:pPr>
            <a:r>
              <a:t/>
            </a:r>
            <a:endParaRPr sz="2700">
              <a:solidFill>
                <a:srgbClr val="242424"/>
              </a:solidFill>
              <a:highlight>
                <a:srgbClr val="FFFFFF"/>
              </a:highlight>
              <a:latin typeface="Arial"/>
              <a:ea typeface="Arial"/>
              <a:cs typeface="Arial"/>
              <a:sym typeface="Arial"/>
            </a:endParaRPr>
          </a:p>
          <a:p>
            <a:pPr indent="-228600" lvl="0" marL="228600" rtl="0" algn="l">
              <a:lnSpc>
                <a:spcPct val="110000"/>
              </a:lnSpc>
              <a:spcBef>
                <a:spcPts val="1000"/>
              </a:spcBef>
              <a:spcAft>
                <a:spcPts val="0"/>
              </a:spcAft>
              <a:buClr>
                <a:schemeClr val="dk1"/>
              </a:buClr>
              <a:buSzPts val="2400"/>
              <a:buNone/>
            </a:pPr>
            <a:r>
              <a:t/>
            </a:r>
            <a:endParaRPr sz="2400">
              <a:solidFill>
                <a:srgbClr val="242424"/>
              </a:solidFill>
              <a:highlight>
                <a:srgbClr val="FFFFFF"/>
              </a:highlight>
              <a:latin typeface="Arial"/>
              <a:ea typeface="Arial"/>
              <a:cs typeface="Arial"/>
              <a:sym typeface="Arial"/>
            </a:endParaRPr>
          </a:p>
          <a:p>
            <a:pPr indent="0" lvl="0" marL="228600" rtl="0" algn="l">
              <a:lnSpc>
                <a:spcPct val="100000"/>
              </a:lnSpc>
              <a:spcBef>
                <a:spcPts val="200"/>
              </a:spcBef>
              <a:spcAft>
                <a:spcPts val="0"/>
              </a:spcAft>
              <a:buClr>
                <a:schemeClr val="dk1"/>
              </a:buClr>
              <a:buSzPts val="2800"/>
              <a:buNone/>
            </a:pPr>
            <a:r>
              <a:t/>
            </a:r>
            <a:endParaRPr b="1" sz="2800">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2026-01-21T18:15:53Z</dcterms:created>
</cp:coreProperties>
</file>
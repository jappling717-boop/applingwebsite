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06" d="100"/>
          <a:sy n="106" d="100"/>
        </p:scale>
        <p:origin x="75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标题和副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AutoShape 2" hidden="1"/>
          <p:cNvSpPr/>
          <p:nvPr/>
        </p:nvSpPr>
        <p:spPr>
          <a:xfrm>
            <a:off x="0" y="0"/>
            <a:ext cx="0" cy="0"/>
          </a:xfrm>
          <a:prstGeom prst="rect">
            <a:avLst/>
          </a:prstGeom>
          <a:solidFill>
            <a:schemeClr val="accent1"/>
          </a:solidFill>
          <a:ln w="12700" cap="flat" cmpd="sng">
            <a:solidFill>
              <a:schemeClr val="accent1">
                <a:shade val="50000"/>
              </a:schemeClr>
            </a:solidFill>
            <a:prstDash val="solid"/>
          </a:ln>
        </p:spPr>
        <p:txBody>
          <a:bodyPr vert="horz" lIns="91440" tIns="45720" rIns="91440" bIns="45720" anchor="ctr"/>
          <a:lstStyle/>
          <a:p>
            <a:pPr marL="0" algn="ctr"/>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254635" y="1406525"/>
            <a:ext cx="7237730" cy="3072765"/>
          </a:xfrm>
          <a:prstGeom prst="rect">
            <a:avLst/>
          </a:prstGeom>
          <a:noFill/>
          <a:ln>
            <a:noFill/>
          </a:ln>
        </p:spPr>
        <p:txBody>
          <a:bodyPr vert="horz" wrap="square" lIns="91440" tIns="45720" rIns="91440" bIns="45720" rtlCol="0" anchor="ctr">
            <a:normAutofit/>
            <a:scene3d>
              <a:camera prst="orthographicFront"/>
              <a:lightRig rig="threePt" dir="t"/>
            </a:scene3d>
          </a:bodyPr>
          <a:lstStyle/>
          <a:p>
            <a:pPr marL="0" indent="0" algn="l" fontAlgn="auto">
              <a:lnSpc>
                <a:spcPct val="117000"/>
              </a:lnSpc>
              <a:defRPr/>
            </a:pPr>
            <a:r>
              <a:rPr lang="en-US" sz="5400" b="0" i="0" u="none" spc="100" baseline="0">
                <a:gradFill>
                  <a:gsLst>
                    <a:gs pos="4000">
                      <a:srgbClr val="1A6F6F"/>
                    </a:gs>
                    <a:gs pos="100000">
                      <a:srgbClr val="75C740"/>
                    </a:gs>
                  </a:gsLst>
                  <a:path path="circle">
                    <a:fillToRect r="100000" b="100000"/>
                  </a:path>
                  <a:tileRect l="-100000" t="-100000"/>
                </a:gradFill>
                <a:effectLst/>
                <a:latin typeface="思源黑体 Medium"/>
                <a:ea typeface="思源黑体 Medium"/>
              </a:rPr>
              <a:t>AI-Driven Procurement: Redesigning Operations for Success</a:t>
            </a:r>
            <a:endParaRPr lang="en-US" sz="1100"/>
          </a:p>
        </p:txBody>
      </p:sp>
      <p:sp>
        <p:nvSpPr>
          <p:cNvPr id="3" name="TextBox 3"/>
          <p:cNvSpPr txBox="1"/>
          <p:nvPr/>
        </p:nvSpPr>
        <p:spPr>
          <a:xfrm>
            <a:off x="862965" y="5461635"/>
            <a:ext cx="5688965" cy="368300"/>
          </a:xfrm>
          <a:prstGeom prst="rect">
            <a:avLst/>
          </a:prstGeom>
          <a:noFill/>
          <a:ln>
            <a:noFill/>
          </a:ln>
        </p:spPr>
        <p:txBody>
          <a:bodyPr vert="horz" wrap="square" lIns="91440" tIns="45720" rIns="91440" bIns="45720" rtlCol="0" anchor="t">
            <a:spAutoFit/>
          </a:bodyPr>
          <a:lstStyle/>
          <a:p>
            <a:pPr marL="0" algn="l">
              <a:defRPr/>
            </a:pPr>
            <a:r>
              <a:rPr lang="en-US" sz="1800" b="0" i="0" u="none" baseline="0">
                <a:solidFill>
                  <a:schemeClr val="tx1"/>
                </a:solidFill>
                <a:latin typeface="思源黑体 Normal"/>
                <a:ea typeface="思源黑体 Normal"/>
              </a:rPr>
              <a:t>Reporter:XXX</a:t>
            </a:r>
            <a:endParaRPr lang="en-US" sz="1100"/>
          </a:p>
        </p:txBody>
      </p:sp>
      <p:sp>
        <p:nvSpPr>
          <p:cNvPr id="4" name="AutoShape 4"/>
          <p:cNvSpPr/>
          <p:nvPr/>
        </p:nvSpPr>
        <p:spPr>
          <a:xfrm>
            <a:off x="3358445" y="5461635"/>
            <a:ext cx="3345180" cy="368300"/>
          </a:xfrm>
          <a:prstGeom prst="rect">
            <a:avLst/>
          </a:prstGeom>
          <a:noFill/>
          <a:ln>
            <a:noFill/>
          </a:ln>
        </p:spPr>
        <p:txBody>
          <a:bodyPr vert="horz" wrap="square" lIns="91440" tIns="45720" rIns="91440" bIns="45720" anchor="t">
            <a:spAutoFit/>
          </a:bodyPr>
          <a:lstStyle/>
          <a:p>
            <a:pPr marL="0" algn="l"/>
            <a:r>
              <a:rPr lang="en-US" sz="1800" b="0" i="0" u="none" baseline="0">
                <a:solidFill>
                  <a:schemeClr val="tx1"/>
                </a:solidFill>
                <a:latin typeface="思源黑体 Normal"/>
                <a:ea typeface="思源黑体 Normal"/>
              </a:rPr>
              <a:t>Date:20XX-XX-XX</a:t>
            </a:r>
          </a:p>
        </p:txBody>
      </p:sp>
      <p:sp>
        <p:nvSpPr>
          <p:cNvPr id="5" name="AutoShape 5"/>
          <p:cNvSpPr/>
          <p:nvPr/>
        </p:nvSpPr>
        <p:spPr>
          <a:xfrm>
            <a:off x="419100" y="5468620"/>
            <a:ext cx="342989" cy="354330"/>
          </a:xfrm>
          <a:prstGeom prst="ellipse">
            <a:avLst/>
          </a:prstGeom>
          <a:solidFill>
            <a:srgbClr val="75BD42"/>
          </a:solidFill>
          <a:ln>
            <a:noFill/>
          </a:ln>
        </p:spPr>
        <p:txBody>
          <a:bodyPr vert="horz" lIns="91440" tIns="45720" rIns="91440" bIns="45720" anchor="ctr"/>
          <a:lstStyle/>
          <a:p>
            <a:pPr marL="0" algn="ctr"/>
            <a:endParaRPr/>
          </a:p>
        </p:txBody>
      </p:sp>
      <p:sp>
        <p:nvSpPr>
          <p:cNvPr id="6" name="AutoShape 6"/>
          <p:cNvSpPr/>
          <p:nvPr/>
        </p:nvSpPr>
        <p:spPr>
          <a:xfrm>
            <a:off x="3016716" y="5475605"/>
            <a:ext cx="342989" cy="354330"/>
          </a:xfrm>
          <a:prstGeom prst="ellipse">
            <a:avLst/>
          </a:prstGeom>
          <a:solidFill>
            <a:srgbClr val="75BD42"/>
          </a:solidFill>
          <a:ln>
            <a:noFill/>
          </a:ln>
        </p:spPr>
        <p:txBody>
          <a:bodyPr vert="horz" lIns="91440" tIns="45720" rIns="91440" bIns="45720" anchor="ctr"/>
          <a:lstStyle/>
          <a:p>
            <a:pPr marL="0" algn="ctr"/>
            <a:endParaRPr/>
          </a:p>
        </p:txBody>
      </p:sp>
      <p:sp>
        <p:nvSpPr>
          <p:cNvPr id="7" name="AutoShape 7"/>
          <p:cNvSpPr/>
          <p:nvPr/>
        </p:nvSpPr>
        <p:spPr>
          <a:xfrm>
            <a:off x="10795000" y="6540500"/>
            <a:ext cx="1270000" cy="190500"/>
          </a:xfrm>
          <a:prstGeom prst="rect">
            <a:avLst/>
          </a:prstGeom>
          <a:solidFill>
            <a:srgbClr val="000000">
              <a:alpha val="0"/>
            </a:srgbClr>
          </a:solidFill>
        </p:spPr>
        <p:txBody>
          <a:bodyPr rtlCol="0" anchor="t"/>
          <a:lstStyle/>
          <a:p>
            <a:pPr algn="r">
              <a:defRPr/>
            </a:pPr>
            <a:r>
              <a:rPr lang="en-US" sz="800" b="0" i="0" u="none" baseline="0">
                <a:solidFill>
                  <a:srgbClr val="808080"/>
                </a:solidFill>
                <a:latin typeface="Microsoft YaHei"/>
                <a:ea typeface="Microsoft YaHei"/>
              </a:rPr>
              <a:t>Created By AI</a:t>
            </a:r>
            <a:endParaRPr lang="en-US" sz="11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fill="hold" grpId="0" nodeType="afterEffect">
                                  <p:stCondLst>
                                    <p:cond delay="0"/>
                                  </p:stCondLst>
                                  <p:iterate type="lt">
                                    <p:tmPct val="30000"/>
                                  </p:iterate>
                                  <p:childTnLst>
                                    <p:anim calcmode="lin" valueType="num">
                                      <p:cBhvr>
                                        <p:cTn id="6" dur="455" fill="hold">
                                          <p:stCondLst>
                                            <p:cond delay="455"/>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7" dur="455"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8" dur="156" decel="50000" autoRev="1" fill="hold">
                                          <p:stCondLst>
                                            <p:cond delay="455"/>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9" dur="136" fill="hold">
                                          <p:stCondLst>
                                            <p:cond delay="864"/>
                                          </p:stCondLst>
                                        </p:cTn>
                                        <p:tgtEl>
                                          <p:spTgt spid="2"/>
                                        </p:tgtEl>
                                        <p:attrNameLst>
                                          <p:attrName>ppt_y</p:attrName>
                                        </p:attrNameLst>
                                      </p:cBhvr>
                                      <p:tavLst>
                                        <p:tav tm="0">
                                          <p:val>
                                            <p:strVal val="#ppt_y-(0.354*#ppt_w-0.172*#ppt_h)"/>
                                          </p:val>
                                        </p:tav>
                                        <p:tav tm="100000">
                                          <p:val>
                                            <p:strVal val="#ppt_y"/>
                                          </p:val>
                                        </p:tav>
                                      </p:tavLst>
                                    </p:anim>
                                    <p:set>
                                      <p:cBhvr>
                                        <p:cTn id="10" dur="1" fill="hold">
                                          <p:stCondLst>
                                            <p:cond delay="0"/>
                                          </p:stCondLst>
                                        </p:cTn>
                                        <p:tgtEl>
                                          <p:spTgt spid="2"/>
                                        </p:tgtEl>
                                        <p:attrNameLst>
                                          <p:attrName>style.visibility</p:attrName>
                                        </p:attrNameLst>
                                      </p:cBhvr>
                                      <p:to>
                                        <p:strVal val="visible"/>
                                      </p:to>
                                    </p:set>
                                    <p:set>
                                      <p:cBhvr>
                                        <p:cTn id="11" dur="455" fill="hold">
                                          <p:stCondLst>
                                            <p:cond delay="0"/>
                                          </p:stCondLst>
                                        </p:cTn>
                                        <p:tgtEl>
                                          <p:spTgt spid="2"/>
                                        </p:tgtEl>
                                        <p:attrNameLst>
                                          <p:attrName>style.rotation</p:attrName>
                                        </p:attrNameLst>
                                      </p:cBhvr>
                                      <p:to>
                                        <p:strVal val="-45.0"/>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044950" y="800100"/>
            <a:ext cx="4102100" cy="521970"/>
          </a:xfrm>
          <a:prstGeom prst="rect">
            <a:avLst/>
          </a:prstGeom>
          <a:noFill/>
        </p:spPr>
        <p:txBody>
          <a:bodyPr vert="horz" wrap="square" lIns="91440" tIns="45720" rIns="91440" bIns="45720" rtlCol="0" anchor="t">
            <a:normAutofit/>
          </a:bodyPr>
          <a:lstStyle/>
          <a:p>
            <a:pPr marL="0" indent="0" algn="dist">
              <a:lnSpc>
                <a:spcPct val="100000"/>
              </a:lnSpc>
              <a:defRPr/>
            </a:pPr>
            <a:r>
              <a:rPr lang="en-US" sz="1720" b="0" i="0" u="none" baseline="0">
                <a:solidFill>
                  <a:srgbClr val="79C942">
                    <a:alpha val="100000"/>
                  </a:srgbClr>
                </a:solidFill>
                <a:latin typeface="思源黑体 Normal"/>
                <a:ea typeface="思源黑体 Normal"/>
              </a:rPr>
              <a:t>CONTENTS</a:t>
            </a:r>
            <a:endParaRPr lang="en-US" sz="1100"/>
          </a:p>
        </p:txBody>
      </p:sp>
      <p:sp>
        <p:nvSpPr>
          <p:cNvPr id="3" name="TextBox 3"/>
          <p:cNvSpPr txBox="1"/>
          <p:nvPr/>
        </p:nvSpPr>
        <p:spPr>
          <a:xfrm>
            <a:off x="2450465" y="2328545"/>
            <a:ext cx="3252470" cy="977900"/>
          </a:xfrm>
          <a:prstGeom prst="rect">
            <a:avLst/>
          </a:prstGeom>
          <a:noFill/>
        </p:spPr>
        <p:txBody>
          <a:bodyPr vert="horz" wrap="square" lIns="91440" tIns="45720" rIns="91440" bIns="45720" rtlCol="0" anchor="t">
            <a:noAutofit/>
          </a:bodyPr>
          <a:lstStyle/>
          <a:p>
            <a:pPr marL="0" indent="0" algn="l" fontAlgn="auto">
              <a:lnSpc>
                <a:spcPct val="120000"/>
              </a:lnSpc>
              <a:spcBef>
                <a:spcPct val="0"/>
              </a:spcBef>
              <a:defRPr/>
            </a:pPr>
            <a:r>
              <a:rPr lang="en-US" sz="2400" b="0" i="0" u="none" baseline="0">
                <a:solidFill>
                  <a:srgbClr val="79C942"/>
                </a:solidFill>
                <a:latin typeface="思源黑体 Normal"/>
                <a:ea typeface="思源黑体 Normal"/>
              </a:rPr>
              <a:t>The Core Challenge: Data Fragmentation and Operational Redesign</a:t>
            </a:r>
            <a:endParaRPr lang="en-US" sz="1100"/>
          </a:p>
        </p:txBody>
      </p:sp>
      <p:sp>
        <p:nvSpPr>
          <p:cNvPr id="4" name="TextBox 4"/>
          <p:cNvSpPr txBox="1"/>
          <p:nvPr/>
        </p:nvSpPr>
        <p:spPr>
          <a:xfrm>
            <a:off x="1013982" y="2309495"/>
            <a:ext cx="1602000" cy="829945"/>
          </a:xfrm>
          <a:prstGeom prst="rect">
            <a:avLst/>
          </a:prstGeom>
          <a:noFill/>
        </p:spPr>
        <p:txBody>
          <a:bodyPr vert="horz" wrap="square" lIns="91440" tIns="45720" rIns="91440" bIns="45720" rtlCol="0" anchor="t">
            <a:normAutofit/>
          </a:bodyPr>
          <a:lstStyle/>
          <a:p>
            <a:pPr marL="0" algn="ctr">
              <a:defRPr/>
            </a:pPr>
            <a:r>
              <a:rPr lang="en-US" sz="4300" b="1" i="0" u="none" spc="100" baseline="0">
                <a:solidFill>
                  <a:srgbClr val="79C942"/>
                </a:solidFill>
                <a:latin typeface="思源黑体 Normal"/>
                <a:ea typeface="思源黑体 Normal"/>
              </a:rPr>
              <a:t>01</a:t>
            </a:r>
            <a:endParaRPr lang="en-US" sz="1100"/>
          </a:p>
        </p:txBody>
      </p:sp>
      <p:sp>
        <p:nvSpPr>
          <p:cNvPr id="5" name="TextBox 5"/>
          <p:cNvSpPr txBox="1"/>
          <p:nvPr/>
        </p:nvSpPr>
        <p:spPr>
          <a:xfrm>
            <a:off x="1500022" y="3007995"/>
            <a:ext cx="629920" cy="260985"/>
          </a:xfrm>
          <a:prstGeom prst="rect">
            <a:avLst/>
          </a:prstGeom>
          <a:noFill/>
          <a:ln>
            <a:solidFill>
              <a:srgbClr val="79C942"/>
            </a:solidFill>
          </a:ln>
        </p:spPr>
        <p:txBody>
          <a:bodyPr vert="horz" wrap="square" lIns="91440" tIns="45720" rIns="91440" bIns="45720" rtlCol="0" anchor="t">
            <a:noAutofit/>
          </a:bodyPr>
          <a:lstStyle/>
          <a:p>
            <a:pPr marL="0" indent="0" algn="dist" fontAlgn="auto">
              <a:lnSpc>
                <a:spcPct val="100000"/>
              </a:lnSpc>
              <a:defRPr/>
            </a:pPr>
            <a:r>
              <a:rPr lang="en-US" sz="1100" b="0" i="0" u="none" baseline="0">
                <a:solidFill>
                  <a:srgbClr val="79C942"/>
                </a:solidFill>
                <a:latin typeface="思源黑体 Normal"/>
                <a:ea typeface="思源黑体 Normal"/>
              </a:rPr>
              <a:t>PART</a:t>
            </a:r>
            <a:endParaRPr lang="en-US" sz="1100"/>
          </a:p>
        </p:txBody>
      </p:sp>
      <p:sp>
        <p:nvSpPr>
          <p:cNvPr id="6" name="TextBox 6"/>
          <p:cNvSpPr txBox="1"/>
          <p:nvPr/>
        </p:nvSpPr>
        <p:spPr>
          <a:xfrm>
            <a:off x="7862570" y="2328545"/>
            <a:ext cx="3252470" cy="977900"/>
          </a:xfrm>
          <a:prstGeom prst="rect">
            <a:avLst/>
          </a:prstGeom>
          <a:noFill/>
        </p:spPr>
        <p:txBody>
          <a:bodyPr vert="horz" wrap="square" lIns="91440" tIns="45720" rIns="91440" bIns="45720" rtlCol="0" anchor="t">
            <a:noAutofit/>
          </a:bodyPr>
          <a:lstStyle/>
          <a:p>
            <a:pPr marL="0" indent="0" algn="l" fontAlgn="auto">
              <a:lnSpc>
                <a:spcPct val="120000"/>
              </a:lnSpc>
              <a:spcBef>
                <a:spcPct val="0"/>
              </a:spcBef>
              <a:defRPr/>
            </a:pPr>
            <a:r>
              <a:rPr lang="en-US" sz="2400" b="0" i="0" u="none" baseline="0">
                <a:solidFill>
                  <a:srgbClr val="79C942"/>
                </a:solidFill>
                <a:latin typeface="思源黑体 Normal"/>
                <a:ea typeface="思源黑体 Normal"/>
              </a:rPr>
              <a:t>The Evolving Role of Procurement Professionals</a:t>
            </a:r>
            <a:endParaRPr lang="en-US" sz="1100"/>
          </a:p>
        </p:txBody>
      </p:sp>
      <p:sp>
        <p:nvSpPr>
          <p:cNvPr id="7" name="TextBox 7"/>
          <p:cNvSpPr txBox="1"/>
          <p:nvPr/>
        </p:nvSpPr>
        <p:spPr>
          <a:xfrm>
            <a:off x="6426722" y="2309495"/>
            <a:ext cx="1602000" cy="829945"/>
          </a:xfrm>
          <a:prstGeom prst="rect">
            <a:avLst/>
          </a:prstGeom>
          <a:noFill/>
        </p:spPr>
        <p:txBody>
          <a:bodyPr vert="horz" wrap="square" lIns="91440" tIns="45720" rIns="91440" bIns="45720" rtlCol="0" anchor="t">
            <a:normAutofit/>
          </a:bodyPr>
          <a:lstStyle/>
          <a:p>
            <a:pPr marL="0" algn="ctr">
              <a:defRPr/>
            </a:pPr>
            <a:r>
              <a:rPr lang="en-US" sz="4300" b="1" i="0" u="none" spc="100" baseline="0">
                <a:solidFill>
                  <a:srgbClr val="79C942"/>
                </a:solidFill>
                <a:latin typeface="思源黑体 Normal"/>
                <a:ea typeface="思源黑体 Normal"/>
              </a:rPr>
              <a:t>02</a:t>
            </a:r>
            <a:endParaRPr lang="en-US" sz="1100"/>
          </a:p>
        </p:txBody>
      </p:sp>
      <p:sp>
        <p:nvSpPr>
          <p:cNvPr id="8" name="TextBox 8"/>
          <p:cNvSpPr txBox="1"/>
          <p:nvPr/>
        </p:nvSpPr>
        <p:spPr>
          <a:xfrm>
            <a:off x="6912610" y="3007995"/>
            <a:ext cx="629920" cy="260985"/>
          </a:xfrm>
          <a:prstGeom prst="rect">
            <a:avLst/>
          </a:prstGeom>
          <a:noFill/>
          <a:ln>
            <a:solidFill>
              <a:srgbClr val="79C942"/>
            </a:solidFill>
          </a:ln>
        </p:spPr>
        <p:txBody>
          <a:bodyPr vert="horz" wrap="square" lIns="91440" tIns="45720" rIns="91440" bIns="45720" rtlCol="0" anchor="t">
            <a:noAutofit/>
          </a:bodyPr>
          <a:lstStyle/>
          <a:p>
            <a:pPr marL="0" indent="0" algn="dist" fontAlgn="auto">
              <a:lnSpc>
                <a:spcPct val="100000"/>
              </a:lnSpc>
              <a:defRPr/>
            </a:pPr>
            <a:r>
              <a:rPr lang="en-US" sz="1100" b="0" i="0" u="none" baseline="0">
                <a:solidFill>
                  <a:srgbClr val="79C942"/>
                </a:solidFill>
                <a:latin typeface="思源黑体 Normal"/>
                <a:ea typeface="思源黑体 Normal"/>
              </a:rPr>
              <a:t>PART</a:t>
            </a:r>
            <a:endParaRPr lang="en-US" sz="1100"/>
          </a:p>
        </p:txBody>
      </p:sp>
      <p:sp>
        <p:nvSpPr>
          <p:cNvPr id="9" name="TextBox 9"/>
          <p:cNvSpPr txBox="1"/>
          <p:nvPr/>
        </p:nvSpPr>
        <p:spPr>
          <a:xfrm>
            <a:off x="2450465" y="4055745"/>
            <a:ext cx="3252470" cy="977900"/>
          </a:xfrm>
          <a:prstGeom prst="rect">
            <a:avLst/>
          </a:prstGeom>
          <a:noFill/>
        </p:spPr>
        <p:txBody>
          <a:bodyPr vert="horz" wrap="square" lIns="91440" tIns="45720" rIns="91440" bIns="45720" rtlCol="0" anchor="t">
            <a:noAutofit/>
          </a:bodyPr>
          <a:lstStyle/>
          <a:p>
            <a:pPr marL="0" indent="0" algn="l" fontAlgn="auto">
              <a:lnSpc>
                <a:spcPct val="120000"/>
              </a:lnSpc>
              <a:spcBef>
                <a:spcPct val="0"/>
              </a:spcBef>
              <a:defRPr/>
            </a:pPr>
            <a:r>
              <a:rPr lang="en-US" sz="2400" b="0" i="0" u="none" baseline="0">
                <a:solidFill>
                  <a:srgbClr val="79C942"/>
                </a:solidFill>
                <a:latin typeface="思源黑体 Normal"/>
                <a:ea typeface="思源黑体 Normal"/>
              </a:rPr>
              <a:t>Process Redesign as a Critical Success Factor</a:t>
            </a:r>
            <a:endParaRPr lang="en-US" sz="1100"/>
          </a:p>
        </p:txBody>
      </p:sp>
      <p:sp>
        <p:nvSpPr>
          <p:cNvPr id="10" name="TextBox 10"/>
          <p:cNvSpPr txBox="1"/>
          <p:nvPr/>
        </p:nvSpPr>
        <p:spPr>
          <a:xfrm>
            <a:off x="1014617" y="4036695"/>
            <a:ext cx="1602000" cy="829945"/>
          </a:xfrm>
          <a:prstGeom prst="rect">
            <a:avLst/>
          </a:prstGeom>
          <a:noFill/>
        </p:spPr>
        <p:txBody>
          <a:bodyPr vert="horz" wrap="square" lIns="91440" tIns="45720" rIns="91440" bIns="45720" rtlCol="0" anchor="t">
            <a:normAutofit/>
          </a:bodyPr>
          <a:lstStyle/>
          <a:p>
            <a:pPr marL="0" algn="ctr">
              <a:defRPr/>
            </a:pPr>
            <a:r>
              <a:rPr lang="en-US" sz="4300" b="1" i="0" u="none" spc="100" baseline="0">
                <a:solidFill>
                  <a:srgbClr val="79C942"/>
                </a:solidFill>
                <a:latin typeface="思源黑体 Normal"/>
                <a:ea typeface="思源黑体 Normal"/>
              </a:rPr>
              <a:t>03</a:t>
            </a:r>
            <a:endParaRPr lang="en-US" sz="1100"/>
          </a:p>
        </p:txBody>
      </p:sp>
      <p:sp>
        <p:nvSpPr>
          <p:cNvPr id="11" name="TextBox 11"/>
          <p:cNvSpPr txBox="1"/>
          <p:nvPr/>
        </p:nvSpPr>
        <p:spPr>
          <a:xfrm>
            <a:off x="1500505" y="4735195"/>
            <a:ext cx="629920" cy="260985"/>
          </a:xfrm>
          <a:prstGeom prst="rect">
            <a:avLst/>
          </a:prstGeom>
          <a:noFill/>
          <a:ln>
            <a:solidFill>
              <a:srgbClr val="79C942"/>
            </a:solidFill>
          </a:ln>
        </p:spPr>
        <p:txBody>
          <a:bodyPr vert="horz" wrap="square" lIns="91440" tIns="45720" rIns="91440" bIns="45720" rtlCol="0" anchor="t">
            <a:noAutofit/>
          </a:bodyPr>
          <a:lstStyle/>
          <a:p>
            <a:pPr marL="0" indent="0" algn="dist" fontAlgn="auto">
              <a:lnSpc>
                <a:spcPct val="100000"/>
              </a:lnSpc>
              <a:defRPr/>
            </a:pPr>
            <a:r>
              <a:rPr lang="en-US" sz="1100" b="0" i="0" u="none" baseline="0">
                <a:solidFill>
                  <a:srgbClr val="79C942"/>
                </a:solidFill>
                <a:latin typeface="思源黑体 Normal"/>
                <a:ea typeface="思源黑体 Normal"/>
              </a:rPr>
              <a:t>PART</a:t>
            </a:r>
            <a:endParaRPr lang="en-US" sz="1100"/>
          </a:p>
        </p:txBody>
      </p:sp>
      <p:sp>
        <p:nvSpPr>
          <p:cNvPr id="12" name="TextBox 12"/>
          <p:cNvSpPr txBox="1"/>
          <p:nvPr/>
        </p:nvSpPr>
        <p:spPr>
          <a:xfrm>
            <a:off x="7862570" y="4055745"/>
            <a:ext cx="3252470" cy="977900"/>
          </a:xfrm>
          <a:prstGeom prst="rect">
            <a:avLst/>
          </a:prstGeom>
          <a:noFill/>
        </p:spPr>
        <p:txBody>
          <a:bodyPr vert="horz" wrap="square" lIns="91440" tIns="45720" rIns="91440" bIns="45720" rtlCol="0" anchor="t">
            <a:noAutofit/>
          </a:bodyPr>
          <a:lstStyle/>
          <a:p>
            <a:pPr marL="0" indent="0" algn="l" fontAlgn="auto">
              <a:lnSpc>
                <a:spcPct val="120000"/>
              </a:lnSpc>
              <a:spcBef>
                <a:spcPct val="0"/>
              </a:spcBef>
              <a:defRPr/>
            </a:pPr>
            <a:r>
              <a:rPr lang="en-US" sz="2400" b="0" i="0" u="none" baseline="0">
                <a:solidFill>
                  <a:srgbClr val="79C942"/>
                </a:solidFill>
                <a:latin typeface="思源黑体 Normal"/>
                <a:ea typeface="思源黑体 Normal"/>
              </a:rPr>
              <a:t>Broader Societal and Workforce Implications</a:t>
            </a:r>
            <a:endParaRPr lang="en-US" sz="1100"/>
          </a:p>
        </p:txBody>
      </p:sp>
      <p:sp>
        <p:nvSpPr>
          <p:cNvPr id="13" name="TextBox 13"/>
          <p:cNvSpPr txBox="1"/>
          <p:nvPr/>
        </p:nvSpPr>
        <p:spPr>
          <a:xfrm>
            <a:off x="6426722" y="4036695"/>
            <a:ext cx="1602000" cy="829945"/>
          </a:xfrm>
          <a:prstGeom prst="rect">
            <a:avLst/>
          </a:prstGeom>
          <a:noFill/>
        </p:spPr>
        <p:txBody>
          <a:bodyPr vert="horz" wrap="square" lIns="91440" tIns="45720" rIns="91440" bIns="45720" rtlCol="0" anchor="t">
            <a:normAutofit/>
          </a:bodyPr>
          <a:lstStyle/>
          <a:p>
            <a:pPr marL="0" algn="ctr">
              <a:defRPr/>
            </a:pPr>
            <a:r>
              <a:rPr lang="en-US" sz="4300" b="1" i="0" u="none" spc="100" baseline="0">
                <a:solidFill>
                  <a:srgbClr val="79C942"/>
                </a:solidFill>
                <a:latin typeface="思源黑体 Normal"/>
                <a:ea typeface="思源黑体 Normal"/>
              </a:rPr>
              <a:t>04</a:t>
            </a:r>
            <a:endParaRPr lang="en-US" sz="1100"/>
          </a:p>
        </p:txBody>
      </p:sp>
      <p:sp>
        <p:nvSpPr>
          <p:cNvPr id="14" name="TextBox 14"/>
          <p:cNvSpPr txBox="1"/>
          <p:nvPr/>
        </p:nvSpPr>
        <p:spPr>
          <a:xfrm>
            <a:off x="6912610" y="4735195"/>
            <a:ext cx="629920" cy="260985"/>
          </a:xfrm>
          <a:prstGeom prst="rect">
            <a:avLst/>
          </a:prstGeom>
          <a:noFill/>
          <a:ln>
            <a:solidFill>
              <a:srgbClr val="79C942"/>
            </a:solidFill>
          </a:ln>
        </p:spPr>
        <p:txBody>
          <a:bodyPr vert="horz" wrap="square" lIns="91440" tIns="45720" rIns="91440" bIns="45720" rtlCol="0" anchor="t">
            <a:noAutofit/>
          </a:bodyPr>
          <a:lstStyle/>
          <a:p>
            <a:pPr marL="0" indent="0" algn="dist" fontAlgn="auto">
              <a:lnSpc>
                <a:spcPct val="100000"/>
              </a:lnSpc>
              <a:defRPr/>
            </a:pPr>
            <a:r>
              <a:rPr lang="en-US" sz="1100" b="0" i="0" u="none" baseline="0">
                <a:solidFill>
                  <a:srgbClr val="79C942"/>
                </a:solidFill>
                <a:latin typeface="思源黑体 Normal"/>
                <a:ea typeface="思源黑体 Normal"/>
              </a:rPr>
              <a:t>PART</a:t>
            </a:r>
            <a:endParaRPr lang="en-US" sz="1100"/>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anim calcmode="lin" valueType="num">
                                      <p:cBhvr additive="base">
                                        <p:cTn id="6" dur="1000" fill="hold"/>
                                        <p:tgtEl>
                                          <p:spTgt spid="3"/>
                                        </p:tgtEl>
                                        <p:attrNameLst>
                                          <p:attrName>ppt_x</p:attrName>
                                        </p:attrNameLst>
                                      </p:cBhvr>
                                      <p:tavLst>
                                        <p:tav tm="0">
                                          <p:val>
                                            <p:strVal val="1+#ppt_w/2"/>
                                          </p:val>
                                        </p:tav>
                                        <p:tav tm="100000">
                                          <p:val>
                                            <p:strVal val="#ppt_x"/>
                                          </p:val>
                                        </p:tav>
                                      </p:tavLst>
                                    </p:anim>
                                    <p:anim calcmode="lin" valueType="num">
                                      <p:cBhvr additive="base">
                                        <p:cTn id="7" dur="1000" fill="hold"/>
                                        <p:tgtEl>
                                          <p:spTgt spid="3"/>
                                        </p:tgtEl>
                                        <p:attrNameLst>
                                          <p:attrName>ppt_y</p:attrName>
                                        </p:attrNameLst>
                                      </p:cBhvr>
                                      <p:tavLst>
                                        <p:tav tm="0">
                                          <p:val>
                                            <p:strVal val="1+#ppt_h/2"/>
                                          </p:val>
                                        </p:tav>
                                        <p:tav tm="100000">
                                          <p:val>
                                            <p:strVal val="#ppt_y"/>
                                          </p:val>
                                        </p:tav>
                                      </p:tavLst>
                                    </p:anim>
                                    <p:set>
                                      <p:cBhvr>
                                        <p:cTn id="8" dur="1000" fill="hold">
                                          <p:stCondLst>
                                            <p:cond delay="0"/>
                                          </p:stCondLst>
                                        </p:cTn>
                                        <p:tgtEl>
                                          <p:spTgt spid="3"/>
                                        </p:tgtEl>
                                        <p:attrNameLst>
                                          <p:attrName>style.visibility</p:attrName>
                                        </p:attrNameLst>
                                      </p:cBhvr>
                                      <p:to>
                                        <p:strVal val="visible"/>
                                      </p:to>
                                    </p:set>
                                  </p:childTnLst>
                                </p:cTn>
                              </p:par>
                            </p:childTnLst>
                          </p:cTn>
                        </p:par>
                        <p:par>
                          <p:cTn id="9" fill="hold">
                            <p:stCondLst>
                              <p:cond delay="0"/>
                            </p:stCondLst>
                            <p:childTnLst>
                              <p:par>
                                <p:cTn id="10" presetID="55" presetClass="entr" presetSubtype="0" fill="hold" nodeType="afterEffect">
                                  <p:stCondLst>
                                    <p:cond delay="0"/>
                                  </p:stCondLst>
                                  <p:childTnLs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7" presetClass="entr" presetSubtype="2" fill="hold" nodeType="afterEffect">
                                  <p:stCondLst>
                                    <p:cond delay="0"/>
                                  </p:stCondLst>
                                  <p:childTnLst>
                                    <p:anim calcmode="lin" valueType="num">
                                      <p:cBhvr additive="base">
                                        <p:cTn id="17" dur="2000" fill="hold"/>
                                        <p:tgtEl>
                                          <p:spTgt spid="9"/>
                                        </p:tgtEl>
                                        <p:attrNameLst>
                                          <p:attrName>ppt_x</p:attrName>
                                        </p:attrNameLst>
                                      </p:cBhvr>
                                      <p:tavLst>
                                        <p:tav tm="0">
                                          <p:val>
                                            <p:strVal val="1+#ppt_w/2"/>
                                          </p:val>
                                        </p:tav>
                                        <p:tav tm="100000">
                                          <p:val>
                                            <p:strVal val="#ppt_x"/>
                                          </p:val>
                                        </p:tav>
                                      </p:tavLst>
                                    </p:anim>
                                    <p:anim calcmode="lin" valueType="num">
                                      <p:cBhvr additive="base">
                                        <p:cTn id="18" dur="2000" fill="hold"/>
                                        <p:tgtEl>
                                          <p:spTgt spid="9"/>
                                        </p:tgtEl>
                                        <p:attrNameLst>
                                          <p:attrName>ppt_y</p:attrName>
                                        </p:attrNameLst>
                                      </p:cBhvr>
                                      <p:tavLst>
                                        <p:tav tm="0">
                                          <p:val>
                                            <p:strVal val="#ppt_y"/>
                                          </p:val>
                                        </p:tav>
                                        <p:tav tm="100000">
                                          <p:val>
                                            <p:strVal val="#ppt_y"/>
                                          </p:val>
                                        </p:tav>
                                      </p:tavLst>
                                    </p:anim>
                                    <p:set>
                                      <p:cBhvr>
                                        <p:cTn id="19" dur="2000"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24" presetClass="entr" presetSubtype="0" fill="hold" nodeType="afterEffect">
                                  <p:stCondLst>
                                    <p:cond delay="0"/>
                                  </p:stCondLst>
                                  <p:childTnLst>
                                    <p:anim to="" calcmode="lin" valueType="num">
                                      <p:cBhvr>
                                        <p:cTn id="22" dur="1" fill="hold"/>
                                        <p:tgtEl>
                                          <p:spTgt spid="12"/>
                                        </p:tgtEl>
                                      </p:cBhvr>
                                    </p:anim>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4510" y="2092325"/>
            <a:ext cx="4130040" cy="724535"/>
          </a:xfrm>
          <a:prstGeom prst="rect">
            <a:avLst/>
          </a:prstGeom>
          <a:noFill/>
          <a:ln>
            <a:noFill/>
          </a:ln>
        </p:spPr>
        <p:txBody>
          <a:bodyPr vert="horz" lIns="91440" tIns="45720" rIns="91440" bIns="45720" rtlCol="0" anchor="ctr">
            <a:noAutofit/>
          </a:bodyPr>
          <a:lstStyle/>
          <a:p>
            <a:pPr marL="0" marR="0" indent="0" algn="l" fontAlgn="auto">
              <a:lnSpc>
                <a:spcPct val="100000"/>
              </a:lnSpc>
              <a:spcBef>
                <a:spcPct val="0"/>
              </a:spcBef>
              <a:spcAft>
                <a:spcPct val="0"/>
              </a:spcAft>
              <a:buNone/>
              <a:defRPr/>
            </a:pPr>
            <a:r>
              <a:rPr lang="en-US" sz="4800" b="0" i="0" u="none" baseline="0">
                <a:ln/>
                <a:solidFill>
                  <a:srgbClr val="75BD42"/>
                </a:solidFill>
                <a:effectLst/>
                <a:latin typeface="思源黑体 Medium"/>
                <a:ea typeface="思源黑体 Medium"/>
              </a:rPr>
              <a:t>PART   01</a:t>
            </a:r>
            <a:endParaRPr lang="en-US" sz="1100"/>
          </a:p>
        </p:txBody>
      </p:sp>
      <p:sp>
        <p:nvSpPr>
          <p:cNvPr id="3" name="TextBox 3"/>
          <p:cNvSpPr txBox="1"/>
          <p:nvPr/>
        </p:nvSpPr>
        <p:spPr>
          <a:xfrm>
            <a:off x="524510" y="2466340"/>
            <a:ext cx="6510655" cy="2685415"/>
          </a:xfrm>
          <a:prstGeom prst="rect">
            <a:avLst/>
          </a:prstGeom>
          <a:noFill/>
          <a:ln>
            <a:noFill/>
          </a:ln>
        </p:spPr>
        <p:txBody>
          <a:bodyPr vert="horz" lIns="91440" tIns="45720" rIns="91440" bIns="45720" rtlCol="0" anchor="ctr">
            <a:noAutofit/>
          </a:bodyPr>
          <a:lstStyle/>
          <a:p>
            <a:pPr marL="0" indent="0" algn="l" fontAlgn="auto">
              <a:lnSpc>
                <a:spcPct val="110000"/>
              </a:lnSpc>
              <a:spcBef>
                <a:spcPct val="0"/>
              </a:spcBef>
              <a:buNone/>
              <a:defRPr/>
            </a:pPr>
            <a:r>
              <a:rPr lang="en-US" sz="4800" b="0" i="0" u="none" baseline="0">
                <a:solidFill>
                  <a:srgbClr val="75BD42"/>
                </a:solidFill>
                <a:latin typeface="思源黑体 Medium"/>
                <a:ea typeface="思源黑体 Medium"/>
              </a:rPr>
              <a:t>The Core Challenge: Data Fragmentation and Operational Redesign</a:t>
            </a:r>
            <a:endParaRPr lang="en-US" sz="1100"/>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fill="hold" nodeType="afterEffect">
                                  <p:stCondLst>
                                    <p:cond delay="0"/>
                                  </p:stCondLst>
                                  <p:childTnLst>
                                    <p:anim calcmode="lin" valueType="num">
                                      <p:cBhvr>
                                        <p:cTn id="6" dur="1000" fill="hold"/>
                                        <p:tgtEl>
                                          <p:spTgt spid="2"/>
                                        </p:tgtEl>
                                        <p:attrNameLst>
                                          <p:attrName>ppt_w</p:attrName>
                                        </p:attrNameLst>
                                      </p:cBhvr>
                                      <p:tavLst>
                                        <p:tav tm="0">
                                          <p:val>
                                            <p:strVal val="#ppt_w+.3"/>
                                          </p:val>
                                        </p:tav>
                                        <p:tav tm="100000">
                                          <p:val>
                                            <p:strVal val="#ppt_w"/>
                                          </p:val>
                                        </p:tav>
                                      </p:tavLst>
                                    </p:anim>
                                    <p:anim calcmode="lin" valueType="num">
                                      <p:cBhvr>
                                        <p:cTn id="7" dur="1000" fill="hold"/>
                                        <p:tgtEl>
                                          <p:spTgt spid="2"/>
                                        </p:tgtEl>
                                        <p:attrNameLst>
                                          <p:attrName>ppt_h</p:attrName>
                                        </p:attrNameLst>
                                      </p:cBhvr>
                                      <p:tavLst>
                                        <p:tav tm="0">
                                          <p:val>
                                            <p:strVal val="#ppt_h"/>
                                          </p:val>
                                        </p:tav>
                                        <p:tav tm="100000">
                                          <p:val>
                                            <p:strVal val="#ppt_h"/>
                                          </p:val>
                                        </p:tav>
                                      </p:tavLst>
                                    </p:anim>
                                    <p:animEffect transition="in" filter="fade">
                                      <p:cBhvr>
                                        <p:cTn id="8" dur="1000"/>
                                        <p:tgtEl>
                                          <p:spTgt spid="2"/>
                                        </p:tgtEl>
                                      </p:cBhvr>
                                    </p:animEffec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0"/>
                            </p:stCondLst>
                            <p:childTnLst>
                              <p:par>
                                <p:cTn id="11" presetID="7" presetClass="entr" presetSubtype="4" fill="hold" nodeType="afterEffect">
                                  <p:stCondLst>
                                    <p:cond delay="0"/>
                                  </p:stCondLst>
                                  <p:childTnLst>
                                    <p:anim calcmode="lin" valueType="num">
                                      <p:cBhvr additive="base">
                                        <p:cTn id="12" dur="2000" fill="hold"/>
                                        <p:tgtEl>
                                          <p:spTgt spid="3"/>
                                        </p:tgtEl>
                                        <p:attrNameLst>
                                          <p:attrName>ppt_x</p:attrName>
                                        </p:attrNameLst>
                                      </p:cBhvr>
                                      <p:tavLst>
                                        <p:tav tm="0">
                                          <p:val>
                                            <p:strVal val="#ppt_x"/>
                                          </p:val>
                                        </p:tav>
                                        <p:tav tm="100000">
                                          <p:val>
                                            <p:strVal val="#ppt_x"/>
                                          </p:val>
                                        </p:tav>
                                      </p:tavLst>
                                    </p:anim>
                                    <p:anim calcmode="lin" valueType="num">
                                      <p:cBhvr additive="base">
                                        <p:cTn id="13" dur="2000" fill="hold"/>
                                        <p:tgtEl>
                                          <p:spTgt spid="3"/>
                                        </p:tgtEl>
                                        <p:attrNameLst>
                                          <p:attrName>ppt_y</p:attrName>
                                        </p:attrNameLst>
                                      </p:cBhvr>
                                      <p:tavLst>
                                        <p:tav tm="0">
                                          <p:val>
                                            <p:strVal val="1+#ppt_h/2"/>
                                          </p:val>
                                        </p:tav>
                                        <p:tav tm="100000">
                                          <p:val>
                                            <p:strVal val="#ppt_y"/>
                                          </p:val>
                                        </p:tav>
                                      </p:tavLst>
                                    </p:anim>
                                    <p:set>
                                      <p:cBhvr>
                                        <p:cTn id="14" dur="2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12787" y="1479357"/>
            <a:ext cx="10804527" cy="2221736"/>
          </a:xfrm>
          <a:prstGeom prst="plaque">
            <a:avLst>
              <a:gd name="adj" fmla="val 9919"/>
            </a:avLst>
          </a:prstGeom>
          <a:solidFill>
            <a:srgbClr val="F7EFDF"/>
          </a:solidFill>
          <a:ln>
            <a:solidFill>
              <a:srgbClr val="79C942"/>
            </a:solidFill>
          </a:ln>
          <a:effectLst>
            <a:outerShdw blurRad="190500" dist="127000" dir="2700000" sx="95000" sy="95000" algn="tl" rotWithShape="0">
              <a:schemeClr val="accent1">
                <a:alpha val="10000"/>
              </a:schemeClr>
            </a:outerShdw>
          </a:effectLst>
        </p:spPr>
        <p:txBody>
          <a:bodyPr vert="horz" lIns="90170" tIns="46990" rIns="90170" bIns="46990" anchor="ctr">
            <a:normAutofit/>
          </a:bodyPr>
          <a:lstStyle/>
          <a:p>
            <a:pPr marL="0" algn="ctr"/>
            <a:endParaRPr/>
          </a:p>
        </p:txBody>
      </p:sp>
      <p:sp>
        <p:nvSpPr>
          <p:cNvPr id="3" name="AutoShape 3"/>
          <p:cNvSpPr/>
          <p:nvPr/>
        </p:nvSpPr>
        <p:spPr>
          <a:xfrm>
            <a:off x="807430" y="1599407"/>
            <a:ext cx="10614821" cy="1982147"/>
          </a:xfrm>
          <a:prstGeom prst="plaque">
            <a:avLst>
              <a:gd name="adj" fmla="val 9919"/>
            </a:avLst>
          </a:prstGeom>
          <a:noFill/>
          <a:ln>
            <a:solidFill>
              <a:srgbClr val="79C942">
                <a:alpha val="50000"/>
              </a:srgbClr>
            </a:solidFill>
          </a:ln>
          <a:effectLst/>
        </p:spPr>
        <p:txBody>
          <a:bodyPr vert="horz" lIns="90170" tIns="46990" rIns="90170" bIns="46990" anchor="ctr">
            <a:normAutofit/>
          </a:bodyPr>
          <a:lstStyle/>
          <a:p>
            <a:pPr marL="0" algn="ctr"/>
            <a:endParaRPr/>
          </a:p>
        </p:txBody>
      </p:sp>
      <p:cxnSp>
        <p:nvCxnSpPr>
          <p:cNvPr id="4" name="Connector 4"/>
          <p:cNvCxnSpPr/>
          <p:nvPr/>
        </p:nvCxnSpPr>
        <p:spPr>
          <a:xfrm>
            <a:off x="3514596" y="1977979"/>
            <a:ext cx="0" cy="1224360"/>
          </a:xfrm>
          <a:prstGeom prst="line">
            <a:avLst/>
          </a:prstGeom>
          <a:ln w="12700" cap="flat" cmpd="sng">
            <a:solidFill>
              <a:schemeClr val="accent1"/>
            </a:solidFill>
            <a:prstDash val="solid"/>
          </a:ln>
        </p:spPr>
      </p:cxnSp>
      <p:sp>
        <p:nvSpPr>
          <p:cNvPr id="5" name="AutoShape 5"/>
          <p:cNvSpPr/>
          <p:nvPr/>
        </p:nvSpPr>
        <p:spPr>
          <a:xfrm>
            <a:off x="712787" y="4041065"/>
            <a:ext cx="10804527" cy="2221736"/>
          </a:xfrm>
          <a:prstGeom prst="plaque">
            <a:avLst>
              <a:gd name="adj" fmla="val 9919"/>
            </a:avLst>
          </a:prstGeom>
          <a:solidFill>
            <a:srgbClr val="F7EFDF"/>
          </a:solidFill>
          <a:ln>
            <a:solidFill>
              <a:srgbClr val="79C942"/>
            </a:solidFill>
          </a:ln>
          <a:effectLst>
            <a:outerShdw blurRad="190500" dist="127000" dir="2700000" sx="95000" sy="95000" algn="tl" rotWithShape="0">
              <a:schemeClr val="accent1">
                <a:alpha val="10000"/>
              </a:schemeClr>
            </a:outerShdw>
          </a:effectLst>
        </p:spPr>
        <p:txBody>
          <a:bodyPr vert="horz" lIns="90170" tIns="46990" rIns="90170" bIns="46990" anchor="ctr">
            <a:normAutofit/>
          </a:bodyPr>
          <a:lstStyle/>
          <a:p>
            <a:pPr marL="0" algn="ctr"/>
            <a:endParaRPr/>
          </a:p>
        </p:txBody>
      </p:sp>
      <p:sp>
        <p:nvSpPr>
          <p:cNvPr id="6" name="AutoShape 6"/>
          <p:cNvSpPr/>
          <p:nvPr/>
        </p:nvSpPr>
        <p:spPr>
          <a:xfrm>
            <a:off x="807430" y="4160481"/>
            <a:ext cx="10614821" cy="1982147"/>
          </a:xfrm>
          <a:prstGeom prst="plaque">
            <a:avLst>
              <a:gd name="adj" fmla="val 9919"/>
            </a:avLst>
          </a:prstGeom>
          <a:noFill/>
          <a:ln>
            <a:solidFill>
              <a:srgbClr val="79C942">
                <a:alpha val="50000"/>
              </a:srgbClr>
            </a:solidFill>
          </a:ln>
          <a:effectLst/>
        </p:spPr>
        <p:txBody>
          <a:bodyPr vert="horz" lIns="90170" tIns="46990" rIns="90170" bIns="46990" anchor="ctr">
            <a:normAutofit/>
          </a:bodyPr>
          <a:lstStyle/>
          <a:p>
            <a:pPr marL="0" algn="ctr"/>
            <a:endParaRPr/>
          </a:p>
        </p:txBody>
      </p:sp>
      <p:cxnSp>
        <p:nvCxnSpPr>
          <p:cNvPr id="7" name="Connector 7"/>
          <p:cNvCxnSpPr/>
          <p:nvPr/>
        </p:nvCxnSpPr>
        <p:spPr>
          <a:xfrm>
            <a:off x="3514596" y="4539687"/>
            <a:ext cx="0" cy="1224360"/>
          </a:xfrm>
          <a:prstGeom prst="line">
            <a:avLst/>
          </a:prstGeom>
          <a:ln w="12700" cap="flat" cmpd="sng">
            <a:solidFill>
              <a:schemeClr val="accent1"/>
            </a:solidFill>
            <a:prstDash val="solid"/>
          </a:ln>
        </p:spPr>
      </p:cxnSp>
      <p:sp>
        <p:nvSpPr>
          <p:cNvPr id="8" name="TextBox 8"/>
          <p:cNvSpPr txBox="1"/>
          <p:nvPr/>
        </p:nvSpPr>
        <p:spPr>
          <a:xfrm>
            <a:off x="1047115" y="1820000"/>
            <a:ext cx="2160000" cy="1440000"/>
          </a:xfrm>
          <a:prstGeom prst="rect">
            <a:avLst/>
          </a:prstGeom>
        </p:spPr>
        <p:txBody>
          <a:bodyPr vert="horz" wrap="square" lIns="90170" tIns="46990" rIns="90170" bIns="46990" rtlCol="0" anchor="ctr">
            <a:normAutofit/>
          </a:bodyPr>
          <a:lstStyle/>
          <a:p>
            <a:pPr marL="0" indent="0" algn="ctr" fontAlgn="auto">
              <a:lnSpc>
                <a:spcPct val="110000"/>
              </a:lnSpc>
              <a:defRPr/>
            </a:pPr>
            <a:r>
              <a:rPr lang="en-US" sz="2000" b="1" i="0" u="none" baseline="0">
                <a:solidFill>
                  <a:srgbClr val="79C942"/>
                </a:solidFill>
                <a:latin typeface="思源黑体 Normal"/>
                <a:ea typeface="思源黑体 Normal"/>
              </a:rPr>
              <a:t>The Problem of Siloed Data</a:t>
            </a:r>
            <a:endParaRPr lang="en-US" sz="1100"/>
          </a:p>
        </p:txBody>
      </p:sp>
      <p:sp>
        <p:nvSpPr>
          <p:cNvPr id="9" name="TextBox 9"/>
          <p:cNvSpPr txBox="1"/>
          <p:nvPr/>
        </p:nvSpPr>
        <p:spPr>
          <a:xfrm>
            <a:off x="1047115" y="4415155"/>
            <a:ext cx="2160000" cy="1440000"/>
          </a:xfrm>
          <a:prstGeom prst="rect">
            <a:avLst/>
          </a:prstGeom>
        </p:spPr>
        <p:txBody>
          <a:bodyPr vert="horz" wrap="square" lIns="90170" tIns="46990" rIns="90170" bIns="46990" rtlCol="0" anchor="ctr">
            <a:normAutofit/>
          </a:bodyPr>
          <a:lstStyle/>
          <a:p>
            <a:pPr marL="0" indent="0" algn="ctr" fontAlgn="auto">
              <a:lnSpc>
                <a:spcPct val="110000"/>
              </a:lnSpc>
              <a:defRPr/>
            </a:pPr>
            <a:r>
              <a:rPr lang="en-US" sz="2000" b="1" i="0" u="none" baseline="0">
                <a:solidFill>
                  <a:srgbClr val="79C942"/>
                </a:solidFill>
                <a:latin typeface="思源黑体 Normal"/>
                <a:ea typeface="思源黑体 Normal"/>
              </a:rPr>
              <a:t>The Need for Full Operational Redesign</a:t>
            </a:r>
            <a:endParaRPr lang="en-US" sz="1100"/>
          </a:p>
        </p:txBody>
      </p:sp>
      <p:sp>
        <p:nvSpPr>
          <p:cNvPr id="10" name="AutoShape 10"/>
          <p:cNvSpPr/>
          <p:nvPr/>
        </p:nvSpPr>
        <p:spPr>
          <a:xfrm>
            <a:off x="3822065" y="1765935"/>
            <a:ext cx="7308215" cy="1548130"/>
          </a:xfrm>
          <a:prstGeom prst="rect">
            <a:avLst/>
          </a:prstGeom>
          <a:noFill/>
        </p:spPr>
        <p:txBody>
          <a:bodyPr vert="horz" wrap="square" lIns="90170" tIns="46990" rIns="90170" bIns="46990" anchor="ctr">
            <a:normAutofit/>
          </a:bodyPr>
          <a:lstStyle/>
          <a:p>
            <a:pPr marL="0" indent="0" algn="just" fontAlgn="auto">
              <a:lnSpc>
                <a:spcPct val="150000"/>
              </a:lnSpc>
            </a:pPr>
            <a:r>
              <a:rPr lang="en-US" sz="1500" b="0" i="0" u="none" baseline="0">
                <a:solidFill>
                  <a:srgbClr val="262626"/>
                </a:solidFill>
                <a:latin typeface="思源黑体 Normal"/>
                <a:ea typeface="思源黑体 Normal"/>
              </a:rPr>
              <a:t>AI cannot produce trusted, enterprise-level recommendations when sourcing, contracting, ERP, HR, and procure-to-pay data are isolated in separate systems. This fragmented, low-context data is the primary reason AI struggles to scale effectively in procurement operations.</a:t>
            </a:r>
          </a:p>
        </p:txBody>
      </p:sp>
      <p:sp>
        <p:nvSpPr>
          <p:cNvPr id="11" name="AutoShape 11"/>
          <p:cNvSpPr/>
          <p:nvPr/>
        </p:nvSpPr>
        <p:spPr>
          <a:xfrm>
            <a:off x="3822065" y="4361090"/>
            <a:ext cx="7308215" cy="1548130"/>
          </a:xfrm>
          <a:prstGeom prst="rect">
            <a:avLst/>
          </a:prstGeom>
          <a:noFill/>
        </p:spPr>
        <p:txBody>
          <a:bodyPr vert="horz" wrap="square" lIns="90170" tIns="46990" rIns="90170" bIns="46990" anchor="ctr">
            <a:normAutofit/>
          </a:bodyPr>
          <a:lstStyle/>
          <a:p>
            <a:pPr marL="0" indent="0" algn="just" fontAlgn="auto">
              <a:lnSpc>
                <a:spcPct val="150000"/>
              </a:lnSpc>
            </a:pPr>
            <a:r>
              <a:rPr lang="en-US" sz="1500" b="0" i="0" u="none" baseline="0">
                <a:solidFill>
                  <a:srgbClr val="262626"/>
                </a:solidFill>
                <a:latin typeface="思源黑体 Normal"/>
                <a:ea typeface="思源黑体 Normal"/>
              </a:rPr>
              <a:t>Successful AI adoption requires treating it as a complete operational redesign, not just layering it onto outdated workflows. Organizations must rebuild processes so intelligence is integrated from the start, rather than applying AI to legacy systems.</a:t>
            </a:r>
          </a:p>
        </p:txBody>
      </p:sp>
      <p:sp>
        <p:nvSpPr>
          <p:cNvPr id="12" name="TextBox 12"/>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79C942"/>
                </a:solidFill>
                <a:latin typeface="思源黑体 Normal"/>
                <a:ea typeface="思源黑体 Normal"/>
              </a:rPr>
              <a:t>Why AI Fails to Scale in Procurement</a:t>
            </a:r>
            <a:endParaRPr lang="en-US" sz="1100"/>
          </a:p>
        </p:txBody>
      </p:sp>
      <p:sp>
        <p:nvSpPr>
          <p:cNvPr id="13" name="Freeform 13"/>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79C942"/>
          </a:solidFill>
        </p:spPr>
        <p:txBody>
          <a:bodyPr/>
          <a:lstStyle/>
          <a:p>
            <a:endParaRPr lang="en-US"/>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fill="hold" nodeType="afterEffect">
                                  <p:stCondLst>
                                    <p:cond delay="0"/>
                                  </p:stCondLst>
                                  <p:childTnLst>
                                    <p:anim calcmode="lin" valueType="num">
                                      <p:cBhvr>
                                        <p:cTn id="6" dur="1000" fill="hold"/>
                                        <p:tgtEl>
                                          <p:spTgt spid="12"/>
                                        </p:tgtEl>
                                        <p:attrNameLst>
                                          <p:attrName>ppt_w</p:attrName>
                                        </p:attrNameLst>
                                      </p:cBhvr>
                                      <p:tavLst>
                                        <p:tav tm="0">
                                          <p:val>
                                            <p:strVal val="#ppt_w+.3"/>
                                          </p:val>
                                        </p:tav>
                                        <p:tav tm="100000">
                                          <p:val>
                                            <p:strVal val="#ppt_w"/>
                                          </p:val>
                                        </p:tav>
                                      </p:tavLst>
                                    </p:anim>
                                    <p:anim calcmode="lin" valueType="num">
                                      <p:cBhvr>
                                        <p:cTn id="7" dur="1000" fill="hold"/>
                                        <p:tgtEl>
                                          <p:spTgt spid="12"/>
                                        </p:tgtEl>
                                        <p:attrNameLst>
                                          <p:attrName>ppt_h</p:attrName>
                                        </p:attrNameLst>
                                      </p:cBhvr>
                                      <p:tavLst>
                                        <p:tav tm="0">
                                          <p:val>
                                            <p:strVal val="#ppt_h"/>
                                          </p:val>
                                        </p:tav>
                                        <p:tav tm="100000">
                                          <p:val>
                                            <p:strVal val="#ppt_h"/>
                                          </p:val>
                                        </p:tav>
                                      </p:tavLst>
                                    </p:anim>
                                    <p:animEffect transition="in" filter="fade">
                                      <p:cBhvr>
                                        <p:cTn id="8" dur="1000"/>
                                        <p:tgtEl>
                                          <p:spTgt spid="12"/>
                                        </p:tgtEl>
                                      </p:cBhvr>
                                    </p:animEffect>
                                    <p:set>
                                      <p:cBhvr>
                                        <p:cTn id="9" dur="1" fill="hold">
                                          <p:stCondLst>
                                            <p:cond delay="0"/>
                                          </p:stCondLst>
                                        </p:cTn>
                                        <p:tgtEl>
                                          <p:spTgt spid="12"/>
                                        </p:tgtEl>
                                        <p:attrNameLst>
                                          <p:attrName>style.visibility</p:attrName>
                                        </p:attrNameLst>
                                      </p:cBhvr>
                                      <p:to>
                                        <p:strVal val="visible"/>
                                      </p:to>
                                    </p:set>
                                  </p:childTnLst>
                                </p:cTn>
                              </p:par>
                            </p:childTnLst>
                          </p:cTn>
                        </p:par>
                        <p:par>
                          <p:cTn id="10" fill="hold">
                            <p:stCondLst>
                              <p:cond delay="0"/>
                            </p:stCondLst>
                            <p:childTnLst>
                              <p:par>
                                <p:cTn id="11" presetID="21" presetClass="entr" presetSubtype="1" fill="hold" nodeType="afterEffect">
                                  <p:stCondLst>
                                    <p:cond delay="0"/>
                                  </p:stCondLst>
                                  <p:childTnLst>
                                    <p:animEffect transition="in" filter="wheel(1)">
                                      <p:cBhvr>
                                        <p:cTn id="12" dur="1000"/>
                                        <p:tgtEl>
                                          <p:spTgt spid="8"/>
                                        </p:tgtEl>
                                      </p:cBhvr>
                                    </p:animEffect>
                                    <p:set>
                                      <p:cBhvr>
                                        <p:cTn id="13" dur="1000" fill="hold">
                                          <p:stCondLst>
                                            <p:cond delay="0"/>
                                          </p:stCondLst>
                                        </p:cTn>
                                        <p:tgtEl>
                                          <p:spTgt spid="8"/>
                                        </p:tgtEl>
                                        <p:attrNameLst>
                                          <p:attrName>style.visibility</p:attrName>
                                        </p:attrNameLst>
                                      </p:cBhvr>
                                      <p:to>
                                        <p:strVal val="visible"/>
                                      </p:to>
                                    </p:set>
                                  </p:childTnLst>
                                </p:cTn>
                              </p:par>
                            </p:childTnLst>
                          </p:cTn>
                        </p:par>
                        <p:par>
                          <p:cTn id="14" fill="hold">
                            <p:stCondLst>
                              <p:cond delay="0"/>
                            </p:stCondLst>
                            <p:childTnLst>
                              <p:par>
                                <p:cTn id="15" presetID="8" presetClass="entr" presetSubtype="32" fill="hold" nodeType="afterEffect">
                                  <p:stCondLst>
                                    <p:cond delay="0"/>
                                  </p:stCondLst>
                                  <p:childTnLst>
                                    <p:animEffect transition="in" filter="diamond(out)">
                                      <p:cBhvr>
                                        <p:cTn id="16" dur="1000"/>
                                        <p:tgtEl>
                                          <p:spTgt spid="10"/>
                                        </p:tgtEl>
                                      </p:cBhvr>
                                    </p:animEffect>
                                    <p:set>
                                      <p:cBhvr>
                                        <p:cTn id="17" dur="1000" fill="hold">
                                          <p:stCondLst>
                                            <p:cond delay="0"/>
                                          </p:stCondLst>
                                        </p:cTn>
                                        <p:tgtEl>
                                          <p:spTgt spid="10"/>
                                        </p:tgtEl>
                                        <p:attrNameLst>
                                          <p:attrName>style.visibility</p:attrName>
                                        </p:attrNameLst>
                                      </p:cBhvr>
                                      <p:to>
                                        <p:strVal val="visible"/>
                                      </p:to>
                                    </p:set>
                                  </p:childTnLst>
                                </p:cTn>
                              </p:par>
                            </p:childTnLst>
                          </p:cTn>
                        </p:par>
                        <p:par>
                          <p:cTn id="18" fill="hold">
                            <p:stCondLst>
                              <p:cond delay="0"/>
                            </p:stCondLst>
                            <p:childTnLst>
                              <p:par>
                                <p:cTn id="19" presetID="10" presetClass="entr" presetSubtype="0" fill="hold" nodeType="afterEffect">
                                  <p:stCondLst>
                                    <p:cond delay="0"/>
                                  </p:stCondLst>
                                  <p:childTnLst>
                                    <p:animEffect transition="in" filter="fade">
                                      <p:cBhvr>
                                        <p:cTn id="20" dur="1000"/>
                                        <p:tgtEl>
                                          <p:spTgt spid="9"/>
                                        </p:tgtEl>
                                      </p:cBhvr>
                                    </p:animEffect>
                                    <p:set>
                                      <p:cBhvr>
                                        <p:cTn id="21" dur="1000" fill="hold">
                                          <p:stCondLst>
                                            <p:cond delay="0"/>
                                          </p:stCondLst>
                                        </p:cTn>
                                        <p:tgtEl>
                                          <p:spTgt spid="9"/>
                                        </p:tgtEl>
                                        <p:attrNameLst>
                                          <p:attrName>style.visibility</p:attrName>
                                        </p:attrNameLst>
                                      </p:cBhvr>
                                      <p:to>
                                        <p:strVal val="visible"/>
                                      </p:to>
                                    </p:set>
                                  </p:childTnLst>
                                </p:cTn>
                              </p:par>
                            </p:childTnLst>
                          </p:cTn>
                        </p:par>
                        <p:par>
                          <p:cTn id="22" fill="hold">
                            <p:stCondLst>
                              <p:cond delay="0"/>
                            </p:stCondLst>
                            <p:childTnLst>
                              <p:par>
                                <p:cTn id="23" presetID="6" presetClass="entr" presetSubtype="32" fill="hold" nodeType="afterEffect">
                                  <p:stCondLst>
                                    <p:cond delay="0"/>
                                  </p:stCondLst>
                                  <p:childTnLst>
                                    <p:animEffect transition="in" filter="circle(out)">
                                      <p:cBhvr>
                                        <p:cTn id="24" dur="1000"/>
                                        <p:tgtEl>
                                          <p:spTgt spid="11"/>
                                        </p:tgtEl>
                                      </p:cBhvr>
                                    </p:animEffect>
                                    <p:set>
                                      <p:cBhvr>
                                        <p:cTn id="25" dur="1000"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4510" y="2092325"/>
            <a:ext cx="4130040" cy="724535"/>
          </a:xfrm>
          <a:prstGeom prst="rect">
            <a:avLst/>
          </a:prstGeom>
          <a:noFill/>
          <a:ln>
            <a:noFill/>
          </a:ln>
        </p:spPr>
        <p:txBody>
          <a:bodyPr vert="horz" lIns="91440" tIns="45720" rIns="91440" bIns="45720" rtlCol="0" anchor="ctr">
            <a:noAutofit/>
          </a:bodyPr>
          <a:lstStyle/>
          <a:p>
            <a:pPr marL="0" marR="0" indent="0" algn="l" fontAlgn="auto">
              <a:lnSpc>
                <a:spcPct val="100000"/>
              </a:lnSpc>
              <a:spcBef>
                <a:spcPct val="0"/>
              </a:spcBef>
              <a:spcAft>
                <a:spcPct val="0"/>
              </a:spcAft>
              <a:buNone/>
              <a:defRPr/>
            </a:pPr>
            <a:r>
              <a:rPr lang="en-US" sz="4800" b="0" i="0" u="none" baseline="0">
                <a:ln/>
                <a:solidFill>
                  <a:srgbClr val="75BD42"/>
                </a:solidFill>
                <a:effectLst/>
                <a:latin typeface="思源黑体 Medium"/>
                <a:ea typeface="思源黑体 Medium"/>
              </a:rPr>
              <a:t>PART   02</a:t>
            </a:r>
            <a:endParaRPr lang="en-US" sz="1100"/>
          </a:p>
        </p:txBody>
      </p:sp>
      <p:sp>
        <p:nvSpPr>
          <p:cNvPr id="3" name="TextBox 3"/>
          <p:cNvSpPr txBox="1"/>
          <p:nvPr/>
        </p:nvSpPr>
        <p:spPr>
          <a:xfrm>
            <a:off x="524510" y="2466340"/>
            <a:ext cx="6510655" cy="2685415"/>
          </a:xfrm>
          <a:prstGeom prst="rect">
            <a:avLst/>
          </a:prstGeom>
          <a:noFill/>
          <a:ln>
            <a:noFill/>
          </a:ln>
        </p:spPr>
        <p:txBody>
          <a:bodyPr vert="horz" lIns="91440" tIns="45720" rIns="91440" bIns="45720" rtlCol="0" anchor="ctr">
            <a:noAutofit/>
          </a:bodyPr>
          <a:lstStyle/>
          <a:p>
            <a:pPr marL="0" indent="0" algn="l" fontAlgn="auto">
              <a:lnSpc>
                <a:spcPct val="110000"/>
              </a:lnSpc>
              <a:spcBef>
                <a:spcPct val="0"/>
              </a:spcBef>
              <a:buNone/>
              <a:defRPr/>
            </a:pPr>
            <a:r>
              <a:rPr lang="en-US" sz="4800" b="0" i="0" u="none" baseline="0">
                <a:solidFill>
                  <a:srgbClr val="75BD42"/>
                </a:solidFill>
                <a:latin typeface="思源黑体 Medium"/>
                <a:ea typeface="思源黑体 Medium"/>
              </a:rPr>
              <a:t>The Evolving Role of Procurement Professionals</a:t>
            </a:r>
            <a:endParaRPr lang="en-US" sz="11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animEffect transition="in" filter="plus(in)">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45" presetClass="entr" presetSubtype="0" fill="hold" nodeType="afterEffect">
                                  <p:stCondLst>
                                    <p:cond delay="0"/>
                                  </p:stCondLst>
                                  <p:childTnLst>
                                    <p:anim calcmode="lin" valueType="num">
                                      <p:cBhvr>
                                        <p:cTn id="10" dur="1000" fill="hold"/>
                                        <p:tgtEl>
                                          <p:spTgt spid="3"/>
                                        </p:tgtEl>
                                        <p:attrNameLst>
                                          <p:attrName>ppt_w</p:attrName>
                                        </p:attrNameLst>
                                      </p:cBhvr>
                                      <p:tavLst>
                                        <p:tav tm="0" fmla="#ppt_w*sin(2.5*pi*$)">
                                          <p:val>
                                            <p:fltVal val="0"/>
                                          </p:val>
                                        </p:tav>
                                        <p:tav tm="100000">
                                          <p:val>
                                            <p:fltVal val="1"/>
                                          </p:val>
                                        </p:tav>
                                      </p:tavLst>
                                    </p:anim>
                                    <p:anim calcmode="lin" valueType="num">
                                      <p:cBhvr>
                                        <p:cTn id="11" dur="1000" fill="hold"/>
                                        <p:tgtEl>
                                          <p:spTgt spid="3"/>
                                        </p:tgtEl>
                                        <p:attrNameLst>
                                          <p:attrName>ppt_h</p:attrName>
                                        </p:attrNameLst>
                                      </p:cBhvr>
                                      <p:tavLst>
                                        <p:tav tm="0">
                                          <p:val>
                                            <p:strVal val="#ppt_h"/>
                                          </p:val>
                                        </p:tav>
                                        <p:tav tm="100000">
                                          <p:val>
                                            <p:strVal val="#ppt_h"/>
                                          </p:val>
                                        </p:tav>
                                      </p:tavLst>
                                    </p:anim>
                                    <p:animEffect transition="in" filter="fade">
                                      <p:cBhvr>
                                        <p:cTn id="12" dur="1000"/>
                                        <p:tgtEl>
                                          <p:spTgt spid="3"/>
                                        </p:tgtEl>
                                      </p:cBhvr>
                                    </p:animEffect>
                                    <p:set>
                                      <p:cBhvr>
                                        <p:cTn id="13"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2" name="image83.jpeg"/>
          <p:cNvPicPr>
            <a:picLocks noChangeAspect="1"/>
          </p:cNvPicPr>
          <p:nvPr/>
        </p:nvPicPr>
        <p:blipFill>
          <a:blip r:embed="rId3"/>
          <a:srcRect l="21930" r="21930"/>
          <a:stretch>
            <a:fillRect/>
          </a:stretch>
        </p:blipFill>
        <p:spPr>
          <a:xfrm>
            <a:off x="6700520" y="0"/>
            <a:ext cx="5491480" cy="5495925"/>
          </a:xfrm>
          <a:custGeom>
            <a:avLst/>
            <a:gdLst/>
            <a:ahLst/>
            <a:cxnLst/>
            <a:rect l="0" t="0" r="0" b="0"/>
            <a:pathLst>
              <a:path w="6036950" h="6040857">
                <a:moveTo>
                  <a:pt x="2276483" y="0"/>
                </a:moveTo>
                <a:lnTo>
                  <a:pt x="6036950" y="0"/>
                </a:lnTo>
                <a:lnTo>
                  <a:pt x="6036950" y="2936006"/>
                </a:lnTo>
                <a:lnTo>
                  <a:pt x="4238679" y="5156686"/>
                </a:lnTo>
                <a:cubicBezTo>
                  <a:pt x="3409718" y="6180367"/>
                  <a:pt x="1907854" y="6338220"/>
                  <a:pt x="884172" y="5509259"/>
                </a:cubicBezTo>
                <a:cubicBezTo>
                  <a:pt x="-139509" y="4680298"/>
                  <a:pt x="-297361" y="3178434"/>
                  <a:pt x="531600" y="2154752"/>
                </a:cubicBezTo>
                <a:close/>
              </a:path>
            </a:pathLst>
          </a:custGeom>
          <a:ln w="9525" cap="flat" cmpd="sng">
            <a:solidFill>
              <a:schemeClr val="tx1">
                <a:alpha val="50000"/>
                <a:lumMod val="40000"/>
                <a:lumOff val="60000"/>
              </a:schemeClr>
            </a:solidFill>
            <a:prstDash val="solid"/>
          </a:ln>
          <a:effectLst>
            <a:outerShdw dist="254000" dir="4200000" algn="ctr" rotWithShape="0">
              <a:schemeClr val="accent1">
                <a:alpha val="15000"/>
              </a:schemeClr>
            </a:outerShdw>
          </a:effectLst>
        </p:spPr>
      </p:pic>
      <p:sp>
        <p:nvSpPr>
          <p:cNvPr id="3" name="TextBox 3"/>
          <p:cNvSpPr txBox="1"/>
          <p:nvPr/>
        </p:nvSpPr>
        <p:spPr>
          <a:xfrm>
            <a:off x="685165" y="1831975"/>
            <a:ext cx="5594985" cy="198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a:solidFill>
                  <a:srgbClr val="262626"/>
                </a:solidFill>
                <a:latin typeface="思源黑体 Normal"/>
                <a:ea typeface="思源黑体 Normal"/>
              </a:rPr>
              <a:t>AI will not replace procurement professionals but will change their responsibilities. Teams will spend less time on repetitive tasks and more on validating AI outputs, managing exceptions, applying judgment, and overseeing risk.</a:t>
            </a:r>
            <a:endParaRPr lang="en-US" sz="1100"/>
          </a:p>
        </p:txBody>
      </p:sp>
      <p:sp>
        <p:nvSpPr>
          <p:cNvPr id="4" name="TextBox 4"/>
          <p:cNvSpPr txBox="1"/>
          <p:nvPr/>
        </p:nvSpPr>
        <p:spPr>
          <a:xfrm>
            <a:off x="685165" y="1292225"/>
            <a:ext cx="5594985" cy="5397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a:solidFill>
                  <a:srgbClr val="79C942"/>
                </a:solidFill>
                <a:latin typeface="思源黑体 Normal"/>
                <a:ea typeface="思源黑体 Normal"/>
              </a:rPr>
              <a:t>Shifting from Execution to Oversight</a:t>
            </a:r>
            <a:endParaRPr lang="en-US" sz="1100"/>
          </a:p>
        </p:txBody>
      </p:sp>
      <p:sp>
        <p:nvSpPr>
          <p:cNvPr id="5" name="TextBox 5"/>
          <p:cNvSpPr txBox="1"/>
          <p:nvPr/>
        </p:nvSpPr>
        <p:spPr>
          <a:xfrm>
            <a:off x="685165" y="4518660"/>
            <a:ext cx="5594985" cy="198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a:solidFill>
                  <a:srgbClr val="262626"/>
                </a:solidFill>
                <a:latin typeface="思源黑体 Normal"/>
                <a:ea typeface="思源黑体 Normal"/>
              </a:rPr>
              <a:t>Procurement teams will need stronger AI literacy, data fluency, and comfort working alongside intelligent systems. This shift demands a focus on higher-value activities like strategic decision-making and risk management.</a:t>
            </a:r>
            <a:endParaRPr lang="en-US" sz="1100"/>
          </a:p>
        </p:txBody>
      </p:sp>
      <p:sp>
        <p:nvSpPr>
          <p:cNvPr id="6" name="TextBox 6"/>
          <p:cNvSpPr txBox="1"/>
          <p:nvPr/>
        </p:nvSpPr>
        <p:spPr>
          <a:xfrm>
            <a:off x="685165" y="3978910"/>
            <a:ext cx="5594985" cy="5397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a:solidFill>
                  <a:srgbClr val="79C942"/>
                </a:solidFill>
                <a:latin typeface="思源黑体 Normal"/>
                <a:ea typeface="思源黑体 Normal"/>
              </a:rPr>
              <a:t>New Skills for the AI Era</a:t>
            </a:r>
            <a:endParaRPr lang="en-US" sz="1100"/>
          </a:p>
        </p:txBody>
      </p:sp>
      <p:sp>
        <p:nvSpPr>
          <p:cNvPr id="7" name="Freeform 7"/>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79C942"/>
          </a:solidFill>
        </p:spPr>
        <p:txBody>
          <a:bodyPr/>
          <a:lstStyle/>
          <a:p>
            <a:endParaRPr lang="en-US"/>
          </a:p>
        </p:txBody>
      </p:sp>
      <p:sp>
        <p:nvSpPr>
          <p:cNvPr id="8" name="TextBox 8"/>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79C942"/>
                </a:solidFill>
                <a:latin typeface="思源黑体 Normal"/>
                <a:ea typeface="思源黑体 Normal"/>
              </a:rPr>
              <a:t>AI as a Collaborator, Not a Replacement</a:t>
            </a:r>
            <a:endParaRPr lang="en-US" sz="11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anim calcmode="lin" valueType="num">
                                      <p:cBhvr additive="base">
                                        <p:cTn id="6" dur="500"/>
                                        <p:tgtEl>
                                          <p:spTgt spid="8"/>
                                        </p:tgtEl>
                                        <p:attrNameLst>
                                          <p:attrName>ppt_y</p:attrName>
                                        </p:attrNameLst>
                                      </p:cBhvr>
                                      <p:tavLst>
                                        <p:tav tm="0">
                                          <p:val>
                                            <p:strVal val="#ppt_y+#ppt_h*1.125000"/>
                                          </p:val>
                                        </p:tav>
                                        <p:tav tm="100000">
                                          <p:val>
                                            <p:strVal val="#ppt_y"/>
                                          </p:val>
                                        </p:tav>
                                      </p:tavLst>
                                    </p:anim>
                                    <p:animEffect transition="in" filter="wipe(up)">
                                      <p:cBhvr>
                                        <p:cTn id="7" dur="500"/>
                                        <p:tgtEl>
                                          <p:spTgt spid="8"/>
                                        </p:tgtEl>
                                      </p:cBhvr>
                                    </p:animEffect>
                                    <p:set>
                                      <p:cBhvr>
                                        <p:cTn id="8" dur="500"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23" presetClass="entr" presetSubtype="288" fill="hold" nodeType="afterEffect">
                                  <p:stCondLst>
                                    <p:cond delay="0"/>
                                  </p:stCondLst>
                                  <p:childTnLst>
                                    <p:anim calcmode="lin" valueType="num">
                                      <p:cBhvr>
                                        <p:cTn id="11" dur="500" fill="hold"/>
                                        <p:tgtEl>
                                          <p:spTgt spid="4"/>
                                        </p:tgtEl>
                                        <p:attrNameLst>
                                          <p:attrName>ppt_w</p:attrName>
                                        </p:attrNameLst>
                                      </p:cBhvr>
                                      <p:tavLst>
                                        <p:tav tm="0">
                                          <p:val>
                                            <p:strVal val="4/3*#ppt_w"/>
                                          </p:val>
                                        </p:tav>
                                        <p:tav tm="100000">
                                          <p:val>
                                            <p:strVal val="#ppt_w"/>
                                          </p:val>
                                        </p:tav>
                                      </p:tavLst>
                                    </p:anim>
                                    <p:anim calcmode="lin" valueType="num">
                                      <p:cBhvr>
                                        <p:cTn id="12" dur="500" fill="hold"/>
                                        <p:tgtEl>
                                          <p:spTgt spid="4"/>
                                        </p:tgtEl>
                                        <p:attrNameLst>
                                          <p:attrName>ppt_h</p:attrName>
                                        </p:attrNameLst>
                                      </p:cBhvr>
                                      <p:tavLst>
                                        <p:tav tm="0">
                                          <p:val>
                                            <p:strVal val="4/3*#ppt_h"/>
                                          </p:val>
                                        </p:tav>
                                        <p:tav tm="100000">
                                          <p:val>
                                            <p:strVal val="#ppt_h"/>
                                          </p:val>
                                        </p:tav>
                                      </p:tavLst>
                                    </p:anim>
                                    <p:set>
                                      <p:cBhvr>
                                        <p:cTn id="13" dur="500" fill="hold">
                                          <p:stCondLst>
                                            <p:cond delay="0"/>
                                          </p:stCondLst>
                                        </p:cTn>
                                        <p:tgtEl>
                                          <p:spTgt spid="4"/>
                                        </p:tgtEl>
                                        <p:attrNameLst>
                                          <p:attrName>style.visibility</p:attrName>
                                        </p:attrNameLst>
                                      </p:cBhvr>
                                      <p:to>
                                        <p:strVal val="visible"/>
                                      </p:to>
                                    </p:set>
                                  </p:childTnLst>
                                </p:cTn>
                              </p:par>
                            </p:childTnLst>
                          </p:cTn>
                        </p:par>
                        <p:par>
                          <p:cTn id="14" fill="hold">
                            <p:stCondLst>
                              <p:cond delay="0"/>
                            </p:stCondLst>
                            <p:childTnLst>
                              <p:par>
                                <p:cTn id="15" presetID="25" presetClass="entr" presetSubtype="0" fill="hold" nodeType="afterEffect">
                                  <p:stCondLst>
                                    <p:cond delay="0"/>
                                  </p:stCondLst>
                                  <p:childTnLst>
                                    <p:anim calcmode="lin" valueType="num">
                                      <p:cBhvr>
                                        <p:cTn id="16" dur="10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7" dur="10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18" dur="10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 calcmode="lin" valueType="num">
                                      <p:cBhvr>
                                        <p:cTn id="20" dur="10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1" dur="10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2" dur="10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3" dur="1000" decel="50000">
                                          <p:stCondLst>
                                            <p:cond delay="0"/>
                                          </p:stCondLst>
                                        </p:cTn>
                                        <p:tgtEl>
                                          <p:spTgt spid="3"/>
                                        </p:tgtEl>
                                      </p:cBhvr>
                                    </p:animEffect>
                                    <p:set>
                                      <p:cBhvr>
                                        <p:cTn id="24" dur="1" fill="hold">
                                          <p:stCondLst>
                                            <p:cond delay="0"/>
                                          </p:stCondLst>
                                        </p:cTn>
                                        <p:tgtEl>
                                          <p:spTgt spid="3"/>
                                        </p:tgtEl>
                                        <p:attrNameLst>
                                          <p:attrName>style.visibility</p:attrName>
                                        </p:attrNameLst>
                                      </p:cBhvr>
                                      <p:to>
                                        <p:strVal val="visible"/>
                                      </p:to>
                                    </p:set>
                                  </p:childTnLst>
                                </p:cTn>
                              </p:par>
                            </p:childTnLst>
                          </p:cTn>
                        </p:par>
                        <p:par>
                          <p:cTn id="25" fill="hold">
                            <p:stCondLst>
                              <p:cond delay="0"/>
                            </p:stCondLst>
                            <p:childTnLst>
                              <p:par>
                                <p:cTn id="26" presetID="48" presetClass="entr" presetSubtype="0" fill="hold" nodeType="afterEffect">
                                  <p:stCondLst>
                                    <p:cond delay="0"/>
                                  </p:stCondLst>
                                  <p:childTnLst>
                                    <p:anim calcmode="lin" valueType="num">
                                      <p:cBhvr>
                                        <p:cTn id="2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29" dur="1000" fill="hold"/>
                                        <p:tgtEl>
                                          <p:spTgt spid="2"/>
                                        </p:tgtEl>
                                        <p:attrNameLst>
                                          <p:attrName>ppt_y</p:attrName>
                                        </p:attrNameLst>
                                      </p:cBhvr>
                                      <p:tavLst>
                                        <p:tav tm="0">
                                          <p:val>
                                            <p:strVal val="#ppt_y"/>
                                          </p:val>
                                        </p:tav>
                                        <p:tav tm="100000">
                                          <p:val>
                                            <p:strVal val="#ppt_y"/>
                                          </p:val>
                                        </p:tav>
                                      </p:tavLst>
                                    </p:anim>
                                    <p:animEffect transition="in" filter="fade">
                                      <p:cBhvr>
                                        <p:cTn id="30" dur="1000"/>
                                        <p:tgtEl>
                                          <p:spTgt spid="2"/>
                                        </p:tgtEl>
                                      </p:cBhvr>
                                    </p:animEffect>
                                    <p:set>
                                      <p:cBhvr>
                                        <p:cTn id="31" dur="1" fill="hold">
                                          <p:stCondLst>
                                            <p:cond delay="0"/>
                                          </p:stCondLst>
                                        </p:cTn>
                                        <p:tgtEl>
                                          <p:spTgt spid="2"/>
                                        </p:tgtEl>
                                        <p:attrNameLst>
                                          <p:attrName>style.visibility</p:attrName>
                                        </p:attrNameLst>
                                      </p:cBhvr>
                                      <p:to>
                                        <p:strVal val="visible"/>
                                      </p:to>
                                    </p:set>
                                  </p:childTnLst>
                                </p:cTn>
                              </p:par>
                            </p:childTnLst>
                          </p:cTn>
                        </p:par>
                        <p:par>
                          <p:cTn id="32" fill="hold">
                            <p:stCondLst>
                              <p:cond delay="0"/>
                            </p:stCondLst>
                            <p:childTnLst>
                              <p:par>
                                <p:cTn id="33" presetID="19" presetClass="entr" presetSubtype="5" fill="hold" nodeType="afterEffect">
                                  <p:stCondLst>
                                    <p:cond delay="0"/>
                                  </p:stCondLst>
                                  <p:childTnLst>
                                    <p:anim calcmode="lin" valueType="num">
                                      <p:cBhvr>
                                        <p:cTn id="34" dur="2000" fill="hold"/>
                                        <p:tgtEl>
                                          <p:spTgt spid="6"/>
                                        </p:tgtEl>
                                        <p:attrNameLst>
                                          <p:attrName>ppt_w</p:attrName>
                                        </p:attrNameLst>
                                      </p:cBhvr>
                                      <p:tavLst>
                                        <p:tav tm="0">
                                          <p:val>
                                            <p:strVal val="#ppt_w"/>
                                          </p:val>
                                        </p:tav>
                                        <p:tav tm="100000">
                                          <p:val>
                                            <p:strVal val="#ppt_w"/>
                                          </p:val>
                                        </p:tav>
                                      </p:tavLst>
                                    </p:anim>
                                    <p:anim calcmode="lin" valueType="num">
                                      <p:cBhvr>
                                        <p:cTn id="35" dur="2000" fill="hold"/>
                                        <p:tgtEl>
                                          <p:spTgt spid="6"/>
                                        </p:tgtEl>
                                        <p:attrNameLst>
                                          <p:attrName>ppt_h</p:attrName>
                                        </p:attrNameLst>
                                      </p:cBhvr>
                                      <p:tavLst>
                                        <p:tav tm="0" fmla="#ppt_h*sin(2.5*pi*$)">
                                          <p:val>
                                            <p:fltVal val="0"/>
                                          </p:val>
                                        </p:tav>
                                        <p:tav tm="100000">
                                          <p:val>
                                            <p:fltVal val="1"/>
                                          </p:val>
                                        </p:tav>
                                      </p:tavLst>
                                    </p:anim>
                                    <p:set>
                                      <p:cBhvr>
                                        <p:cTn id="36" dur="2000" fill="hold">
                                          <p:stCondLst>
                                            <p:cond delay="0"/>
                                          </p:stCondLst>
                                        </p:cTn>
                                        <p:tgtEl>
                                          <p:spTgt spid="6"/>
                                        </p:tgtEl>
                                        <p:attrNameLst>
                                          <p:attrName>style.visibility</p:attrName>
                                        </p:attrNameLst>
                                      </p:cBhvr>
                                      <p:to>
                                        <p:strVal val="visible"/>
                                      </p:to>
                                    </p:set>
                                  </p:childTnLst>
                                </p:cTn>
                              </p:par>
                            </p:childTnLst>
                          </p:cTn>
                        </p:par>
                        <p:par>
                          <p:cTn id="37" fill="hold">
                            <p:stCondLst>
                              <p:cond delay="0"/>
                            </p:stCondLst>
                            <p:childTnLst>
                              <p:par>
                                <p:cTn id="38" presetID="16" presetClass="entr" presetSubtype="21" fill="hold" nodeType="afterEffect">
                                  <p:stCondLst>
                                    <p:cond delay="0"/>
                                  </p:stCondLst>
                                  <p:childTnLst>
                                    <p:animEffect transition="in" filter="barn(inVertical)">
                                      <p:cBhvr>
                                        <p:cTn id="39" dur="500"/>
                                        <p:tgtEl>
                                          <p:spTgt spid="5"/>
                                        </p:tgtEl>
                                      </p:cBhvr>
                                    </p:animEffect>
                                    <p:set>
                                      <p:cBhvr>
                                        <p:cTn id="40" dur="500"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4510" y="2092325"/>
            <a:ext cx="4130040" cy="724535"/>
          </a:xfrm>
          <a:prstGeom prst="rect">
            <a:avLst/>
          </a:prstGeom>
          <a:noFill/>
          <a:ln>
            <a:noFill/>
          </a:ln>
        </p:spPr>
        <p:txBody>
          <a:bodyPr vert="horz" lIns="91440" tIns="45720" rIns="91440" bIns="45720" rtlCol="0" anchor="ctr">
            <a:noAutofit/>
          </a:bodyPr>
          <a:lstStyle/>
          <a:p>
            <a:pPr marL="0" marR="0" indent="0" algn="l" fontAlgn="auto">
              <a:lnSpc>
                <a:spcPct val="100000"/>
              </a:lnSpc>
              <a:spcBef>
                <a:spcPct val="0"/>
              </a:spcBef>
              <a:spcAft>
                <a:spcPct val="0"/>
              </a:spcAft>
              <a:buNone/>
              <a:defRPr/>
            </a:pPr>
            <a:r>
              <a:rPr lang="en-US" sz="4800" b="0" i="0" u="none" baseline="0">
                <a:ln/>
                <a:solidFill>
                  <a:srgbClr val="75BD42"/>
                </a:solidFill>
                <a:effectLst/>
                <a:latin typeface="思源黑体 Medium"/>
                <a:ea typeface="思源黑体 Medium"/>
              </a:rPr>
              <a:t>PART   03</a:t>
            </a:r>
            <a:endParaRPr lang="en-US" sz="1100"/>
          </a:p>
        </p:txBody>
      </p:sp>
      <p:sp>
        <p:nvSpPr>
          <p:cNvPr id="3" name="TextBox 3"/>
          <p:cNvSpPr txBox="1"/>
          <p:nvPr/>
        </p:nvSpPr>
        <p:spPr>
          <a:xfrm>
            <a:off x="524510" y="2466340"/>
            <a:ext cx="6510655" cy="2685415"/>
          </a:xfrm>
          <a:prstGeom prst="rect">
            <a:avLst/>
          </a:prstGeom>
          <a:noFill/>
          <a:ln>
            <a:noFill/>
          </a:ln>
        </p:spPr>
        <p:txBody>
          <a:bodyPr vert="horz" lIns="91440" tIns="45720" rIns="91440" bIns="45720" rtlCol="0" anchor="ctr">
            <a:noAutofit/>
          </a:bodyPr>
          <a:lstStyle/>
          <a:p>
            <a:pPr marL="0" indent="0" algn="l" fontAlgn="auto">
              <a:lnSpc>
                <a:spcPct val="110000"/>
              </a:lnSpc>
              <a:spcBef>
                <a:spcPct val="0"/>
              </a:spcBef>
              <a:buNone/>
              <a:defRPr/>
            </a:pPr>
            <a:r>
              <a:rPr lang="en-US" sz="4800" b="0" i="0" u="none" baseline="0">
                <a:solidFill>
                  <a:srgbClr val="75BD42"/>
                </a:solidFill>
                <a:latin typeface="思源黑体 Medium"/>
                <a:ea typeface="思源黑体 Medium"/>
              </a:rPr>
              <a:t>Process Redesign as a Critical Success Factor</a:t>
            </a:r>
            <a:endParaRPr lang="en-US" sz="1100"/>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animEffect transition="in" filter="wipe(right)">
                                      <p:cBhvr>
                                        <p:cTn id="6" dur="500"/>
                                        <p:tgtEl>
                                          <p:spTgt spid="2"/>
                                        </p:tgtEl>
                                      </p:cBhvr>
                                    </p:animEffect>
                                    <p:set>
                                      <p:cBhvr>
                                        <p:cTn id="7" dur="5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3" presetClass="entr" presetSubtype="5" fill="hold" nodeType="afterEffect">
                                  <p:stCondLst>
                                    <p:cond delay="0"/>
                                  </p:stCondLst>
                                  <p:childTnLst>
                                    <p:animEffect transition="in" filter="blinds(vertical)">
                                      <p:cBhvr>
                                        <p:cTn id="10" dur="1000"/>
                                        <p:tgtEl>
                                          <p:spTgt spid="3"/>
                                        </p:tgtEl>
                                      </p:cBhvr>
                                    </p:animEffect>
                                    <p:set>
                                      <p:cBhvr>
                                        <p:cTn id="11" dur="10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 name="Group 2"/>
          <p:cNvGrpSpPr/>
          <p:nvPr/>
        </p:nvGrpSpPr>
        <p:grpSpPr>
          <a:xfrm>
            <a:off x="470626" y="2123622"/>
            <a:ext cx="6395640" cy="3058431"/>
            <a:chOff x="784951" y="2533197"/>
            <a:chExt cx="6395640" cy="3058431"/>
          </a:xfrm>
        </p:grpSpPr>
        <p:grpSp>
          <p:nvGrpSpPr>
            <p:cNvPr id="3" name="Group 3"/>
            <p:cNvGrpSpPr/>
            <p:nvPr/>
          </p:nvGrpSpPr>
          <p:grpSpPr>
            <a:xfrm>
              <a:off x="784951" y="2533197"/>
              <a:ext cx="595086" cy="3042556"/>
              <a:chOff x="784951" y="2533197"/>
              <a:chExt cx="595086" cy="3042556"/>
            </a:xfrm>
          </p:grpSpPr>
          <p:sp>
            <p:nvSpPr>
              <p:cNvPr id="4" name="AutoShape 4"/>
              <p:cNvSpPr/>
              <p:nvPr/>
            </p:nvSpPr>
            <p:spPr>
              <a:xfrm>
                <a:off x="784951" y="2533197"/>
                <a:ext cx="595086" cy="595086"/>
              </a:xfrm>
              <a:prstGeom prst="ellipse">
                <a:avLst/>
              </a:prstGeom>
              <a:gradFill>
                <a:gsLst>
                  <a:gs pos="0">
                    <a:schemeClr val="accent1">
                      <a:lumMod val="60000"/>
                      <a:lumOff val="40000"/>
                    </a:schemeClr>
                  </a:gs>
                  <a:gs pos="50000">
                    <a:schemeClr val="accent1"/>
                  </a:gs>
                </a:gsLst>
                <a:lin ang="2700000"/>
              </a:gradFill>
              <a:ln>
                <a:noFill/>
              </a:ln>
            </p:spPr>
            <p:txBody>
              <a:bodyPr vert="horz" wrap="square" lIns="90170" tIns="46990" rIns="90170" bIns="46990" anchor="ctr">
                <a:normAutofit/>
              </a:bodyPr>
              <a:lstStyle/>
              <a:p>
                <a:pPr marL="0" algn="ctr"/>
                <a:r>
                  <a:rPr lang="en-US" sz="1439" b="1" i="0" u="none" baseline="0">
                    <a:solidFill>
                      <a:schemeClr val="lt1"/>
                    </a:solidFill>
                    <a:latin typeface="思源黑体 Normal"/>
                    <a:ea typeface="思源黑体 Normal"/>
                  </a:rPr>
                  <a:t>01</a:t>
                </a:r>
              </a:p>
            </p:txBody>
          </p:sp>
          <p:cxnSp>
            <p:nvCxnSpPr>
              <p:cNvPr id="5" name="Connector 5"/>
              <p:cNvCxnSpPr/>
              <p:nvPr/>
            </p:nvCxnSpPr>
            <p:spPr>
              <a:xfrm>
                <a:off x="1081972" y="3128283"/>
                <a:ext cx="0" cy="2370817"/>
              </a:xfrm>
              <a:prstGeom prst="line">
                <a:avLst/>
              </a:prstGeom>
              <a:ln w="6350" cap="flat" cmpd="sng">
                <a:solidFill>
                  <a:schemeClr val="accent1"/>
                </a:solidFill>
                <a:prstDash val="solid"/>
              </a:ln>
            </p:spPr>
          </p:cxnSp>
          <p:sp>
            <p:nvSpPr>
              <p:cNvPr id="6" name="AutoShape 6"/>
              <p:cNvSpPr/>
              <p:nvPr/>
            </p:nvSpPr>
            <p:spPr>
              <a:xfrm>
                <a:off x="1029246" y="5483227"/>
                <a:ext cx="92526" cy="92526"/>
              </a:xfrm>
              <a:prstGeom prst="ellipse">
                <a:avLst/>
              </a:prstGeom>
              <a:solidFill>
                <a:schemeClr val="accent1"/>
              </a:solidFill>
              <a:ln>
                <a:noFill/>
              </a:ln>
            </p:spPr>
            <p:txBody>
              <a:bodyPr vert="horz" wrap="square" lIns="90170" tIns="46990" rIns="90170" bIns="46990" anchor="ctr">
                <a:normAutofit/>
              </a:bodyPr>
              <a:lstStyle/>
              <a:p>
                <a:pPr marL="0" algn="ctr"/>
                <a:endParaRPr/>
              </a:p>
            </p:txBody>
          </p:sp>
        </p:grpSp>
        <p:grpSp>
          <p:nvGrpSpPr>
            <p:cNvPr id="7" name="Group 7"/>
            <p:cNvGrpSpPr/>
            <p:nvPr/>
          </p:nvGrpSpPr>
          <p:grpSpPr>
            <a:xfrm>
              <a:off x="6585505" y="2533197"/>
              <a:ext cx="595086" cy="3058431"/>
              <a:chOff x="6585505" y="2533197"/>
              <a:chExt cx="595086" cy="3058431"/>
            </a:xfrm>
          </p:grpSpPr>
          <p:sp>
            <p:nvSpPr>
              <p:cNvPr id="8" name="AutoShape 8"/>
              <p:cNvSpPr/>
              <p:nvPr/>
            </p:nvSpPr>
            <p:spPr>
              <a:xfrm>
                <a:off x="6585505" y="2533197"/>
                <a:ext cx="595086" cy="595086"/>
              </a:xfrm>
              <a:prstGeom prst="ellipse">
                <a:avLst/>
              </a:prstGeom>
              <a:gradFill>
                <a:gsLst>
                  <a:gs pos="0">
                    <a:schemeClr val="accent2">
                      <a:lumMod val="60000"/>
                      <a:lumOff val="40000"/>
                    </a:schemeClr>
                  </a:gs>
                  <a:gs pos="50000">
                    <a:schemeClr val="accent2"/>
                  </a:gs>
                </a:gsLst>
                <a:lin ang="2700000"/>
              </a:gradFill>
              <a:ln>
                <a:noFill/>
              </a:ln>
            </p:spPr>
            <p:txBody>
              <a:bodyPr vert="horz" wrap="square" lIns="90170" tIns="46990" rIns="90170" bIns="46990" anchor="ctr">
                <a:normAutofit/>
              </a:bodyPr>
              <a:lstStyle/>
              <a:p>
                <a:pPr marL="0" algn="ctr"/>
                <a:r>
                  <a:rPr lang="en-US" sz="1439" b="1" i="0" u="none" baseline="0">
                    <a:solidFill>
                      <a:schemeClr val="lt1"/>
                    </a:solidFill>
                    <a:latin typeface="思源黑体 Normal"/>
                    <a:ea typeface="思源黑体 Normal"/>
                  </a:rPr>
                  <a:t>02</a:t>
                </a:r>
              </a:p>
            </p:txBody>
          </p:sp>
          <p:cxnSp>
            <p:nvCxnSpPr>
              <p:cNvPr id="9" name="Connector 9"/>
              <p:cNvCxnSpPr/>
              <p:nvPr/>
            </p:nvCxnSpPr>
            <p:spPr>
              <a:xfrm>
                <a:off x="6883048" y="3128283"/>
                <a:ext cx="0" cy="2370817"/>
              </a:xfrm>
              <a:prstGeom prst="line">
                <a:avLst/>
              </a:prstGeom>
              <a:ln w="9525">
                <a:solidFill>
                  <a:schemeClr val="accent2"/>
                </a:solidFill>
              </a:ln>
            </p:spPr>
          </p:cxnSp>
          <p:sp>
            <p:nvSpPr>
              <p:cNvPr id="10" name="AutoShape 10"/>
              <p:cNvSpPr/>
              <p:nvPr/>
            </p:nvSpPr>
            <p:spPr>
              <a:xfrm>
                <a:off x="6837591" y="5499102"/>
                <a:ext cx="92526" cy="92526"/>
              </a:xfrm>
              <a:prstGeom prst="ellipse">
                <a:avLst/>
              </a:prstGeom>
              <a:solidFill>
                <a:schemeClr val="accent2"/>
              </a:solidFill>
              <a:ln>
                <a:noFill/>
              </a:ln>
            </p:spPr>
            <p:txBody>
              <a:bodyPr vert="horz" wrap="square" lIns="90170" tIns="46990" rIns="90170" bIns="46990" anchor="ctr">
                <a:normAutofit/>
              </a:bodyPr>
              <a:lstStyle/>
              <a:p>
                <a:pPr marL="0" algn="ctr"/>
                <a:endParaRPr/>
              </a:p>
            </p:txBody>
          </p:sp>
        </p:grpSp>
      </p:grpSp>
      <p:sp>
        <p:nvSpPr>
          <p:cNvPr id="11" name="TextBox 11"/>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79C942"/>
                </a:solidFill>
                <a:latin typeface="思源黑体 Normal"/>
                <a:ea typeface="思源黑体 Normal"/>
              </a:rPr>
              <a:t>Integrating AI into Workflow Architecture</a:t>
            </a:r>
            <a:endParaRPr lang="en-US" sz="1100"/>
          </a:p>
        </p:txBody>
      </p:sp>
      <p:sp>
        <p:nvSpPr>
          <p:cNvPr id="12" name="Freeform 12"/>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79C942"/>
          </a:solidFill>
        </p:spPr>
        <p:txBody>
          <a:bodyPr/>
          <a:lstStyle/>
          <a:p>
            <a:endParaRPr lang="en-US"/>
          </a:p>
        </p:txBody>
      </p:sp>
      <p:sp>
        <p:nvSpPr>
          <p:cNvPr id="13" name="TextBox 13"/>
          <p:cNvSpPr txBox="1"/>
          <p:nvPr/>
        </p:nvSpPr>
        <p:spPr>
          <a:xfrm>
            <a:off x="1069340" y="2585085"/>
            <a:ext cx="4860290" cy="540000"/>
          </a:xfrm>
          <a:prstGeom prst="rect">
            <a:avLst/>
          </a:prstGeom>
          <a:noFill/>
        </p:spPr>
        <p:txBody>
          <a:bodyPr vert="horz" wrap="square" lIns="90170" tIns="46990" rIns="90170" bIns="46990" rtlCol="0" anchor="ctr">
            <a:normAutofit/>
          </a:bodyPr>
          <a:lstStyle/>
          <a:p>
            <a:pPr marL="0" indent="0" algn="l" fontAlgn="auto">
              <a:defRPr/>
            </a:pPr>
            <a:r>
              <a:rPr lang="en-US" sz="2000" b="1" i="0" u="none" baseline="0">
                <a:solidFill>
                  <a:srgbClr val="79C942"/>
                </a:solidFill>
                <a:latin typeface="思源黑体 Normal"/>
                <a:ea typeface="思源黑体 Normal"/>
              </a:rPr>
              <a:t>Building Intelligence into Processes</a:t>
            </a:r>
            <a:endParaRPr lang="en-US" sz="1100"/>
          </a:p>
        </p:txBody>
      </p:sp>
      <p:sp>
        <p:nvSpPr>
          <p:cNvPr id="14" name="TextBox 14"/>
          <p:cNvSpPr txBox="1"/>
          <p:nvPr/>
        </p:nvSpPr>
        <p:spPr>
          <a:xfrm>
            <a:off x="1065530" y="3136265"/>
            <a:ext cx="4860290" cy="2045970"/>
          </a:xfrm>
          <a:prstGeom prst="rect">
            <a:avLst/>
          </a:prstGeom>
          <a:noFill/>
        </p:spPr>
        <p:txBody>
          <a:bodyPr vert="horz" wrap="square" lIns="90170" tIns="46990" rIns="90170" bIns="46990" rtlCol="0" anchor="t">
            <a:normAutofit/>
          </a:bodyPr>
          <a:lstStyle/>
          <a:p>
            <a:pPr marL="0" indent="0" algn="just" fontAlgn="auto">
              <a:lnSpc>
                <a:spcPct val="150000"/>
              </a:lnSpc>
              <a:defRPr/>
            </a:pPr>
            <a:r>
              <a:rPr lang="en-US" sz="1500" b="0" i="0" u="none" baseline="0">
                <a:solidFill>
                  <a:srgbClr val="262626"/>
                </a:solidFill>
                <a:latin typeface="思源黑体 Normal"/>
                <a:ea typeface="思源黑体 Normal"/>
              </a:rPr>
              <a:t>Organizations often err by adding AI to outdated workflows. Instead, processes should be redesigned so AI helps shape sourcing strategy, scenario modeling, supplier selection, and bid analysis within an integrated system.</a:t>
            </a:r>
            <a:endParaRPr lang="en-US" sz="1100"/>
          </a:p>
        </p:txBody>
      </p:sp>
      <p:sp>
        <p:nvSpPr>
          <p:cNvPr id="15" name="TextBox 15"/>
          <p:cNvSpPr txBox="1"/>
          <p:nvPr/>
        </p:nvSpPr>
        <p:spPr>
          <a:xfrm>
            <a:off x="6870065" y="2585085"/>
            <a:ext cx="4860290" cy="540000"/>
          </a:xfrm>
          <a:prstGeom prst="rect">
            <a:avLst/>
          </a:prstGeom>
          <a:noFill/>
        </p:spPr>
        <p:txBody>
          <a:bodyPr vert="horz" wrap="square" lIns="90170" tIns="46990" rIns="90170" bIns="46990" rtlCol="0" anchor="ctr">
            <a:normAutofit/>
          </a:bodyPr>
          <a:lstStyle/>
          <a:p>
            <a:pPr marL="0" indent="0" algn="l" fontAlgn="auto">
              <a:defRPr/>
            </a:pPr>
            <a:r>
              <a:rPr lang="en-US" sz="2000" b="1" i="0" u="none" baseline="0">
                <a:solidFill>
                  <a:srgbClr val="79C942"/>
                </a:solidFill>
                <a:latin typeface="思源黑体 Normal"/>
                <a:ea typeface="思源黑体 Normal"/>
              </a:rPr>
              <a:t>The Role of AI-Native Platforms</a:t>
            </a:r>
            <a:endParaRPr lang="en-US" sz="1100"/>
          </a:p>
        </p:txBody>
      </p:sp>
      <p:sp>
        <p:nvSpPr>
          <p:cNvPr id="16" name="TextBox 16"/>
          <p:cNvSpPr txBox="1"/>
          <p:nvPr/>
        </p:nvSpPr>
        <p:spPr>
          <a:xfrm>
            <a:off x="6866255" y="3136265"/>
            <a:ext cx="4860290" cy="2045970"/>
          </a:xfrm>
          <a:prstGeom prst="rect">
            <a:avLst/>
          </a:prstGeom>
          <a:noFill/>
        </p:spPr>
        <p:txBody>
          <a:bodyPr vert="horz" wrap="square" lIns="90170" tIns="46990" rIns="90170" bIns="46990" rtlCol="0" anchor="t">
            <a:normAutofit/>
          </a:bodyPr>
          <a:lstStyle/>
          <a:p>
            <a:pPr marL="0" indent="0" algn="just" fontAlgn="auto">
              <a:lnSpc>
                <a:spcPct val="150000"/>
              </a:lnSpc>
              <a:defRPr/>
            </a:pPr>
            <a:r>
              <a:rPr lang="en-US" sz="1500" b="0" i="0" u="none" baseline="0">
                <a:solidFill>
                  <a:srgbClr val="262626"/>
                </a:solidFill>
                <a:latin typeface="思源黑体 Normal"/>
                <a:ea typeface="思源黑体 Normal"/>
              </a:rPr>
              <a:t>AI-native platforms can amplify performance but do not solve structural weaknesses alone. They make strong teams and good processes more productive, while exposing issues like poor data quality and unclear roles.</a:t>
            </a:r>
            <a:endParaRPr lang="en-US" sz="1100"/>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animEffect transition="in" filter="wedge">
                                      <p:cBhvr>
                                        <p:cTn id="6" dur="1000"/>
                                        <p:tgtEl>
                                          <p:spTgt spid="11"/>
                                        </p:tgtEl>
                                      </p:cBhvr>
                                    </p:animEffect>
                                    <p:set>
                                      <p:cBhvr>
                                        <p:cTn id="7" dur="1000" fill="hold">
                                          <p:stCondLst>
                                            <p:cond delay="0"/>
                                          </p:stCondLst>
                                        </p:cTn>
                                        <p:tgtEl>
                                          <p:spTgt spid="11"/>
                                        </p:tgtEl>
                                        <p:attrNameLst>
                                          <p:attrName>style.visibility</p:attrName>
                                        </p:attrNameLst>
                                      </p:cBhvr>
                                      <p:to>
                                        <p:strVal val="visible"/>
                                      </p:to>
                                    </p:set>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8" presetClass="entr" presetSubtype="9" fill="hold" nodeType="afterEffect">
                                  <p:stCondLst>
                                    <p:cond delay="0"/>
                                  </p:stCondLst>
                                  <p:childTnLst>
                                    <p:animEffect transition="in" filter="strips(upLeft)">
                                      <p:cBhvr>
                                        <p:cTn id="13" dur="500"/>
                                        <p:tgtEl>
                                          <p:spTgt spid="13"/>
                                        </p:tgtEl>
                                      </p:cBhvr>
                                    </p:animEffect>
                                    <p:set>
                                      <p:cBhvr>
                                        <p:cTn id="14" dur="500" fill="hold">
                                          <p:stCondLst>
                                            <p:cond delay="0"/>
                                          </p:stCondLst>
                                        </p:cTn>
                                        <p:tgtEl>
                                          <p:spTgt spid="13"/>
                                        </p:tgtEl>
                                        <p:attrNameLst>
                                          <p:attrName>style.visibility</p:attrName>
                                        </p:attrNameLst>
                                      </p:cBhvr>
                                      <p:to>
                                        <p:strVal val="visible"/>
                                      </p:to>
                                    </p:set>
                                  </p:childTnLst>
                                </p:cTn>
                              </p:par>
                            </p:childTnLst>
                          </p:cTn>
                        </p:par>
                        <p:par>
                          <p:cTn id="15" fill="hold">
                            <p:stCondLst>
                              <p:cond delay="0"/>
                            </p:stCondLst>
                            <p:childTnLst>
                              <p:par>
                                <p:cTn id="16" presetID="21" presetClass="entr" presetSubtype="4" fill="hold" nodeType="afterEffect">
                                  <p:stCondLst>
                                    <p:cond delay="0"/>
                                  </p:stCondLst>
                                  <p:childTnLst>
                                    <p:animEffect transition="in" filter="wheel(4)">
                                      <p:cBhvr>
                                        <p:cTn id="17" dur="1000"/>
                                        <p:tgtEl>
                                          <p:spTgt spid="14"/>
                                        </p:tgtEl>
                                      </p:cBhvr>
                                    </p:animEffect>
                                    <p:set>
                                      <p:cBhvr>
                                        <p:cTn id="18" dur="1000" fill="hold">
                                          <p:stCondLst>
                                            <p:cond delay="0"/>
                                          </p:stCondLst>
                                        </p:cTn>
                                        <p:tgtEl>
                                          <p:spTgt spid="1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0"/>
                            </p:stCondLst>
                            <p:childTnLst>
                              <p:par>
                                <p:cTn id="23" presetID="17" presetClass="entr" presetSubtype="10" fill="hold" nodeType="afterEffect">
                                  <p:stCondLst>
                                    <p:cond delay="0"/>
                                  </p:stCondLst>
                                  <p:childTnLs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strVal val="#ppt_h"/>
                                          </p:val>
                                        </p:tav>
                                        <p:tav tm="100000">
                                          <p:val>
                                            <p:strVal val="#ppt_h"/>
                                          </p:val>
                                        </p:tav>
                                      </p:tavLst>
                                    </p:anim>
                                    <p:set>
                                      <p:cBhvr>
                                        <p:cTn id="26" dur="500" fill="hold">
                                          <p:stCondLst>
                                            <p:cond delay="0"/>
                                          </p:stCondLst>
                                        </p:cTn>
                                        <p:tgtEl>
                                          <p:spTgt spid="15"/>
                                        </p:tgtEl>
                                        <p:attrNameLst>
                                          <p:attrName>style.visibility</p:attrName>
                                        </p:attrNameLst>
                                      </p:cBhvr>
                                      <p:to>
                                        <p:strVal val="visible"/>
                                      </p:to>
                                    </p:set>
                                  </p:childTnLst>
                                </p:cTn>
                              </p:par>
                            </p:childTnLst>
                          </p:cTn>
                        </p:par>
                        <p:par>
                          <p:cTn id="27" fill="hold">
                            <p:stCondLst>
                              <p:cond delay="0"/>
                            </p:stCondLst>
                            <p:childTnLst>
                              <p:par>
                                <p:cTn id="28" presetID="25" presetClass="entr" presetSubtype="0" fill="hold" nodeType="afterEffect">
                                  <p:stCondLst>
                                    <p:cond delay="0"/>
                                  </p:stCondLst>
                                  <p:childTnLst>
                                    <p:anim calcmode="lin" valueType="num">
                                      <p:cBhvr>
                                        <p:cTn id="29" dur="10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30" dur="10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31" dur="10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32" dur="1000" fill="hold"/>
                                        <p:tgtEl>
                                          <p:spTgt spid="16"/>
                                        </p:tgtEl>
                                        <p:attrNameLst>
                                          <p:attrName>ppt_h</p:attrName>
                                        </p:attrNameLst>
                                      </p:cBhvr>
                                      <p:tavLst>
                                        <p:tav tm="0">
                                          <p:val>
                                            <p:strVal val="#ppt_h"/>
                                          </p:val>
                                        </p:tav>
                                        <p:tav tm="100000">
                                          <p:val>
                                            <p:strVal val="#ppt_h"/>
                                          </p:val>
                                        </p:tav>
                                      </p:tavLst>
                                    </p:anim>
                                    <p:anim calcmode="lin" valueType="num">
                                      <p:cBhvr>
                                        <p:cTn id="33" dur="10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34" dur="10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35" dur="10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16"/>
                                        </p:tgtEl>
                                      </p:cBhvr>
                                    </p:animEffect>
                                    <p:set>
                                      <p:cBhvr>
                                        <p:cTn id="3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4510" y="2092325"/>
            <a:ext cx="4130040" cy="724535"/>
          </a:xfrm>
          <a:prstGeom prst="rect">
            <a:avLst/>
          </a:prstGeom>
          <a:noFill/>
          <a:ln>
            <a:noFill/>
          </a:ln>
        </p:spPr>
        <p:txBody>
          <a:bodyPr vert="horz" lIns="91440" tIns="45720" rIns="91440" bIns="45720" rtlCol="0" anchor="ctr">
            <a:noAutofit/>
          </a:bodyPr>
          <a:lstStyle/>
          <a:p>
            <a:pPr marL="0" marR="0" indent="0" algn="l" fontAlgn="auto">
              <a:lnSpc>
                <a:spcPct val="100000"/>
              </a:lnSpc>
              <a:spcBef>
                <a:spcPct val="0"/>
              </a:spcBef>
              <a:spcAft>
                <a:spcPct val="0"/>
              </a:spcAft>
              <a:buNone/>
              <a:defRPr/>
            </a:pPr>
            <a:r>
              <a:rPr lang="en-US" sz="4800" b="0" i="0" u="none" baseline="0">
                <a:ln/>
                <a:solidFill>
                  <a:srgbClr val="75BD42"/>
                </a:solidFill>
                <a:effectLst/>
                <a:latin typeface="思源黑体 Medium"/>
                <a:ea typeface="思源黑体 Medium"/>
              </a:rPr>
              <a:t>PART   04</a:t>
            </a:r>
            <a:endParaRPr lang="en-US" sz="1100"/>
          </a:p>
        </p:txBody>
      </p:sp>
      <p:sp>
        <p:nvSpPr>
          <p:cNvPr id="3" name="TextBox 3"/>
          <p:cNvSpPr txBox="1"/>
          <p:nvPr/>
        </p:nvSpPr>
        <p:spPr>
          <a:xfrm>
            <a:off x="524510" y="2466340"/>
            <a:ext cx="6510655" cy="2685415"/>
          </a:xfrm>
          <a:prstGeom prst="rect">
            <a:avLst/>
          </a:prstGeom>
          <a:noFill/>
          <a:ln>
            <a:noFill/>
          </a:ln>
        </p:spPr>
        <p:txBody>
          <a:bodyPr vert="horz" lIns="91440" tIns="45720" rIns="91440" bIns="45720" rtlCol="0" anchor="ctr">
            <a:noAutofit/>
          </a:bodyPr>
          <a:lstStyle/>
          <a:p>
            <a:pPr marL="0" indent="0" algn="l" fontAlgn="auto">
              <a:lnSpc>
                <a:spcPct val="110000"/>
              </a:lnSpc>
              <a:spcBef>
                <a:spcPct val="0"/>
              </a:spcBef>
              <a:buNone/>
              <a:defRPr/>
            </a:pPr>
            <a:r>
              <a:rPr lang="en-US" sz="4800" b="0" i="0" u="none" baseline="0">
                <a:solidFill>
                  <a:srgbClr val="75BD42"/>
                </a:solidFill>
                <a:latin typeface="思源黑体 Medium"/>
                <a:ea typeface="思源黑体 Medium"/>
              </a:rPr>
              <a:t>Broader Societal and Workforce Implications</a:t>
            </a:r>
            <a:endParaRPr lang="en-US" sz="110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nodeType="afterEffect">
                                  <p:stCondLst>
                                    <p:cond delay="0"/>
                                  </p:stCondLst>
                                  <p:childTnLst>
                                    <p:animEffect transition="in" filter="wheel(3)">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23" presetClass="entr" presetSubtype="36" fill="hold" nodeType="afterEffect">
                                  <p:stCondLst>
                                    <p:cond delay="0"/>
                                  </p:stCondLst>
                                  <p:childTnLst>
                                    <p:anim calcmode="lin" valueType="num">
                                      <p:cBhvr>
                                        <p:cTn id="10" dur="500" fill="hold"/>
                                        <p:tgtEl>
                                          <p:spTgt spid="3"/>
                                        </p:tgtEl>
                                        <p:attrNameLst>
                                          <p:attrName>ppt_w</p:attrName>
                                        </p:attrNameLst>
                                      </p:cBhvr>
                                      <p:tavLst>
                                        <p:tav tm="0">
                                          <p:val>
                                            <p:strVal val="(6*min(max(#ppt_w*#ppt_h,.3),1)-7.4)/-.7*#ppt_w"/>
                                          </p:val>
                                        </p:tav>
                                        <p:tav tm="100000">
                                          <p:val>
                                            <p:strVal val="#ppt_w"/>
                                          </p:val>
                                        </p:tav>
                                      </p:tavLst>
                                    </p:anim>
                                    <p:anim calcmode="lin" valueType="num">
                                      <p:cBhvr>
                                        <p:cTn id="11" dur="500" fill="hold"/>
                                        <p:tgtEl>
                                          <p:spTgt spid="3"/>
                                        </p:tgtEl>
                                        <p:attrNameLst>
                                          <p:attrName>ppt_h</p:attrName>
                                        </p:attrNameLst>
                                      </p:cBhvr>
                                      <p:tavLst>
                                        <p:tav tm="0">
                                          <p:val>
                                            <p:strVal val="(6*min(max(#ppt_w*#ppt_h,.3),1)-7.4)/-.7*#ppt_h"/>
                                          </p:val>
                                        </p:tav>
                                        <p:tav tm="100000">
                                          <p:val>
                                            <p:strVal val="#ppt_h"/>
                                          </p:val>
                                        </p:tav>
                                      </p:tavLst>
                                    </p:anim>
                                    <p:anim calcmode="lin" valueType="num">
                                      <p:cBhvr>
                                        <p:cTn id="12" dur="500" fill="hold"/>
                                        <p:tgtEl>
                                          <p:spTgt spid="3"/>
                                        </p:tgtEl>
                                        <p:attrNameLst>
                                          <p:attrName>ppt_x</p:attrName>
                                        </p:attrNameLst>
                                      </p:cBhvr>
                                      <p:tavLst>
                                        <p:tav tm="0">
                                          <p:val>
                                            <p:fltVal val="0.5"/>
                                          </p:val>
                                        </p:tav>
                                        <p:tav tm="100000">
                                          <p:val>
                                            <p:strVal val="#ppt_x"/>
                                          </p:val>
                                        </p:tav>
                                      </p:tavLst>
                                    </p:anim>
                                    <p:anim calcmode="lin" valueType="num">
                                      <p:cBhvr>
                                        <p:cTn id="13" dur="500" fill="hold"/>
                                        <p:tgtEl>
                                          <p:spTgt spid="3"/>
                                        </p:tgtEl>
                                        <p:attrNameLst>
                                          <p:attrName>ppt_y</p:attrName>
                                        </p:attrNameLst>
                                      </p:cBhvr>
                                      <p:tavLst>
                                        <p:tav tm="0">
                                          <p:val>
                                            <p:strVal val="1+(6*min(max(#ppt_w*#ppt_h,.3),1)-7.4)/-.7*#ppt_h/2"/>
                                          </p:val>
                                        </p:tav>
                                        <p:tav tm="100000">
                                          <p:val>
                                            <p:strVal val="#ppt_y"/>
                                          </p:val>
                                        </p:tav>
                                      </p:tavLst>
                                    </p:anim>
                                    <p:set>
                                      <p:cBhvr>
                                        <p:cTn id="14" dur="500"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96595" y="2295525"/>
            <a:ext cx="5102225" cy="3612515"/>
          </a:xfrm>
          <a:prstGeom prst="roundRect">
            <a:avLst>
              <a:gd name="adj" fmla="val 0"/>
            </a:avLst>
          </a:prstGeom>
          <a:solidFill>
            <a:srgbClr val="F7EFDF"/>
          </a:solidFill>
          <a:ln>
            <a:noFill/>
          </a:ln>
          <a:effectLst/>
        </p:spPr>
        <p:txBody>
          <a:bodyPr vert="horz" wrap="square" lIns="90170" tIns="46990" rIns="90170" bIns="46990" anchor="ctr">
            <a:normAutofit/>
          </a:bodyPr>
          <a:lstStyle/>
          <a:p>
            <a:pPr marL="0" algn="l"/>
            <a:endParaRPr/>
          </a:p>
        </p:txBody>
      </p:sp>
      <p:sp>
        <p:nvSpPr>
          <p:cNvPr id="3" name="AutoShape 3"/>
          <p:cNvSpPr/>
          <p:nvPr/>
        </p:nvSpPr>
        <p:spPr>
          <a:xfrm>
            <a:off x="961390" y="1760855"/>
            <a:ext cx="793750" cy="777875"/>
          </a:xfrm>
          <a:prstGeom prst="roundRect">
            <a:avLst>
              <a:gd name="adj" fmla="val 0"/>
            </a:avLst>
          </a:prstGeom>
          <a:solidFill>
            <a:srgbClr val="79C942"/>
          </a:solidFill>
          <a:ln>
            <a:noFill/>
          </a:ln>
          <a:effectLst/>
        </p:spPr>
        <p:txBody>
          <a:bodyPr vert="horz" wrap="square" lIns="90170" tIns="46990" rIns="90170" bIns="46990" anchor="ctr">
            <a:normAutofit/>
          </a:bodyPr>
          <a:lstStyle/>
          <a:p>
            <a:pPr marL="0" algn="ctr">
              <a:spcBef>
                <a:spcPct val="0"/>
              </a:spcBef>
              <a:spcAft>
                <a:spcPct val="0"/>
              </a:spcAft>
            </a:pPr>
            <a:r>
              <a:rPr lang="en-US" sz="2400" b="1" i="0" u="none" baseline="0">
                <a:solidFill>
                  <a:schemeClr val="lt1"/>
                </a:solidFill>
                <a:latin typeface="思源黑体 Normal"/>
                <a:ea typeface="思源黑体 Normal"/>
              </a:rPr>
              <a:t>01</a:t>
            </a:r>
          </a:p>
        </p:txBody>
      </p:sp>
      <p:cxnSp>
        <p:nvCxnSpPr>
          <p:cNvPr id="4" name="Connector 4"/>
          <p:cNvCxnSpPr/>
          <p:nvPr/>
        </p:nvCxnSpPr>
        <p:spPr>
          <a:xfrm flipV="1">
            <a:off x="916305" y="3330575"/>
            <a:ext cx="4662805" cy="0"/>
          </a:xfrm>
          <a:prstGeom prst="line">
            <a:avLst/>
          </a:prstGeom>
          <a:ln w="22225">
            <a:solidFill>
              <a:srgbClr val="79C942">
                <a:alpha val="50000"/>
              </a:srgbClr>
            </a:solidFill>
          </a:ln>
        </p:spPr>
      </p:cxnSp>
      <p:sp>
        <p:nvSpPr>
          <p:cNvPr id="5" name="AutoShape 5"/>
          <p:cNvSpPr/>
          <p:nvPr/>
        </p:nvSpPr>
        <p:spPr>
          <a:xfrm>
            <a:off x="6393815" y="2295525"/>
            <a:ext cx="5102225" cy="3612515"/>
          </a:xfrm>
          <a:prstGeom prst="roundRect">
            <a:avLst>
              <a:gd name="adj" fmla="val 0"/>
            </a:avLst>
          </a:prstGeom>
          <a:solidFill>
            <a:srgbClr val="F7EFDF"/>
          </a:solidFill>
          <a:ln>
            <a:noFill/>
          </a:ln>
          <a:effectLst/>
        </p:spPr>
        <p:txBody>
          <a:bodyPr vert="horz" wrap="square" lIns="90170" tIns="46990" rIns="90170" bIns="46990" anchor="ctr">
            <a:normAutofit/>
          </a:bodyPr>
          <a:lstStyle/>
          <a:p>
            <a:pPr marL="0" algn="l"/>
            <a:endParaRPr/>
          </a:p>
        </p:txBody>
      </p:sp>
      <p:sp>
        <p:nvSpPr>
          <p:cNvPr id="6" name="AutoShape 6"/>
          <p:cNvSpPr/>
          <p:nvPr/>
        </p:nvSpPr>
        <p:spPr>
          <a:xfrm>
            <a:off x="6657975" y="1760855"/>
            <a:ext cx="793750" cy="777875"/>
          </a:xfrm>
          <a:prstGeom prst="roundRect">
            <a:avLst>
              <a:gd name="adj" fmla="val 0"/>
            </a:avLst>
          </a:prstGeom>
          <a:solidFill>
            <a:srgbClr val="79C942"/>
          </a:solidFill>
          <a:ln>
            <a:noFill/>
          </a:ln>
          <a:effectLst/>
        </p:spPr>
        <p:txBody>
          <a:bodyPr vert="horz" wrap="square" lIns="90170" tIns="46990" rIns="90170" bIns="46990" anchor="ctr">
            <a:normAutofit/>
          </a:bodyPr>
          <a:lstStyle/>
          <a:p>
            <a:pPr marL="0" algn="ctr">
              <a:spcBef>
                <a:spcPct val="0"/>
              </a:spcBef>
              <a:spcAft>
                <a:spcPct val="0"/>
              </a:spcAft>
            </a:pPr>
            <a:r>
              <a:rPr lang="en-US" sz="2400" b="1" i="0" u="none" baseline="0">
                <a:solidFill>
                  <a:schemeClr val="lt1"/>
                </a:solidFill>
                <a:latin typeface="思源黑体 Normal"/>
                <a:ea typeface="思源黑体 Normal"/>
              </a:rPr>
              <a:t>02</a:t>
            </a:r>
          </a:p>
        </p:txBody>
      </p:sp>
      <p:cxnSp>
        <p:nvCxnSpPr>
          <p:cNvPr id="7" name="Connector 7"/>
          <p:cNvCxnSpPr/>
          <p:nvPr/>
        </p:nvCxnSpPr>
        <p:spPr>
          <a:xfrm flipV="1">
            <a:off x="6614160" y="3336290"/>
            <a:ext cx="4662170" cy="0"/>
          </a:xfrm>
          <a:prstGeom prst="line">
            <a:avLst/>
          </a:prstGeom>
          <a:ln w="22225">
            <a:solidFill>
              <a:srgbClr val="79C942">
                <a:alpha val="50000"/>
              </a:srgbClr>
            </a:solidFill>
          </a:ln>
        </p:spPr>
      </p:cxnSp>
      <p:sp>
        <p:nvSpPr>
          <p:cNvPr id="8" name="TextBox 8"/>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79C942"/>
                </a:solidFill>
                <a:latin typeface="思源黑体 Normal"/>
                <a:ea typeface="思源黑体 Normal"/>
              </a:rPr>
              <a:t>Widening Performance Gaps</a:t>
            </a:r>
            <a:endParaRPr lang="en-US" sz="1100"/>
          </a:p>
        </p:txBody>
      </p:sp>
      <p:sp>
        <p:nvSpPr>
          <p:cNvPr id="9" name="Freeform 9"/>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79C942"/>
          </a:solidFill>
        </p:spPr>
        <p:txBody>
          <a:bodyPr/>
          <a:lstStyle/>
          <a:p>
            <a:endParaRPr lang="en-US"/>
          </a:p>
        </p:txBody>
      </p:sp>
      <p:sp>
        <p:nvSpPr>
          <p:cNvPr id="10" name="TextBox 10"/>
          <p:cNvSpPr txBox="1"/>
          <p:nvPr/>
        </p:nvSpPr>
        <p:spPr>
          <a:xfrm>
            <a:off x="961390" y="2796540"/>
            <a:ext cx="4535805" cy="540000"/>
          </a:xfrm>
          <a:prstGeom prst="rect">
            <a:avLst/>
          </a:prstGeom>
        </p:spPr>
        <p:txBody>
          <a:bodyPr vert="horz" wrap="square" lIns="90170" tIns="46990" rIns="90170" bIns="46990" rtlCol="0" anchor="ctr">
            <a:normAutofit/>
          </a:bodyPr>
          <a:lstStyle/>
          <a:p>
            <a:pPr marL="0" indent="0" algn="l" fontAlgn="auto">
              <a:lnSpc>
                <a:spcPct val="90000"/>
              </a:lnSpc>
              <a:defRPr/>
            </a:pPr>
            <a:r>
              <a:rPr lang="en-US" sz="2000" b="1" i="0" u="none" baseline="0">
                <a:solidFill>
                  <a:srgbClr val="79C942"/>
                </a:solidFill>
                <a:latin typeface="思源黑体 Normal"/>
                <a:ea typeface="思源黑体 Normal"/>
              </a:rPr>
              <a:t>Rewarding Adaptability</a:t>
            </a:r>
            <a:endParaRPr lang="en-US" sz="1100"/>
          </a:p>
        </p:txBody>
      </p:sp>
      <p:sp>
        <p:nvSpPr>
          <p:cNvPr id="11" name="TextBox 11"/>
          <p:cNvSpPr txBox="1"/>
          <p:nvPr/>
        </p:nvSpPr>
        <p:spPr>
          <a:xfrm>
            <a:off x="961390" y="3343275"/>
            <a:ext cx="4536000" cy="216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500" b="0" i="0" u="none" baseline="0">
                <a:solidFill>
                  <a:srgbClr val="262626"/>
                </a:solidFill>
                <a:latin typeface="思源黑体 Normal"/>
                <a:ea typeface="思源黑体 Normal"/>
              </a:rPr>
              <a:t>AI adoption will reward organizations and workers that adapt quickly, while exposing those with weak systems or low digital readiness. This may widen performance gaps between firms that invest in data, training, and redesign.</a:t>
            </a:r>
            <a:endParaRPr lang="en-US" sz="1100"/>
          </a:p>
          <a:p>
            <a:pPr marL="0" indent="0" algn="r" fontAlgn="auto">
              <a:lnSpc>
                <a:spcPct val="150000"/>
              </a:lnSpc>
            </a:pPr>
            <a:endParaRPr lang="en-US" sz="1100"/>
          </a:p>
          <a:p>
            <a:pPr marL="0" indent="0" algn="r" fontAlgn="auto">
              <a:lnSpc>
                <a:spcPct val="150000"/>
              </a:lnSpc>
            </a:pPr>
            <a:endParaRPr lang="en-US" sz="1100"/>
          </a:p>
        </p:txBody>
      </p:sp>
      <p:sp>
        <p:nvSpPr>
          <p:cNvPr id="12" name="TextBox 12"/>
          <p:cNvSpPr txBox="1"/>
          <p:nvPr/>
        </p:nvSpPr>
        <p:spPr>
          <a:xfrm>
            <a:off x="6657975" y="3343275"/>
            <a:ext cx="4536000" cy="216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500" b="0" i="0" u="none" baseline="0">
                <a:solidFill>
                  <a:srgbClr val="262626"/>
                </a:solidFill>
                <a:latin typeface="思源黑体 Normal"/>
                <a:ea typeface="思源黑体 Normal"/>
              </a:rPr>
              <a:t>As AI handles repetitive tasks, human roles will move toward oversight, interpretation, and accountability. Professions will increasingly value judgment, digital fluency, and the ability to collaborate with AI tools.</a:t>
            </a:r>
            <a:endParaRPr lang="en-US" sz="1100"/>
          </a:p>
          <a:p>
            <a:pPr marL="0" indent="0" algn="r" fontAlgn="auto">
              <a:lnSpc>
                <a:spcPct val="150000"/>
              </a:lnSpc>
            </a:pPr>
            <a:endParaRPr lang="en-US" sz="1100"/>
          </a:p>
          <a:p>
            <a:pPr marL="0" indent="0" algn="r" fontAlgn="auto">
              <a:lnSpc>
                <a:spcPct val="150000"/>
              </a:lnSpc>
            </a:pPr>
            <a:endParaRPr lang="en-US" sz="1100"/>
          </a:p>
        </p:txBody>
      </p:sp>
      <p:sp>
        <p:nvSpPr>
          <p:cNvPr id="13" name="TextBox 13"/>
          <p:cNvSpPr txBox="1"/>
          <p:nvPr/>
        </p:nvSpPr>
        <p:spPr>
          <a:xfrm>
            <a:off x="6657975" y="2796540"/>
            <a:ext cx="4535805" cy="540000"/>
          </a:xfrm>
          <a:prstGeom prst="rect">
            <a:avLst/>
          </a:prstGeom>
        </p:spPr>
        <p:txBody>
          <a:bodyPr vert="horz" wrap="square" lIns="90170" tIns="46990" rIns="90170" bIns="46990" rtlCol="0" anchor="ctr">
            <a:normAutofit/>
          </a:bodyPr>
          <a:lstStyle/>
          <a:p>
            <a:pPr marL="0" indent="0" algn="l" fontAlgn="auto">
              <a:lnSpc>
                <a:spcPct val="90000"/>
              </a:lnSpc>
              <a:defRPr/>
            </a:pPr>
            <a:r>
              <a:rPr lang="en-US" sz="2000" b="1" i="0" u="none" baseline="0">
                <a:solidFill>
                  <a:srgbClr val="79C942"/>
                </a:solidFill>
                <a:latin typeface="思源黑体 Normal"/>
                <a:ea typeface="思源黑体 Normal"/>
              </a:rPr>
              <a:t>A Shift in Workforce Value</a:t>
            </a:r>
            <a:endParaRPr lang="en-US" sz="1100"/>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animEffect transition="in" filter="box(out)">
                                      <p:cBhvr>
                                        <p:cTn id="6" dur="1000"/>
                                        <p:tgtEl>
                                          <p:spTgt spid="8"/>
                                        </p:tgtEl>
                                      </p:cBhvr>
                                    </p:animEffect>
                                    <p:set>
                                      <p:cBhvr>
                                        <p:cTn id="7" dur="1000" fill="hold">
                                          <p:stCondLst>
                                            <p:cond delay="0"/>
                                          </p:stCondLst>
                                        </p:cTn>
                                        <p:tgtEl>
                                          <p:spTgt spid="8"/>
                                        </p:tgtEl>
                                        <p:attrNameLst>
                                          <p:attrName>style.visibility</p:attrName>
                                        </p:attrNameLst>
                                      </p:cBhvr>
                                      <p:to>
                                        <p:strVal val="visible"/>
                                      </p:to>
                                    </p:set>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7" presetClass="entr" presetSubtype="1" fill="hold" nodeType="afterEffect">
                                  <p:stCondLst>
                                    <p:cond delay="0"/>
                                  </p:stCondLst>
                                  <p:childTnLst>
                                    <p:anim calcmode="lin" valueType="num">
                                      <p:cBhvr additive="base">
                                        <p:cTn id="13" dur="2000" fill="hold"/>
                                        <p:tgtEl>
                                          <p:spTgt spid="10"/>
                                        </p:tgtEl>
                                        <p:attrNameLst>
                                          <p:attrName>ppt_x</p:attrName>
                                        </p:attrNameLst>
                                      </p:cBhvr>
                                      <p:tavLst>
                                        <p:tav tm="0">
                                          <p:val>
                                            <p:strVal val="#ppt_x"/>
                                          </p:val>
                                        </p:tav>
                                        <p:tav tm="100000">
                                          <p:val>
                                            <p:strVal val="#ppt_x"/>
                                          </p:val>
                                        </p:tav>
                                      </p:tavLst>
                                    </p:anim>
                                    <p:anim calcmode="lin" valueType="num">
                                      <p:cBhvr additive="base">
                                        <p:cTn id="14" dur="2000" fill="hold"/>
                                        <p:tgtEl>
                                          <p:spTgt spid="10"/>
                                        </p:tgtEl>
                                        <p:attrNameLst>
                                          <p:attrName>ppt_y</p:attrName>
                                        </p:attrNameLst>
                                      </p:cBhvr>
                                      <p:tavLst>
                                        <p:tav tm="0">
                                          <p:val>
                                            <p:strVal val="0-#ppt_h/2"/>
                                          </p:val>
                                        </p:tav>
                                        <p:tav tm="100000">
                                          <p:val>
                                            <p:strVal val="#ppt_y"/>
                                          </p:val>
                                        </p:tav>
                                      </p:tavLst>
                                    </p:anim>
                                    <p:set>
                                      <p:cBhvr>
                                        <p:cTn id="15" dur="2000" fill="hold">
                                          <p:stCondLst>
                                            <p:cond delay="0"/>
                                          </p:stCondLst>
                                        </p:cTn>
                                        <p:tgtEl>
                                          <p:spTgt spid="10"/>
                                        </p:tgtEl>
                                        <p:attrNameLst>
                                          <p:attrName>style.visibility</p:attrName>
                                        </p:attrNameLst>
                                      </p:cBhvr>
                                      <p:to>
                                        <p:strVal val="visible"/>
                                      </p:to>
                                    </p:set>
                                  </p:childTnLst>
                                </p:cTn>
                              </p:par>
                            </p:childTnLst>
                          </p:cTn>
                        </p:par>
                        <p:par>
                          <p:cTn id="16" fill="hold">
                            <p:stCondLst>
                              <p:cond delay="0"/>
                            </p:stCondLst>
                            <p:childTnLst>
                              <p:par>
                                <p:cTn id="17" presetID="2" presetClass="entr" presetSubtype="3" fill="hold" nodeType="afterEffect">
                                  <p:stCondLst>
                                    <p:cond delay="0"/>
                                  </p:stCondLst>
                                  <p:childTnLst>
                                    <p:anim calcmode="lin" valueType="num">
                                      <p:cBhvr additive="base">
                                        <p:cTn id="18" dur="1000" fill="hold"/>
                                        <p:tgtEl>
                                          <p:spTgt spid="11"/>
                                        </p:tgtEl>
                                        <p:attrNameLst>
                                          <p:attrName>ppt_x</p:attrName>
                                        </p:attrNameLst>
                                      </p:cBhvr>
                                      <p:tavLst>
                                        <p:tav tm="0">
                                          <p:val>
                                            <p:strVal val="1+#ppt_w/2"/>
                                          </p:val>
                                        </p:tav>
                                        <p:tav tm="100000">
                                          <p:val>
                                            <p:strVal val="#ppt_x"/>
                                          </p:val>
                                        </p:tav>
                                      </p:tavLst>
                                    </p:anim>
                                    <p:anim calcmode="lin" valueType="num">
                                      <p:cBhvr additive="base">
                                        <p:cTn id="19" dur="1000" fill="hold"/>
                                        <p:tgtEl>
                                          <p:spTgt spid="11"/>
                                        </p:tgtEl>
                                        <p:attrNameLst>
                                          <p:attrName>ppt_y</p:attrName>
                                        </p:attrNameLst>
                                      </p:cBhvr>
                                      <p:tavLst>
                                        <p:tav tm="0">
                                          <p:val>
                                            <p:strVal val="0-#ppt_h/2"/>
                                          </p:val>
                                        </p:tav>
                                        <p:tav tm="100000">
                                          <p:val>
                                            <p:strVal val="#ppt_y"/>
                                          </p:val>
                                        </p:tav>
                                      </p:tavLst>
                                    </p:anim>
                                    <p:set>
                                      <p:cBhvr>
                                        <p:cTn id="20" dur="1000" fill="hold">
                                          <p:stCondLst>
                                            <p:cond delay="0"/>
                                          </p:stCondLst>
                                        </p:cTn>
                                        <p:tgtEl>
                                          <p:spTgt spid="1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par>
                          <p:cTn id="24" fill="hold">
                            <p:stCondLst>
                              <p:cond delay="0"/>
                            </p:stCondLst>
                            <p:childTnLst>
                              <p:par>
                                <p:cTn id="25" presetID="6" presetClass="entr" presetSubtype="16" fill="hold" nodeType="afterEffect">
                                  <p:stCondLst>
                                    <p:cond delay="0"/>
                                  </p:stCondLst>
                                  <p:childTnLst>
                                    <p:animEffect transition="in" filter="circle(in)">
                                      <p:cBhvr>
                                        <p:cTn id="26" dur="1000"/>
                                        <p:tgtEl>
                                          <p:spTgt spid="13"/>
                                        </p:tgtEl>
                                      </p:cBhvr>
                                    </p:animEffect>
                                    <p:set>
                                      <p:cBhvr>
                                        <p:cTn id="27" dur="1000" fill="hold">
                                          <p:stCondLst>
                                            <p:cond delay="0"/>
                                          </p:stCondLst>
                                        </p:cTn>
                                        <p:tgtEl>
                                          <p:spTgt spid="13"/>
                                        </p:tgtEl>
                                        <p:attrNameLst>
                                          <p:attrName>style.visibility</p:attrName>
                                        </p:attrNameLst>
                                      </p:cBhvr>
                                      <p:to>
                                        <p:strVal val="visible"/>
                                      </p:to>
                                    </p:set>
                                  </p:childTnLst>
                                </p:cTn>
                              </p:par>
                            </p:childTnLst>
                          </p:cTn>
                        </p:par>
                        <p:par>
                          <p:cTn id="28" fill="hold">
                            <p:stCondLst>
                              <p:cond delay="0"/>
                            </p:stCondLst>
                            <p:childTnLst>
                              <p:par>
                                <p:cTn id="29" presetID="18" presetClass="entr" presetSubtype="12" fill="hold" nodeType="afterEffect">
                                  <p:stCondLst>
                                    <p:cond delay="0"/>
                                  </p:stCondLst>
                                  <p:childTnLst>
                                    <p:animEffect transition="in" filter="strips(downLeft)">
                                      <p:cBhvr>
                                        <p:cTn id="30" dur="500"/>
                                        <p:tgtEl>
                                          <p:spTgt spid="12"/>
                                        </p:tgtEl>
                                      </p:cBhvr>
                                    </p:animEffect>
                                    <p:set>
                                      <p:cBhvr>
                                        <p:cTn id="31" dur="500"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Freeform 2"/>
          <p:cNvSpPr/>
          <p:nvPr/>
        </p:nvSpPr>
        <p:spPr>
          <a:xfrm rot="7697511">
            <a:off x="7518101" y="3076646"/>
            <a:ext cx="4547187" cy="2296043"/>
          </a:xfrm>
          <a:custGeom>
            <a:avLst/>
            <a:gdLst/>
            <a:ahLst/>
            <a:cxnLst/>
            <a:rect l="l" t="t" r="r" b="b"/>
            <a:pathLst>
              <a:path w="2249936" h="1136076">
                <a:moveTo>
                  <a:pt x="58" y="1136076"/>
                </a:moveTo>
                <a:cubicBezTo>
                  <a:pt x="-6169" y="514639"/>
                  <a:pt x="492725" y="6031"/>
                  <a:pt x="1113913" y="53"/>
                </a:cubicBezTo>
                <a:cubicBezTo>
                  <a:pt x="1735102" y="-5925"/>
                  <a:pt x="2243959" y="492720"/>
                  <a:pt x="2249937" y="1113909"/>
                </a:cubicBezTo>
              </a:path>
            </a:pathLst>
          </a:custGeom>
          <a:noFill/>
          <a:ln w="9525" cap="flat">
            <a:solidFill>
              <a:schemeClr val="accent1"/>
            </a:solidFill>
            <a:prstDash val="solid"/>
            <a:miter lim="800000"/>
          </a:ln>
        </p:spPr>
        <p:txBody>
          <a:bodyPr vert="horz" lIns="91440" tIns="45720" rIns="91440" bIns="45720" anchor="ctr"/>
          <a:lstStyle/>
          <a:p>
            <a:pPr marL="0" algn="l"/>
            <a:endParaRPr/>
          </a:p>
        </p:txBody>
      </p:sp>
      <p:sp>
        <p:nvSpPr>
          <p:cNvPr id="3" name="AutoShape 3"/>
          <p:cNvSpPr/>
          <p:nvPr/>
        </p:nvSpPr>
        <p:spPr>
          <a:xfrm rot="20405484">
            <a:off x="7361315" y="5194202"/>
            <a:ext cx="240930" cy="240930"/>
          </a:xfrm>
          <a:prstGeom prst="ellipse">
            <a:avLst/>
          </a:prstGeom>
          <a:solidFill>
            <a:schemeClr val="accent5">
              <a:lumMod val="60000"/>
              <a:lumOff val="40000"/>
            </a:schemeClr>
          </a:solidFill>
          <a:ln>
            <a:noFill/>
          </a:ln>
        </p:spPr>
        <p:txBody>
          <a:bodyPr vert="horz" lIns="91440" tIns="45720" rIns="91440" bIns="45720" anchor="ctr"/>
          <a:lstStyle/>
          <a:p>
            <a:pPr marL="0" algn="ctr"/>
            <a:endParaRPr/>
          </a:p>
        </p:txBody>
      </p:sp>
      <p:sp>
        <p:nvSpPr>
          <p:cNvPr id="4" name="AutoShape 4"/>
          <p:cNvSpPr/>
          <p:nvPr/>
        </p:nvSpPr>
        <p:spPr>
          <a:xfrm rot="20405484">
            <a:off x="10230193" y="1655872"/>
            <a:ext cx="167489" cy="167489"/>
          </a:xfrm>
          <a:prstGeom prst="ellipse">
            <a:avLst/>
          </a:prstGeom>
          <a:solidFill>
            <a:schemeClr val="accent5">
              <a:lumMod val="60000"/>
              <a:lumOff val="40000"/>
            </a:schemeClr>
          </a:solidFill>
          <a:ln>
            <a:noFill/>
          </a:ln>
        </p:spPr>
        <p:txBody>
          <a:bodyPr vert="horz" lIns="91440" tIns="45720" rIns="91440" bIns="45720" anchor="ctr"/>
          <a:lstStyle/>
          <a:p>
            <a:pPr marL="0" algn="ctr"/>
            <a:endParaRPr/>
          </a:p>
        </p:txBody>
      </p:sp>
      <p:pic>
        <p:nvPicPr>
          <p:cNvPr id="5" name="image71.jpeg"/>
          <p:cNvPicPr>
            <a:picLocks noChangeAspect="1"/>
          </p:cNvPicPr>
          <p:nvPr/>
        </p:nvPicPr>
        <p:blipFill rotWithShape="1">
          <a:blip r:embed="rId3"/>
          <a:srcRect l="16642" r="16642"/>
          <a:stretch>
            <a:fillRect/>
          </a:stretch>
        </p:blipFill>
        <p:spPr>
          <a:xfrm>
            <a:off x="7129539" y="1728813"/>
            <a:ext cx="3624483" cy="3624483"/>
          </a:xfrm>
          <a:custGeom>
            <a:avLst/>
            <a:gdLst/>
            <a:ahLst/>
            <a:cxnLst/>
            <a:rect l="0" t="0" r="0" b="0"/>
            <a:pathLst>
              <a:path w="5263" h="5263">
                <a:moveTo>
                  <a:pt x="2631" y="0"/>
                </a:moveTo>
                <a:cubicBezTo>
                  <a:pt x="4085" y="0"/>
                  <a:pt x="5263" y="1178"/>
                  <a:pt x="5263" y="2631"/>
                </a:cubicBezTo>
                <a:cubicBezTo>
                  <a:pt x="5263" y="4085"/>
                  <a:pt x="4085" y="5263"/>
                  <a:pt x="2631" y="5263"/>
                </a:cubicBezTo>
                <a:cubicBezTo>
                  <a:pt x="1178" y="5263"/>
                  <a:pt x="0" y="4085"/>
                  <a:pt x="0" y="2631"/>
                </a:cubicBezTo>
                <a:cubicBezTo>
                  <a:pt x="0" y="1178"/>
                  <a:pt x="1178" y="0"/>
                  <a:pt x="2631" y="0"/>
                </a:cubicBezTo>
                <a:close/>
              </a:path>
            </a:pathLst>
          </a:custGeom>
          <a:ln w="6350">
            <a:solidFill>
              <a:schemeClr val="tx1">
                <a:alpha val="20000"/>
                <a:lumMod val="40000"/>
                <a:lumOff val="60000"/>
              </a:schemeClr>
            </a:solidFill>
          </a:ln>
        </p:spPr>
      </p:pic>
      <p:sp>
        <p:nvSpPr>
          <p:cNvPr id="6" name="AutoShape 6"/>
          <p:cNvSpPr/>
          <p:nvPr/>
        </p:nvSpPr>
        <p:spPr>
          <a:xfrm>
            <a:off x="10771929" y="5468954"/>
            <a:ext cx="167489" cy="167489"/>
          </a:xfrm>
          <a:prstGeom prst="ellipse">
            <a:avLst/>
          </a:prstGeom>
          <a:solidFill>
            <a:schemeClr val="accent5">
              <a:lumMod val="60000"/>
              <a:lumOff val="40000"/>
            </a:schemeClr>
          </a:solidFill>
          <a:ln>
            <a:noFill/>
          </a:ln>
        </p:spPr>
        <p:txBody>
          <a:bodyPr vert="horz" lIns="91440" tIns="45720" rIns="91440" bIns="45720" anchor="ctr"/>
          <a:lstStyle/>
          <a:p>
            <a:pPr marL="0" algn="ctr"/>
            <a:endParaRPr/>
          </a:p>
        </p:txBody>
      </p:sp>
      <p:grpSp>
        <p:nvGrpSpPr>
          <p:cNvPr id="7" name="Group 7"/>
          <p:cNvGrpSpPr/>
          <p:nvPr/>
        </p:nvGrpSpPr>
        <p:grpSpPr>
          <a:xfrm>
            <a:off x="828040" y="1834175"/>
            <a:ext cx="5039360" cy="3413760"/>
            <a:chOff x="1304" y="2888"/>
            <a:chExt cx="7936" cy="5376"/>
          </a:xfrm>
        </p:grpSpPr>
        <p:sp>
          <p:nvSpPr>
            <p:cNvPr id="8" name="TextBox 8"/>
            <p:cNvSpPr txBox="1"/>
            <p:nvPr/>
          </p:nvSpPr>
          <p:spPr>
            <a:xfrm>
              <a:off x="1304" y="3738"/>
              <a:ext cx="7937" cy="4526"/>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a:solidFill>
                    <a:srgbClr val="262626"/>
                  </a:solidFill>
                  <a:latin typeface="思源黑体 Normal"/>
                  <a:ea typeface="思源黑体 Normal"/>
                </a:rPr>
                <a:t>People must understand how AI reaches recommendations and when to trust or challenge them. This highlights the societal need for transparent systems, human-in-the-loop oversight, and responsible AI deployment.</a:t>
              </a:r>
              <a:endParaRPr lang="en-US" sz="1100"/>
            </a:p>
          </p:txBody>
        </p:sp>
        <p:sp>
          <p:nvSpPr>
            <p:cNvPr id="9" name="TextBox 9"/>
            <p:cNvSpPr txBox="1"/>
            <p:nvPr/>
          </p:nvSpPr>
          <p:spPr>
            <a:xfrm>
              <a:off x="1304" y="2888"/>
              <a:ext cx="7937" cy="8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a:solidFill>
                    <a:srgbClr val="79C942"/>
                  </a:solidFill>
                  <a:latin typeface="思源黑体 Normal"/>
                  <a:ea typeface="思源黑体 Normal"/>
                </a:rPr>
                <a:t>The Need for Transparent Systems</a:t>
              </a:r>
              <a:endParaRPr lang="en-US" sz="1100"/>
            </a:p>
          </p:txBody>
        </p:sp>
      </p:grpSp>
      <p:sp>
        <p:nvSpPr>
          <p:cNvPr id="10" name="Freeform 10"/>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79C942"/>
          </a:solidFill>
        </p:spPr>
        <p:txBody>
          <a:bodyPr/>
          <a:lstStyle/>
          <a:p>
            <a:endParaRPr lang="en-US"/>
          </a:p>
        </p:txBody>
      </p:sp>
      <p:sp>
        <p:nvSpPr>
          <p:cNvPr id="11" name="TextBox 11"/>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a:ln/>
                <a:solidFill>
                  <a:srgbClr val="79C942"/>
                </a:solidFill>
                <a:latin typeface="思源黑体 Normal"/>
                <a:ea typeface="思源黑体 Normal"/>
              </a:rPr>
              <a:t>Trust and Governance as Central Issues</a:t>
            </a:r>
            <a:endParaRPr lang="en-US" sz="1100"/>
          </a:p>
        </p:txBody>
      </p:sp>
      <p:sp>
        <p:nvSpPr>
          <p:cNvPr id="12" name="AutoShape 12"/>
          <p:cNvSpPr/>
          <p:nvPr/>
        </p:nvSpPr>
        <p:spPr>
          <a:xfrm>
            <a:off x="6172573" y="771847"/>
            <a:ext cx="5538415" cy="5538415"/>
          </a:xfrm>
          <a:prstGeom prst="ellipse">
            <a:avLst/>
          </a:prstGeom>
          <a:noFill/>
          <a:ln w="9525">
            <a:solidFill>
              <a:schemeClr val="accent1"/>
            </a:solidFill>
          </a:ln>
        </p:spPr>
        <p:txBody>
          <a:bodyPr vert="horz" lIns="91440" tIns="45720" rIns="91440" bIns="45720" anchor="ctr"/>
          <a:lstStyle/>
          <a:p>
            <a:pPr marL="0" algn="ctr"/>
            <a:endParaRPr/>
          </a:p>
        </p:txBody>
      </p:sp>
      <p:sp>
        <p:nvSpPr>
          <p:cNvPr id="13" name="AutoShape 13"/>
          <p:cNvSpPr/>
          <p:nvPr/>
        </p:nvSpPr>
        <p:spPr>
          <a:xfrm>
            <a:off x="6538384" y="1497281"/>
            <a:ext cx="582202" cy="582202"/>
          </a:xfrm>
          <a:prstGeom prst="ellipse">
            <a:avLst/>
          </a:prstGeom>
          <a:solidFill>
            <a:schemeClr val="accent5">
              <a:lumMod val="60000"/>
              <a:lumOff val="40000"/>
            </a:schemeClr>
          </a:solidFill>
          <a:ln>
            <a:noFill/>
          </a:ln>
        </p:spPr>
        <p:txBody>
          <a:bodyPr vert="horz" lIns="91440" tIns="45720" rIns="91440" bIns="45720" anchor="ctr"/>
          <a:lstStyle/>
          <a:p>
            <a:pPr marL="0" algn="ctr"/>
            <a:endParaRPr/>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2" fill="hold" nodeType="afterEffect">
                                  <p:stCondLst>
                                    <p:cond delay="0"/>
                                  </p:stCondLst>
                                  <p:childTnLst>
                                    <p:anim calcmode="lin" valueType="num">
                                      <p:cBhvr additive="base">
                                        <p:cTn id="6" dur="2000" fill="hold"/>
                                        <p:tgtEl>
                                          <p:spTgt spid="11"/>
                                        </p:tgtEl>
                                        <p:attrNameLst>
                                          <p:attrName>ppt_x</p:attrName>
                                        </p:attrNameLst>
                                      </p:cBhvr>
                                      <p:tavLst>
                                        <p:tav tm="0">
                                          <p:val>
                                            <p:strVal val="1+#ppt_w/2"/>
                                          </p:val>
                                        </p:tav>
                                        <p:tav tm="100000">
                                          <p:val>
                                            <p:strVal val="#ppt_x"/>
                                          </p:val>
                                        </p:tav>
                                      </p:tavLst>
                                    </p:anim>
                                    <p:anim calcmode="lin" valueType="num">
                                      <p:cBhvr additive="base">
                                        <p:cTn id="7" dur="2000" fill="hold"/>
                                        <p:tgtEl>
                                          <p:spTgt spid="11"/>
                                        </p:tgtEl>
                                        <p:attrNameLst>
                                          <p:attrName>ppt_y</p:attrName>
                                        </p:attrNameLst>
                                      </p:cBhvr>
                                      <p:tavLst>
                                        <p:tav tm="0">
                                          <p:val>
                                            <p:strVal val="#ppt_y"/>
                                          </p:val>
                                        </p:tav>
                                        <p:tav tm="100000">
                                          <p:val>
                                            <p:strVal val="#ppt_y"/>
                                          </p:val>
                                        </p:tav>
                                      </p:tavLst>
                                    </p:anim>
                                    <p:set>
                                      <p:cBhvr>
                                        <p:cTn id="8" dur="2000" fill="hold">
                                          <p:stCondLst>
                                            <p:cond delay="0"/>
                                          </p:stCondLst>
                                        </p:cTn>
                                        <p:tgtEl>
                                          <p:spTgt spid="11"/>
                                        </p:tgtEl>
                                        <p:attrNameLst>
                                          <p:attrName>style.visibility</p:attrName>
                                        </p:attrNameLst>
                                      </p:cBhvr>
                                      <p:to>
                                        <p:strVal val="visible"/>
                                      </p:to>
                                    </p:set>
                                  </p:childTnLst>
                                </p:cTn>
                              </p:par>
                            </p:childTnLst>
                          </p:cTn>
                        </p:par>
                        <p:par>
                          <p:cTn id="9" fill="hold">
                            <p:stCondLst>
                              <p:cond delay="0"/>
                            </p:stCondLst>
                            <p:childTnLst>
                              <p:par>
                                <p:cTn id="10" presetID="18" presetClass="entr" presetSubtype="6" fill="hold" nodeType="afterEffect">
                                  <p:stCondLst>
                                    <p:cond delay="0"/>
                                  </p:stCondLst>
                                  <p:childTnLst>
                                    <p:animEffect transition="in" filter="strips(downRight)">
                                      <p:cBhvr>
                                        <p:cTn id="11" dur="500"/>
                                        <p:tgtEl>
                                          <p:spTgt spid="9"/>
                                        </p:tgtEl>
                                      </p:cBhvr>
                                    </p:animEffect>
                                    <p:set>
                                      <p:cBhvr>
                                        <p:cTn id="12" dur="500" fill="hold">
                                          <p:stCondLst>
                                            <p:cond delay="0"/>
                                          </p:stCondLst>
                                        </p:cTn>
                                        <p:tgtEl>
                                          <p:spTgt spid="9"/>
                                        </p:tgtEl>
                                        <p:attrNameLst>
                                          <p:attrName>style.visibility</p:attrName>
                                        </p:attrNameLst>
                                      </p:cBhvr>
                                      <p:to>
                                        <p:strVal val="visible"/>
                                      </p:to>
                                    </p:set>
                                  </p:childTnLst>
                                </p:cTn>
                              </p:par>
                            </p:childTnLst>
                          </p:cTn>
                        </p:par>
                        <p:par>
                          <p:cTn id="13" fill="hold">
                            <p:stCondLst>
                              <p:cond delay="0"/>
                            </p:stCondLst>
                            <p:childTnLst>
                              <p:par>
                                <p:cTn id="14" presetID="6" presetClass="entr" presetSubtype="16" fill="hold" nodeType="afterEffect">
                                  <p:stCondLst>
                                    <p:cond delay="0"/>
                                  </p:stCondLst>
                                  <p:childTnLst>
                                    <p:animEffect transition="in" filter="circle(in)">
                                      <p:cBhvr>
                                        <p:cTn id="15" dur="1000"/>
                                        <p:tgtEl>
                                          <p:spTgt spid="8"/>
                                        </p:tgtEl>
                                      </p:cBhvr>
                                    </p:animEffect>
                                    <p:set>
                                      <p:cBhvr>
                                        <p:cTn id="16" dur="1000"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23" presetClass="entr" presetSubtype="272" fill="hold" nodeType="afterEffect">
                                  <p:stCondLst>
                                    <p:cond delay="0"/>
                                  </p:stCondLst>
                                  <p:childTnLst>
                                    <p:anim calcmode="lin" valueType="num">
                                      <p:cBhvr>
                                        <p:cTn id="19" dur="500" fill="hold"/>
                                        <p:tgtEl>
                                          <p:spTgt spid="5"/>
                                        </p:tgtEl>
                                        <p:attrNameLst>
                                          <p:attrName>ppt_w</p:attrName>
                                        </p:attrNameLst>
                                      </p:cBhvr>
                                      <p:tavLst>
                                        <p:tav tm="0">
                                          <p:val>
                                            <p:strVal val="2/3*#ppt_w"/>
                                          </p:val>
                                        </p:tav>
                                        <p:tav tm="100000">
                                          <p:val>
                                            <p:strVal val="#ppt_w"/>
                                          </p:val>
                                        </p:tav>
                                      </p:tavLst>
                                    </p:anim>
                                    <p:anim calcmode="lin" valueType="num">
                                      <p:cBhvr>
                                        <p:cTn id="20" dur="500" fill="hold"/>
                                        <p:tgtEl>
                                          <p:spTgt spid="5"/>
                                        </p:tgtEl>
                                        <p:attrNameLst>
                                          <p:attrName>ppt_h</p:attrName>
                                        </p:attrNameLst>
                                      </p:cBhvr>
                                      <p:tavLst>
                                        <p:tav tm="0">
                                          <p:val>
                                            <p:strVal val="2/3*#ppt_h"/>
                                          </p:val>
                                        </p:tav>
                                        <p:tav tm="100000">
                                          <p:val>
                                            <p:strVal val="#ppt_h"/>
                                          </p:val>
                                        </p:tav>
                                      </p:tavLst>
                                    </p:anim>
                                    <p:set>
                                      <p:cBhvr>
                                        <p:cTn id="21" dur="500"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38672" y="1328765"/>
            <a:ext cx="6629193" cy="3485320"/>
          </a:xfrm>
          <a:prstGeom prst="rect">
            <a:avLst/>
          </a:prstGeom>
          <a:noFill/>
        </p:spPr>
        <p:txBody>
          <a:bodyPr vert="horz" wrap="square" lIns="0" tIns="0" rIns="0" bIns="0" rtlCol="0" anchor="ctr">
            <a:noAutofit/>
          </a:bodyPr>
          <a:lstStyle/>
          <a:p>
            <a:pPr marL="0" indent="0" algn="dist">
              <a:lnSpc>
                <a:spcPct val="100000"/>
              </a:lnSpc>
              <a:defRPr/>
            </a:pPr>
            <a:r>
              <a:rPr lang="en-US" sz="12800" b="1" i="0" u="none" baseline="0">
                <a:gradFill>
                  <a:gsLst>
                    <a:gs pos="4000">
                      <a:srgbClr val="1A6F6F"/>
                    </a:gs>
                    <a:gs pos="100000">
                      <a:srgbClr val="75C740"/>
                    </a:gs>
                  </a:gsLst>
                  <a:path path="circle">
                    <a:fillToRect r="100000" b="100000"/>
                  </a:path>
                  <a:tileRect l="-100000" t="-100000"/>
                </a:gradFill>
                <a:latin typeface="思源黑体 Medium"/>
                <a:ea typeface="思源黑体 Medium"/>
              </a:rPr>
              <a:t>Thanks</a:t>
            </a:r>
            <a:endParaRPr lang="en-US" sz="1100"/>
          </a:p>
        </p:txBody>
      </p:sp>
      <p:grpSp>
        <p:nvGrpSpPr>
          <p:cNvPr id="3" name="Group 3"/>
          <p:cNvGrpSpPr/>
          <p:nvPr/>
        </p:nvGrpSpPr>
        <p:grpSpPr>
          <a:xfrm>
            <a:off x="925195" y="3964305"/>
            <a:ext cx="6284525" cy="369570"/>
            <a:chOff x="263" y="6836"/>
            <a:chExt cx="10224" cy="582"/>
          </a:xfrm>
        </p:grpSpPr>
        <p:grpSp>
          <p:nvGrpSpPr>
            <p:cNvPr id="4" name="Group 4"/>
            <p:cNvGrpSpPr/>
            <p:nvPr/>
          </p:nvGrpSpPr>
          <p:grpSpPr>
            <a:xfrm>
              <a:off x="985" y="6836"/>
              <a:ext cx="9502" cy="582"/>
              <a:chOff x="3019546" y="3689857"/>
              <a:chExt cx="6034183" cy="369235"/>
            </a:xfrm>
            <a:noFill/>
          </p:grpSpPr>
          <p:sp>
            <p:nvSpPr>
              <p:cNvPr id="5" name="TextBox 5"/>
              <p:cNvSpPr txBox="1"/>
              <p:nvPr/>
            </p:nvSpPr>
            <p:spPr>
              <a:xfrm>
                <a:off x="3019546" y="3689857"/>
                <a:ext cx="1754222" cy="369235"/>
              </a:xfrm>
              <a:prstGeom prst="rect">
                <a:avLst/>
              </a:prstGeom>
              <a:noFill/>
              <a:ln>
                <a:noFill/>
              </a:ln>
            </p:spPr>
            <p:txBody>
              <a:bodyPr vert="horz" wrap="square" lIns="91440" tIns="45720" rIns="91440" bIns="45720" rtlCol="0" anchor="t">
                <a:spAutoFit/>
              </a:bodyPr>
              <a:lstStyle/>
              <a:p>
                <a:pPr marL="0" algn="l">
                  <a:defRPr/>
                </a:pPr>
                <a:r>
                  <a:rPr lang="en-US" altLang="zh-CN" sz="1800" b="0" i="0" u="none" baseline="0" dirty="0">
                    <a:solidFill>
                      <a:schemeClr val="tx1"/>
                    </a:solidFill>
                    <a:latin typeface="思源黑体 Normal"/>
                    <a:ea typeface="思源黑体 Normal"/>
                  </a:rPr>
                  <a:t>Jacob Appling</a:t>
                </a:r>
                <a:endParaRPr lang="en-US" sz="1100" dirty="0"/>
              </a:p>
            </p:txBody>
          </p:sp>
          <p:sp>
            <p:nvSpPr>
              <p:cNvPr id="6" name="AutoShape 6"/>
              <p:cNvSpPr/>
              <p:nvPr/>
            </p:nvSpPr>
            <p:spPr>
              <a:xfrm>
                <a:off x="5597752" y="3689857"/>
                <a:ext cx="3455977" cy="368300"/>
              </a:xfrm>
              <a:prstGeom prst="rect">
                <a:avLst/>
              </a:prstGeom>
              <a:noFill/>
              <a:ln>
                <a:noFill/>
              </a:ln>
            </p:spPr>
            <p:txBody>
              <a:bodyPr vert="horz" wrap="square" lIns="91440" tIns="45720" rIns="91440" bIns="45720" anchor="t">
                <a:spAutoFit/>
              </a:bodyPr>
              <a:lstStyle/>
              <a:p>
                <a:pPr marL="0" algn="l"/>
                <a:r>
                  <a:rPr lang="zh-CN" altLang="en-US" sz="1800" b="0" i="0" u="none" baseline="0" dirty="0">
                    <a:solidFill>
                      <a:schemeClr val="tx1"/>
                    </a:solidFill>
                    <a:latin typeface="思源黑体 Normal"/>
                    <a:ea typeface="思源黑体 Normal"/>
                  </a:rPr>
                  <a:t>Date:</a:t>
                </a:r>
                <a:r>
                  <a:rPr lang="en-US" sz="1800" b="0" i="0" u="none" baseline="0" dirty="0">
                    <a:solidFill>
                      <a:schemeClr val="tx1"/>
                    </a:solidFill>
                    <a:latin typeface="思源黑体 Normal"/>
                    <a:ea typeface="思源黑体 Normal"/>
                  </a:rPr>
                  <a:t>4/10/26</a:t>
                </a:r>
              </a:p>
            </p:txBody>
          </p:sp>
        </p:grpSp>
        <p:sp>
          <p:nvSpPr>
            <p:cNvPr id="7" name="AutoShape 7"/>
            <p:cNvSpPr/>
            <p:nvPr/>
          </p:nvSpPr>
          <p:spPr>
            <a:xfrm>
              <a:off x="263" y="6841"/>
              <a:ext cx="558" cy="558"/>
            </a:xfrm>
            <a:prstGeom prst="ellipse">
              <a:avLst/>
            </a:prstGeom>
            <a:solidFill>
              <a:srgbClr val="75BD42"/>
            </a:solidFill>
            <a:ln>
              <a:noFill/>
            </a:ln>
          </p:spPr>
          <p:txBody>
            <a:bodyPr vert="horz" lIns="91440" tIns="45720" rIns="91440" bIns="45720" anchor="ctr"/>
            <a:lstStyle/>
            <a:p>
              <a:pPr marL="0" algn="ctr"/>
              <a:endParaRPr/>
            </a:p>
          </p:txBody>
        </p:sp>
        <p:sp>
          <p:nvSpPr>
            <p:cNvPr id="8" name="AutoShape 8"/>
            <p:cNvSpPr/>
            <p:nvPr/>
          </p:nvSpPr>
          <p:spPr>
            <a:xfrm>
              <a:off x="4489" y="6852"/>
              <a:ext cx="558" cy="558"/>
            </a:xfrm>
            <a:prstGeom prst="ellipse">
              <a:avLst/>
            </a:prstGeom>
            <a:solidFill>
              <a:srgbClr val="75BD42"/>
            </a:solidFill>
            <a:ln>
              <a:noFill/>
            </a:ln>
          </p:spPr>
          <p:txBody>
            <a:bodyPr vert="horz" lIns="91440" tIns="45720" rIns="91440" bIns="45720" anchor="ctr"/>
            <a:lstStyle/>
            <a:p>
              <a:pPr marL="0" algn="ctr"/>
              <a:endParaRPr/>
            </a:p>
          </p:txBody>
        </p:sp>
      </p:gr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anim calcmode="lin" valueType="num">
                                      <p:cBhvr>
                                        <p:cTn id="6" dur="10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7" dur="1000" fill="hold"/>
                                        <p:tgtEl>
                                          <p:spTgt spid="2"/>
                                        </p:tgtEl>
                                        <p:attrNameLst>
                                          <p:attrName>ppt_y</p:attrName>
                                        </p:attrNameLst>
                                      </p:cBhvr>
                                      <p:tavLst>
                                        <p:tav tm="0">
                                          <p:val>
                                            <p:strVal val="#ppt_y"/>
                                          </p:val>
                                        </p:tav>
                                        <p:tav tm="100000">
                                          <p:val>
                                            <p:strVal val="#ppt_y"/>
                                          </p:val>
                                        </p:tav>
                                      </p:tavLst>
                                    </p:anim>
                                    <p:anim calcmode="lin" valueType="num">
                                      <p:cBhvr>
                                        <p:cTn id="8" dur="10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9" dur="10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0" dur="1000" tmFilter="0,0; .5, 1; 1, 1"/>
                                        <p:tgtEl>
                                          <p:spTgt spid="2"/>
                                        </p:tgtEl>
                                      </p:cBhvr>
                                    </p:animEffect>
                                    <p:set>
                                      <p:cBhvr>
                                        <p:cTn id="11" dur="100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rgbClr val="262626"/>
      </a:dk1>
      <a:lt1>
        <a:srgbClr val="FFFFFF"/>
      </a:lt1>
      <a:dk2>
        <a:srgbClr val="79C942"/>
      </a:dk2>
      <a:lt2>
        <a:srgbClr val="FFFFFF"/>
      </a:lt2>
      <a:accent1>
        <a:srgbClr val="79C942"/>
      </a:accent1>
      <a:accent2>
        <a:srgbClr val="79C942"/>
      </a:accent2>
      <a:accent3>
        <a:srgbClr val="79C942"/>
      </a:accent3>
      <a:accent4>
        <a:srgbClr val="79C942"/>
      </a:accent4>
      <a:accent5>
        <a:srgbClr val="79C942"/>
      </a:accent5>
      <a:accent6>
        <a:srgbClr val="79C942"/>
      </a:accent6>
      <a:hlink>
        <a:srgbClr val="262626"/>
      </a:hlink>
      <a:folHlink>
        <a:srgbClr val="262626"/>
      </a:folHlink>
    </a:clrScheme>
    <a:fontScheme name="Office">
      <a:majorFont>
        <a:latin typeface="思源黑体 Normal"/>
        <a:ea typeface="思源黑体 Normal"/>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思源黑体 Normal"/>
        <a:ea typeface="思源黑体 Normal"/>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503</Words>
  <Application>Microsoft Office PowerPoint</Application>
  <PresentationFormat>Widescreen</PresentationFormat>
  <Paragraphs>55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Microsoft YaHei</vt:lpstr>
      <vt:lpstr>Arial</vt:lpstr>
      <vt:lpstr>思源黑体 Medium</vt:lpstr>
      <vt:lpstr>思源黑体 Normal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Jacob Appling</cp:lastModifiedBy>
  <cp:revision>2</cp:revision>
  <dcterms:created xsi:type="dcterms:W3CDTF">2026-04-10T18:38:13Z</dcterms:created>
  <dcterms:modified xsi:type="dcterms:W3CDTF">2026-04-10T18:38:59Z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y fmtid="{D5CDD505-2E9C-101B-9397-08002B2CF9AE}" pid="4" name="AIGC">
    <vt:lpwstr>{"ContentPropagator":"文多多","Label":"1","ReservedCode1":"1775846293944","ProduceID":"wenduoduo-pptx-1775846293944","ReservedCode2":"1775846293944","PropagateID":"wenduoduo-pptx1775846293944","ContentProducer":"文多多"}</vt:lpwstr>
  </property>
</Properties>
</file>
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3FE96B-6BCA-6A16-DF62-51B2B542E6D1}" v="73" dt="2026-01-30T14:12:38.1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51604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11643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4566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31090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98235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8604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11268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6933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64282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68806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1/30/2026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5660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1/30/2026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78800143"/>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8BEC44CD-E290-4D60-A056-5BA05B182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40E07D40-A245-9D21-990E-163093592FF5}"/>
              </a:ext>
            </a:extLst>
          </p:cNvPr>
          <p:cNvPicPr>
            <a:picLocks noChangeAspect="1"/>
          </p:cNvPicPr>
          <p:nvPr/>
        </p:nvPicPr>
        <p:blipFill>
          <a:blip r:embed="rId2">
            <a:alphaModFix amt="40000"/>
          </a:blip>
          <a:srcRect t="25000"/>
          <a:stretch>
            <a:fillRect/>
          </a:stretch>
        </p:blipFill>
        <p:spPr>
          <a:xfrm>
            <a:off x="-2" y="-4"/>
            <a:ext cx="12192001" cy="6858001"/>
          </a:xfrm>
          <a:prstGeom prst="rect">
            <a:avLst/>
          </a:prstGeom>
        </p:spPr>
      </p:pic>
      <p:sp>
        <p:nvSpPr>
          <p:cNvPr id="2" name="Title 1"/>
          <p:cNvSpPr>
            <a:spLocks noGrp="1"/>
          </p:cNvSpPr>
          <p:nvPr>
            <p:ph type="ctrTitle"/>
          </p:nvPr>
        </p:nvSpPr>
        <p:spPr>
          <a:xfrm>
            <a:off x="517870" y="978408"/>
            <a:ext cx="10628720" cy="2450592"/>
          </a:xfrm>
        </p:spPr>
        <p:txBody>
          <a:bodyPr vert="horz" lIns="91440" tIns="45720" rIns="91440" bIns="45720" rtlCol="0" anchor="t">
            <a:noAutofit/>
          </a:bodyPr>
          <a:lstStyle/>
          <a:p>
            <a:r>
              <a:rPr lang="en-US" b="0" dirty="0"/>
              <a:t>Could Artificial General Intelligence Become a Reality?</a:t>
            </a:r>
            <a:endParaRPr lang="en-US" dirty="0"/>
          </a:p>
          <a:p>
            <a:pPr>
              <a:lnSpc>
                <a:spcPct val="90000"/>
              </a:lnSpc>
            </a:pPr>
            <a:endParaRPr lang="en-US" sz="5100" dirty="0">
              <a:solidFill>
                <a:srgbClr val="FFFFFF"/>
              </a:solidFill>
              <a:latin typeface="Segoe UI"/>
              <a:cs typeface="Segoe UI"/>
            </a:endParaRPr>
          </a:p>
        </p:txBody>
      </p:sp>
      <p:sp>
        <p:nvSpPr>
          <p:cNvPr id="3" name="Subtitle 2"/>
          <p:cNvSpPr>
            <a:spLocks noGrp="1"/>
          </p:cNvSpPr>
          <p:nvPr>
            <p:ph type="subTitle" idx="1"/>
          </p:nvPr>
        </p:nvSpPr>
        <p:spPr>
          <a:xfrm>
            <a:off x="6652366" y="4017818"/>
            <a:ext cx="5040785" cy="1828799"/>
          </a:xfrm>
        </p:spPr>
        <p:txBody>
          <a:bodyPr anchor="b">
            <a:normAutofit/>
          </a:bodyPr>
          <a:lstStyle/>
          <a:p>
            <a:r>
              <a:rPr lang="en-US" sz="2400" dirty="0">
                <a:solidFill>
                  <a:srgbClr val="FFFFFF"/>
                </a:solidFill>
              </a:rPr>
              <a:t>Week of January 26</a:t>
            </a:r>
          </a:p>
          <a:p>
            <a:r>
              <a:rPr lang="en-US" sz="2400" dirty="0">
                <a:solidFill>
                  <a:srgbClr val="FFFFFF"/>
                </a:solidFill>
              </a:rPr>
              <a:t>Jacob Appling</a:t>
            </a:r>
          </a:p>
        </p:txBody>
      </p:sp>
      <p:sp>
        <p:nvSpPr>
          <p:cNvPr id="24" name="Rectangle 23">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DC23DC2D-0DFD-B0BD-C646-933B6D10DB32}"/>
              </a:ext>
            </a:extLst>
          </p:cNvPr>
          <p:cNvSpPr>
            <a:spLocks noGrp="1"/>
          </p:cNvSpPr>
          <p:nvPr>
            <p:ph type="title"/>
          </p:nvPr>
        </p:nvSpPr>
        <p:spPr>
          <a:xfrm>
            <a:off x="521208" y="5452716"/>
            <a:ext cx="9714522" cy="812410"/>
          </a:xfrm>
        </p:spPr>
        <p:txBody>
          <a:bodyPr>
            <a:normAutofit/>
          </a:bodyPr>
          <a:lstStyle/>
          <a:p>
            <a:r>
              <a:rPr lang="en-US" sz="2000" dirty="0"/>
              <a:t>Article #4 (Row 4 via Google Sheet)</a:t>
            </a:r>
          </a:p>
        </p:txBody>
      </p:sp>
      <p:sp>
        <p:nvSpPr>
          <p:cNvPr id="13" name="Freeform: Shape 12">
            <a:extLst>
              <a:ext uri="{FF2B5EF4-FFF2-40B4-BE49-F238E27FC236}">
                <a16:creationId xmlns:a16="http://schemas.microsoft.com/office/drawing/2014/main" id="{B6914053-73D7-E377-E88C-94E35AAD48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 name="Picture 1" descr="A screenshot of a computer&#10;&#10;AI-generated content may be incorrect.">
            <a:extLst>
              <a:ext uri="{FF2B5EF4-FFF2-40B4-BE49-F238E27FC236}">
                <a16:creationId xmlns:a16="http://schemas.microsoft.com/office/drawing/2014/main" id="{FCBB1618-21BC-EC34-B57D-1E49CB3F7ED0}"/>
              </a:ext>
            </a:extLst>
          </p:cNvPr>
          <p:cNvPicPr>
            <a:picLocks noChangeAspect="1"/>
          </p:cNvPicPr>
          <p:nvPr/>
        </p:nvPicPr>
        <p:blipFill>
          <a:blip r:embed="rId2"/>
          <a:stretch>
            <a:fillRect/>
          </a:stretch>
        </p:blipFill>
        <p:spPr>
          <a:xfrm>
            <a:off x="518014" y="933817"/>
            <a:ext cx="7639050" cy="3876675"/>
          </a:xfrm>
          <a:prstGeom prst="rect">
            <a:avLst/>
          </a:prstGeom>
        </p:spPr>
      </p:pic>
    </p:spTree>
    <p:extLst>
      <p:ext uri="{BB962C8B-B14F-4D97-AF65-F5344CB8AC3E}">
        <p14:creationId xmlns:p14="http://schemas.microsoft.com/office/powerpoint/2010/main" val="2777920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710FC-6EAE-BA9C-1641-3B63159CE6B4}"/>
              </a:ext>
            </a:extLst>
          </p:cNvPr>
          <p:cNvSpPr>
            <a:spLocks noGrp="1"/>
          </p:cNvSpPr>
          <p:nvPr>
            <p:ph type="title"/>
          </p:nvPr>
        </p:nvSpPr>
        <p:spPr/>
        <p:txBody>
          <a:bodyPr/>
          <a:lstStyle/>
          <a:p>
            <a:r>
              <a:rPr lang="en-US" dirty="0"/>
              <a:t>Link to the Source    </a:t>
            </a:r>
          </a:p>
        </p:txBody>
      </p:sp>
      <p:sp>
        <p:nvSpPr>
          <p:cNvPr id="3" name="Content Placeholder 2">
            <a:extLst>
              <a:ext uri="{FF2B5EF4-FFF2-40B4-BE49-F238E27FC236}">
                <a16:creationId xmlns:a16="http://schemas.microsoft.com/office/drawing/2014/main" id="{B3D4E899-76A9-7A08-8C46-D08850176F0C}"/>
              </a:ext>
            </a:extLst>
          </p:cNvPr>
          <p:cNvSpPr>
            <a:spLocks noGrp="1"/>
          </p:cNvSpPr>
          <p:nvPr>
            <p:ph idx="1"/>
          </p:nvPr>
        </p:nvSpPr>
        <p:spPr/>
        <p:txBody>
          <a:bodyPr vert="horz" lIns="91440" tIns="45720" rIns="91440" bIns="45720" rtlCol="0" anchor="t">
            <a:normAutofit/>
          </a:bodyPr>
          <a:lstStyle/>
          <a:p>
            <a:r>
              <a:rPr lang="en-US" sz="2800" dirty="0">
                <a:solidFill>
                  <a:srgbClr val="1155CC"/>
                </a:solidFill>
                <a:ea typeface="+mn-lt"/>
                <a:cs typeface="+mn-lt"/>
              </a:rPr>
              <a:t>https://edtechmagazine.com/k12/article/2025/12/could-artificial-general-intelligence-become-reality</a:t>
            </a:r>
            <a:endParaRPr lang="en-US" sz="2800" u="sng" dirty="0">
              <a:solidFill>
                <a:srgbClr val="1155CC"/>
              </a:solidFill>
              <a:latin typeface="Arial"/>
              <a:cs typeface="Arial"/>
            </a:endParaRPr>
          </a:p>
        </p:txBody>
      </p:sp>
    </p:spTree>
    <p:extLst>
      <p:ext uri="{BB962C8B-B14F-4D97-AF65-F5344CB8AC3E}">
        <p14:creationId xmlns:p14="http://schemas.microsoft.com/office/powerpoint/2010/main" val="2821818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C0A62-D915-1CA6-8C2A-76FBC0EE7B96}"/>
              </a:ext>
            </a:extLst>
          </p:cNvPr>
          <p:cNvSpPr>
            <a:spLocks noGrp="1"/>
          </p:cNvSpPr>
          <p:nvPr>
            <p:ph type="title"/>
          </p:nvPr>
        </p:nvSpPr>
        <p:spPr>
          <a:xfrm>
            <a:off x="521208" y="802562"/>
            <a:ext cx="11155680" cy="740117"/>
          </a:xfrm>
        </p:spPr>
        <p:txBody>
          <a:bodyPr>
            <a:normAutofit fontScale="90000"/>
          </a:bodyPr>
          <a:lstStyle/>
          <a:p>
            <a:r>
              <a:rPr lang="en-US" dirty="0"/>
              <a:t>Main Findings</a:t>
            </a:r>
          </a:p>
        </p:txBody>
      </p:sp>
      <p:sp>
        <p:nvSpPr>
          <p:cNvPr id="3" name="Content Placeholder 2">
            <a:extLst>
              <a:ext uri="{FF2B5EF4-FFF2-40B4-BE49-F238E27FC236}">
                <a16:creationId xmlns:a16="http://schemas.microsoft.com/office/drawing/2014/main" id="{5A9EB02B-DC8F-5BE0-79DB-2C3117E5AE21}"/>
              </a:ext>
            </a:extLst>
          </p:cNvPr>
          <p:cNvSpPr>
            <a:spLocks noGrp="1"/>
          </p:cNvSpPr>
          <p:nvPr>
            <p:ph idx="1"/>
          </p:nvPr>
        </p:nvSpPr>
        <p:spPr>
          <a:xfrm>
            <a:off x="521208" y="1416070"/>
            <a:ext cx="11155680" cy="4607481"/>
          </a:xfrm>
        </p:spPr>
        <p:txBody>
          <a:bodyPr vert="horz" lIns="91440" tIns="45720" rIns="91440" bIns="45720" rtlCol="0" anchor="t">
            <a:noAutofit/>
          </a:bodyPr>
          <a:lstStyle/>
          <a:p>
            <a:r>
              <a:rPr lang="en-US" b="1" dirty="0">
                <a:solidFill>
                  <a:srgbClr val="242424"/>
                </a:solidFill>
                <a:highlight>
                  <a:srgbClr val="FFFFFF"/>
                </a:highlight>
                <a:latin typeface="Segoe UI"/>
                <a:cs typeface="Segoe UI"/>
              </a:rPr>
              <a:t>Definition and Current State:</a:t>
            </a:r>
            <a:r>
              <a:rPr lang="en-US" sz="2000" dirty="0">
                <a:solidFill>
                  <a:srgbClr val="242424"/>
                </a:solidFill>
                <a:highlight>
                  <a:srgbClr val="FFFFFF"/>
                </a:highlight>
                <a:latin typeface="Segoe UI"/>
                <a:cs typeface="Segoe UI"/>
              </a:rPr>
              <a:t> The article explains Artificial General Intelligence (AGI) as AI systems capable of broad human-level problem-solving—not just narrow tasks like current generative AI. AGI remains undefined by consensus, but generally implies reasoning, planning, sensing, and acting across varied domains. </a:t>
            </a:r>
            <a:endParaRPr lang="en-US" sz="2000" dirty="0"/>
          </a:p>
          <a:p>
            <a:r>
              <a:rPr lang="en-US" sz="2000" b="1" dirty="0">
                <a:solidFill>
                  <a:srgbClr val="242424"/>
                </a:solidFill>
                <a:highlight>
                  <a:srgbClr val="FFFFFF"/>
                </a:highlight>
                <a:latin typeface="Segoe UI"/>
                <a:cs typeface="Segoe UI"/>
              </a:rPr>
              <a:t>Progress and Debate: </a:t>
            </a:r>
            <a:r>
              <a:rPr lang="en-US" sz="2000" dirty="0">
                <a:solidFill>
                  <a:srgbClr val="242424"/>
                </a:solidFill>
                <a:highlight>
                  <a:srgbClr val="FFFFFF"/>
                </a:highlight>
                <a:latin typeface="Segoe UI"/>
                <a:cs typeface="Segoe UI"/>
              </a:rPr>
              <a:t>Some recent AI models (e.g., GPT-4.5) show impressive abilities—passing the Turing Test in limited settings—yet researchers agree this does not prove true human-level intelligence. Current systems still struggle with deep reasoning, long-term planning, and alignment with human values. </a:t>
            </a:r>
            <a:endParaRPr lang="en-US" sz="2000" dirty="0"/>
          </a:p>
          <a:p>
            <a:r>
              <a:rPr lang="en-US" sz="2000" b="1" dirty="0">
                <a:solidFill>
                  <a:srgbClr val="242424"/>
                </a:solidFill>
                <a:highlight>
                  <a:srgbClr val="FFFFFF"/>
                </a:highlight>
                <a:latin typeface="Segoe UI"/>
                <a:cs typeface="Segoe UI"/>
              </a:rPr>
              <a:t>Requirements for AGI:</a:t>
            </a:r>
            <a:r>
              <a:rPr lang="en-US" sz="2000" dirty="0">
                <a:solidFill>
                  <a:srgbClr val="242424"/>
                </a:solidFill>
                <a:highlight>
                  <a:srgbClr val="FFFFFF"/>
                </a:highlight>
                <a:latin typeface="Segoe UI"/>
                <a:cs typeface="Segoe UI"/>
              </a:rPr>
              <a:t> Achieving AGI will require significant breakthroughs: new algorithms, improved memory/context handling, real-world awareness, and possibly new computing paradigms. </a:t>
            </a:r>
            <a:endParaRPr lang="en-US" sz="2000" dirty="0"/>
          </a:p>
          <a:p>
            <a:r>
              <a:rPr lang="en-US" sz="2000" b="1" dirty="0">
                <a:solidFill>
                  <a:srgbClr val="242424"/>
                </a:solidFill>
                <a:highlight>
                  <a:srgbClr val="FFFFFF"/>
                </a:highlight>
                <a:latin typeface="Segoe UI"/>
                <a:cs typeface="Segoe UI"/>
              </a:rPr>
              <a:t>Potential in Education:</a:t>
            </a:r>
            <a:r>
              <a:rPr lang="en-US" sz="2000" dirty="0">
                <a:solidFill>
                  <a:srgbClr val="242424"/>
                </a:solidFill>
                <a:highlight>
                  <a:srgbClr val="FFFFFF"/>
                </a:highlight>
                <a:latin typeface="Segoe UI"/>
                <a:cs typeface="Segoe UI"/>
              </a:rPr>
              <a:t> If realized, AGI could transform teaching and learning—acting as adaptive tutors and learning partners, reshaping personalized instruction, custom assessments, and emphasizing higher-order skills like critical thinking and human-AI collaboration. </a:t>
            </a:r>
            <a:endParaRPr lang="en-US" sz="2000" dirty="0"/>
          </a:p>
          <a:p>
            <a:endParaRPr lang="en-US" dirty="0"/>
          </a:p>
        </p:txBody>
      </p:sp>
    </p:spTree>
    <p:extLst>
      <p:ext uri="{BB962C8B-B14F-4D97-AF65-F5344CB8AC3E}">
        <p14:creationId xmlns:p14="http://schemas.microsoft.com/office/powerpoint/2010/main" val="2898071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75790-8890-3628-B7DD-81E1954290AD}"/>
              </a:ext>
            </a:extLst>
          </p:cNvPr>
          <p:cNvSpPr>
            <a:spLocks noGrp="1"/>
          </p:cNvSpPr>
          <p:nvPr>
            <p:ph type="title"/>
          </p:nvPr>
        </p:nvSpPr>
        <p:spPr>
          <a:xfrm>
            <a:off x="521208" y="763485"/>
            <a:ext cx="11155680" cy="720579"/>
          </a:xfrm>
        </p:spPr>
        <p:txBody>
          <a:bodyPr>
            <a:normAutofit/>
          </a:bodyPr>
          <a:lstStyle/>
          <a:p>
            <a:r>
              <a:rPr lang="en-US" sz="4000" dirty="0">
                <a:solidFill>
                  <a:srgbClr val="242424"/>
                </a:solidFill>
                <a:latin typeface="Segoe UI"/>
                <a:cs typeface="Segoe UI"/>
              </a:rPr>
              <a:t>Broader implications for society</a:t>
            </a:r>
            <a:endParaRPr lang="en-US" sz="4000" b="0" dirty="0">
              <a:solidFill>
                <a:srgbClr val="242424"/>
              </a:solidFill>
              <a:latin typeface="Segoe UI"/>
              <a:cs typeface="Segoe UI"/>
            </a:endParaRPr>
          </a:p>
        </p:txBody>
      </p:sp>
      <p:sp>
        <p:nvSpPr>
          <p:cNvPr id="3" name="Content Placeholder 2">
            <a:extLst>
              <a:ext uri="{FF2B5EF4-FFF2-40B4-BE49-F238E27FC236}">
                <a16:creationId xmlns:a16="http://schemas.microsoft.com/office/drawing/2014/main" id="{91F7E37E-6308-33F8-8F93-FC5CF544A68A}"/>
              </a:ext>
            </a:extLst>
          </p:cNvPr>
          <p:cNvSpPr>
            <a:spLocks noGrp="1"/>
          </p:cNvSpPr>
          <p:nvPr>
            <p:ph idx="1"/>
          </p:nvPr>
        </p:nvSpPr>
        <p:spPr>
          <a:xfrm>
            <a:off x="521208" y="1679839"/>
            <a:ext cx="11155680" cy="4666097"/>
          </a:xfrm>
        </p:spPr>
        <p:txBody>
          <a:bodyPr vert="horz" lIns="91440" tIns="45720" rIns="91440" bIns="45720" rtlCol="0" anchor="t">
            <a:noAutofit/>
          </a:bodyPr>
          <a:lstStyle/>
          <a:p>
            <a:r>
              <a:rPr lang="en-US" b="1" dirty="0">
                <a:solidFill>
                  <a:srgbClr val="242424"/>
                </a:solidFill>
                <a:highlight>
                  <a:srgbClr val="FFFFFF"/>
                </a:highlight>
                <a:latin typeface="Segoe UI"/>
                <a:cs typeface="Segoe UI"/>
              </a:rPr>
              <a:t>Transformative Impact:</a:t>
            </a:r>
            <a:r>
              <a:rPr lang="en-US" sz="2000" dirty="0">
                <a:solidFill>
                  <a:srgbClr val="242424"/>
                </a:solidFill>
                <a:highlight>
                  <a:srgbClr val="FFFFFF"/>
                </a:highlight>
                <a:latin typeface="Segoe UI"/>
                <a:cs typeface="Segoe UI"/>
              </a:rPr>
              <a:t> AGI promises to fundamentally change fields such as education by enabling deeply personalized learning and potentially redefining the roles of educators and learners alike. </a:t>
            </a:r>
          </a:p>
          <a:p>
            <a:r>
              <a:rPr lang="en-US" b="1" dirty="0">
                <a:solidFill>
                  <a:srgbClr val="242424"/>
                </a:solidFill>
                <a:highlight>
                  <a:srgbClr val="FFFFFF"/>
                </a:highlight>
                <a:latin typeface="Segoe UI"/>
                <a:cs typeface="Segoe UI"/>
              </a:rPr>
              <a:t>Governance and Ethics:</a:t>
            </a:r>
            <a:r>
              <a:rPr lang="en-US" sz="2000" dirty="0">
                <a:solidFill>
                  <a:srgbClr val="242424"/>
                </a:solidFill>
                <a:highlight>
                  <a:srgbClr val="FFFFFF"/>
                </a:highlight>
                <a:latin typeface="Segoe UI"/>
                <a:cs typeface="Segoe UI"/>
              </a:rPr>
              <a:t> The article highlights that safety standards, ethical guidelines, and governance systems must be developed in tandem with AGI to mitigate risks—especially around fairness, accountability, and alignment with human values. </a:t>
            </a:r>
          </a:p>
          <a:p>
            <a:r>
              <a:rPr lang="en-US" b="1" dirty="0">
                <a:solidFill>
                  <a:srgbClr val="242424"/>
                </a:solidFill>
                <a:highlight>
                  <a:srgbClr val="FFFFFF"/>
                </a:highlight>
                <a:latin typeface="Segoe UI"/>
                <a:cs typeface="Segoe UI"/>
              </a:rPr>
              <a:t>Uncertain Timeline:</a:t>
            </a:r>
            <a:r>
              <a:rPr lang="en-US" sz="2000" dirty="0">
                <a:solidFill>
                  <a:srgbClr val="242424"/>
                </a:solidFill>
                <a:highlight>
                  <a:srgbClr val="FFFFFF"/>
                </a:highlight>
                <a:latin typeface="Segoe UI"/>
                <a:cs typeface="Segoe UI"/>
              </a:rPr>
              <a:t> Experts emphasize timing is unclear—AGI might eventually emerge, but not necessarily soon or predictably without major scientific and technological advances. </a:t>
            </a:r>
          </a:p>
          <a:p>
            <a:r>
              <a:rPr lang="en-US" b="1" dirty="0">
                <a:solidFill>
                  <a:srgbClr val="242424"/>
                </a:solidFill>
                <a:highlight>
                  <a:srgbClr val="FFFFFF"/>
                </a:highlight>
                <a:latin typeface="Segoe UI"/>
                <a:cs typeface="Segoe UI"/>
              </a:rPr>
              <a:t>Contrasting Views (Wider Context):</a:t>
            </a:r>
            <a:r>
              <a:rPr lang="en-US" sz="2000" dirty="0">
                <a:solidFill>
                  <a:srgbClr val="242424"/>
                </a:solidFill>
                <a:highlight>
                  <a:srgbClr val="FFFFFF"/>
                </a:highlight>
                <a:latin typeface="Segoe UI"/>
                <a:cs typeface="Segoe UI"/>
              </a:rPr>
              <a:t> Separate discourse in tech circles (e.g., DeepMind and others) shows tension between optimism about AGI’s potential for societal benefit and concerns about existential or misuse risks. (e.g., experts warn of infrastructure threats and call for careful regulation.) </a:t>
            </a:r>
          </a:p>
        </p:txBody>
      </p:sp>
    </p:spTree>
    <p:extLst>
      <p:ext uri="{BB962C8B-B14F-4D97-AF65-F5344CB8AC3E}">
        <p14:creationId xmlns:p14="http://schemas.microsoft.com/office/powerpoint/2010/main" val="2496355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24BB7-78A4-A9DA-7DA1-9EB2C8A6DE93}"/>
              </a:ext>
            </a:extLst>
          </p:cNvPr>
          <p:cNvSpPr>
            <a:spLocks noGrp="1"/>
          </p:cNvSpPr>
          <p:nvPr>
            <p:ph type="title"/>
          </p:nvPr>
        </p:nvSpPr>
        <p:spPr>
          <a:xfrm>
            <a:off x="521208" y="673608"/>
            <a:ext cx="11155680" cy="1463040"/>
          </a:xfrm>
        </p:spPr>
        <p:txBody>
          <a:bodyPr>
            <a:normAutofit/>
          </a:bodyPr>
          <a:lstStyle/>
          <a:p>
            <a:r>
              <a:rPr lang="en-US" sz="4000" dirty="0">
                <a:solidFill>
                  <a:srgbClr val="242424"/>
                </a:solidFill>
                <a:latin typeface="Segoe UI"/>
                <a:cs typeface="Segoe UI"/>
              </a:rPr>
              <a:t>Relevance and potential influence on the construction industry</a:t>
            </a:r>
            <a:endParaRPr lang="en-US" sz="4000" b="0" dirty="0">
              <a:solidFill>
                <a:srgbClr val="242424"/>
              </a:solidFill>
              <a:latin typeface="Segoe UI"/>
              <a:cs typeface="Segoe UI"/>
            </a:endParaRPr>
          </a:p>
        </p:txBody>
      </p:sp>
      <p:sp>
        <p:nvSpPr>
          <p:cNvPr id="3" name="Content Placeholder 2">
            <a:extLst>
              <a:ext uri="{FF2B5EF4-FFF2-40B4-BE49-F238E27FC236}">
                <a16:creationId xmlns:a16="http://schemas.microsoft.com/office/drawing/2014/main" id="{6C5EF147-DC52-21BF-3341-DF3BD5996821}"/>
              </a:ext>
            </a:extLst>
          </p:cNvPr>
          <p:cNvSpPr>
            <a:spLocks noGrp="1"/>
          </p:cNvSpPr>
          <p:nvPr>
            <p:ph idx="1"/>
          </p:nvPr>
        </p:nvSpPr>
        <p:spPr>
          <a:xfrm>
            <a:off x="521208" y="2138994"/>
            <a:ext cx="11155680" cy="4705172"/>
          </a:xfrm>
        </p:spPr>
        <p:txBody>
          <a:bodyPr vert="horz" lIns="91440" tIns="45720" rIns="91440" bIns="45720" rtlCol="0" anchor="t">
            <a:noAutofit/>
          </a:bodyPr>
          <a:lstStyle/>
          <a:p>
            <a:pPr marL="171450" indent="-171450"/>
            <a:r>
              <a:rPr lang="en-US" b="1" dirty="0">
                <a:solidFill>
                  <a:srgbClr val="242424"/>
                </a:solidFill>
                <a:highlight>
                  <a:srgbClr val="FFFFFF"/>
                </a:highlight>
                <a:latin typeface="Segoe UI"/>
                <a:cs typeface="Segoe UI"/>
              </a:rPr>
              <a:t>Future of Design &amp; Planning</a:t>
            </a:r>
            <a:r>
              <a:rPr lang="en-US" dirty="0">
                <a:solidFill>
                  <a:srgbClr val="242424"/>
                </a:solidFill>
                <a:highlight>
                  <a:srgbClr val="FFFFFF"/>
                </a:highlight>
                <a:latin typeface="Segoe UI"/>
                <a:cs typeface="Segoe UI"/>
              </a:rPr>
              <a:t>: AGI could revolutionize building design, construction planning, and simulation by reasoning across complex datasets—optimizing structural layouts, sustainability, and schedule coordination in ways far beyond current tools.</a:t>
            </a:r>
            <a:endParaRPr lang="en-US">
              <a:solidFill>
                <a:srgbClr val="000000"/>
              </a:solidFill>
              <a:latin typeface="Bierstadt"/>
              <a:cs typeface="Segoe UI"/>
            </a:endParaRPr>
          </a:p>
          <a:p>
            <a:pPr marL="171450" indent="-171450"/>
            <a:r>
              <a:rPr lang="en-US" b="1" dirty="0">
                <a:solidFill>
                  <a:srgbClr val="242424"/>
                </a:solidFill>
                <a:highlight>
                  <a:srgbClr val="FFFFFF"/>
                </a:highlight>
                <a:latin typeface="Segoe UI"/>
                <a:cs typeface="Segoe UI"/>
              </a:rPr>
              <a:t>Automation &amp; Robotics Integration:</a:t>
            </a:r>
            <a:r>
              <a:rPr lang="en-US" dirty="0">
                <a:solidFill>
                  <a:srgbClr val="242424"/>
                </a:solidFill>
                <a:highlight>
                  <a:srgbClr val="FFFFFF"/>
                </a:highlight>
                <a:latin typeface="Segoe UI"/>
                <a:cs typeface="Segoe UI"/>
              </a:rPr>
              <a:t> With true AGI, construction could see smarter autonomous robots capable of adapting in real-time to physical environments, improving safety, efficiency, and on-site decision-making.</a:t>
            </a:r>
            <a:endParaRPr lang="en-US" dirty="0">
              <a:solidFill>
                <a:srgbClr val="000000"/>
              </a:solidFill>
              <a:latin typeface="Bierstadt"/>
              <a:cs typeface="Segoe UI"/>
            </a:endParaRPr>
          </a:p>
          <a:p>
            <a:pPr marL="171450" indent="-171450"/>
            <a:r>
              <a:rPr lang="en-US" b="1" dirty="0">
                <a:solidFill>
                  <a:srgbClr val="242424"/>
                </a:solidFill>
                <a:highlight>
                  <a:srgbClr val="FFFFFF"/>
                </a:highlight>
                <a:latin typeface="Segoe UI"/>
                <a:cs typeface="Segoe UI"/>
              </a:rPr>
              <a:t>Skills &amp; Workforce:</a:t>
            </a:r>
            <a:r>
              <a:rPr lang="en-US" dirty="0">
                <a:solidFill>
                  <a:srgbClr val="242424"/>
                </a:solidFill>
                <a:highlight>
                  <a:srgbClr val="FFFFFF"/>
                </a:highlight>
                <a:latin typeface="Segoe UI"/>
                <a:cs typeface="Segoe UI"/>
              </a:rPr>
              <a:t> As in education, AGI would heighten the importance of human-AI collaboration skills—construction professionals might focus more on oversight, problem framing, and creative problem solving rather than routine tasks.</a:t>
            </a:r>
            <a:endParaRPr lang="en-US">
              <a:solidFill>
                <a:srgbClr val="000000"/>
              </a:solidFill>
              <a:latin typeface="Bierstadt"/>
              <a:cs typeface="Segoe UI"/>
            </a:endParaRPr>
          </a:p>
          <a:p>
            <a:pPr marL="171450" indent="-171450"/>
            <a:r>
              <a:rPr lang="en-US" b="1" dirty="0">
                <a:solidFill>
                  <a:srgbClr val="242424"/>
                </a:solidFill>
                <a:highlight>
                  <a:srgbClr val="FFFFFF"/>
                </a:highlight>
                <a:latin typeface="Segoe UI"/>
                <a:cs typeface="Segoe UI"/>
              </a:rPr>
              <a:t>Governance &amp; Ethics:</a:t>
            </a:r>
            <a:r>
              <a:rPr lang="en-US" dirty="0">
                <a:solidFill>
                  <a:srgbClr val="242424"/>
                </a:solidFill>
                <a:highlight>
                  <a:srgbClr val="FFFFFF"/>
                </a:highlight>
                <a:latin typeface="Segoe UI"/>
                <a:cs typeface="Segoe UI"/>
              </a:rPr>
              <a:t> Construction’s heavy reliance on safety standards, compliance, and risk mitigation would make ethical and governance frameworks for AGI especially crucial to prevent misuse, bias, and unintended consequences on job roles and workplace safety.</a:t>
            </a:r>
          </a:p>
          <a:p>
            <a:endParaRPr lang="en-US" sz="1200" dirty="0">
              <a:solidFill>
                <a:srgbClr val="242424"/>
              </a:solidFill>
              <a:highlight>
                <a:srgbClr val="FFFFFF"/>
              </a:highlight>
              <a:latin typeface="Aptos"/>
              <a:cs typeface="Segoe UI"/>
            </a:endParaRPr>
          </a:p>
          <a:p>
            <a:pPr>
              <a:lnSpc>
                <a:spcPct val="100000"/>
              </a:lnSpc>
            </a:pPr>
            <a:endParaRPr lang="en-US" sz="1200" b="1" dirty="0">
              <a:solidFill>
                <a:srgbClr val="242424"/>
              </a:solidFill>
              <a:highlight>
                <a:srgbClr val="FFFFFF"/>
              </a:highlight>
              <a:latin typeface="Segoe UI"/>
              <a:cs typeface="Segoe UI"/>
            </a:endParaRPr>
          </a:p>
        </p:txBody>
      </p:sp>
    </p:spTree>
    <p:extLst>
      <p:ext uri="{BB962C8B-B14F-4D97-AF65-F5344CB8AC3E}">
        <p14:creationId xmlns:p14="http://schemas.microsoft.com/office/powerpoint/2010/main" val="2114938638"/>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GestaltVTI</vt:lpstr>
      <vt:lpstr>Could Artificial General Intelligence Become a Reality? </vt:lpstr>
      <vt:lpstr>Article #4 (Row 4 via Google Sheet)</vt:lpstr>
      <vt:lpstr>Link to the Source    </vt:lpstr>
      <vt:lpstr>Main Findings</vt:lpstr>
      <vt:lpstr>Broader implications for society</vt:lpstr>
      <vt:lpstr>Relevance and potential influence on the construction industry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145</cp:revision>
  <dcterms:created xsi:type="dcterms:W3CDTF">2026-01-21T18:15:53Z</dcterms:created>
  <dcterms:modified xsi:type="dcterms:W3CDTF">2026-01-30T18:32:23Z</dcterms:modified>
</cp:coreProperties>
</file>
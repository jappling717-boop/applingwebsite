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Quattrocento Sans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7ARV8GMNjDySiovMg8mAi5fCX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attrocentoSans-bold.fntdata"/><Relationship Id="rId12" Type="http://schemas.openxmlformats.org/officeDocument/2006/relationships/font" Target="fonts/QuattrocentoSans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QuattrocentoSans-boldItalic.fntdata"/><Relationship Id="rId14" Type="http://schemas.openxmlformats.org/officeDocument/2006/relationships/font" Target="fonts/QuattrocentoSans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/>
          <p:nvPr/>
        </p:nvSpPr>
        <p:spPr>
          <a:xfrm>
            <a:off x="517870" y="6209925"/>
            <a:ext cx="11155680" cy="45719"/>
          </a:xfrm>
          <a:custGeom>
            <a:rect b="b" l="l" r="r" t="t"/>
            <a:pathLst>
              <a:path extrusionOk="0" h="45719" w="8715708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 txBox="1"/>
          <p:nvPr>
            <p:ph type="ctrTitle"/>
          </p:nvPr>
        </p:nvSpPr>
        <p:spPr>
          <a:xfrm>
            <a:off x="521208" y="978408"/>
            <a:ext cx="1115568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subTitle"/>
          </p:nvPr>
        </p:nvSpPr>
        <p:spPr>
          <a:xfrm>
            <a:off x="521208" y="4480560"/>
            <a:ext cx="7104888" cy="13990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i="1" sz="22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0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517870" y="6209925"/>
            <a:ext cx="11155680" cy="45719"/>
          </a:xfrm>
          <a:custGeom>
            <a:rect b="b" l="l" r="r" t="t"/>
            <a:pathLst>
              <a:path extrusionOk="0" h="45719" w="8715708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9"/>
          <p:cNvSpPr txBox="1"/>
          <p:nvPr>
            <p:ph type="ctrTitle"/>
          </p:nvPr>
        </p:nvSpPr>
        <p:spPr>
          <a:xfrm>
            <a:off x="521208" y="978408"/>
            <a:ext cx="1115568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521208" y="4480560"/>
            <a:ext cx="7104888" cy="13990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i="1" sz="22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9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521208" y="978408"/>
            <a:ext cx="5020056" cy="42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" type="body"/>
          </p:nvPr>
        </p:nvSpPr>
        <p:spPr>
          <a:xfrm>
            <a:off x="521208" y="5266944"/>
            <a:ext cx="5020056" cy="1088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200"/>
              <a:buNone/>
              <a:defRPr i="1" sz="22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2"/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521208" y="2578608"/>
            <a:ext cx="516636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2" type="body"/>
          </p:nvPr>
        </p:nvSpPr>
        <p:spPr>
          <a:xfrm>
            <a:off x="6519672" y="2578608"/>
            <a:ext cx="516636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521208" y="978408"/>
            <a:ext cx="11164824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521208" y="2340864"/>
            <a:ext cx="5166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0" i="1" sz="2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14"/>
          <p:cNvSpPr txBox="1"/>
          <p:nvPr>
            <p:ph idx="2" type="body"/>
          </p:nvPr>
        </p:nvSpPr>
        <p:spPr>
          <a:xfrm>
            <a:off x="521208" y="3035808"/>
            <a:ext cx="5166360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3" type="body"/>
          </p:nvPr>
        </p:nvSpPr>
        <p:spPr>
          <a:xfrm>
            <a:off x="6519672" y="2340864"/>
            <a:ext cx="5166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b="0" i="1" sz="2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4"/>
          <p:cNvSpPr txBox="1"/>
          <p:nvPr>
            <p:ph idx="4" type="body"/>
          </p:nvPr>
        </p:nvSpPr>
        <p:spPr>
          <a:xfrm>
            <a:off x="6519672" y="3035808"/>
            <a:ext cx="5166360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521208" y="978408"/>
            <a:ext cx="5020056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6519672" y="987424"/>
            <a:ext cx="5166360" cy="5358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521208" y="3575304"/>
            <a:ext cx="50200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i="1" sz="2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521208" y="978408"/>
            <a:ext cx="5020056" cy="2459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/>
          <p:nvPr>
            <p:ph idx="2" type="pic"/>
          </p:nvPr>
        </p:nvSpPr>
        <p:spPr>
          <a:xfrm>
            <a:off x="6519672" y="987424"/>
            <a:ext cx="5166360" cy="5358384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521208" y="3575304"/>
            <a:ext cx="5020056" cy="2770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i="1" sz="22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 rot="5400000">
            <a:off x="4215384" y="-1115568"/>
            <a:ext cx="3767328" cy="11155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 rot="5400000">
            <a:off x="7251192" y="2386584"/>
            <a:ext cx="5367528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" type="body"/>
          </p:nvPr>
        </p:nvSpPr>
        <p:spPr>
          <a:xfrm rot="5400000">
            <a:off x="1842516" y="-342900"/>
            <a:ext cx="5367528" cy="8010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20"/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8"/>
          <p:cNvSpPr/>
          <p:nvPr/>
        </p:nvSpPr>
        <p:spPr>
          <a:xfrm>
            <a:off x="517869" y="508090"/>
            <a:ext cx="11153214" cy="149279"/>
          </a:xfrm>
          <a:custGeom>
            <a:rect b="b" l="l" r="r" t="t"/>
            <a:pathLst>
              <a:path extrusionOk="0" h="149279" w="8085002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7"/>
          <p:cNvSpPr txBox="1"/>
          <p:nvPr>
            <p:ph idx="1" type="body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7"/>
          <p:cNvSpPr txBox="1"/>
          <p:nvPr>
            <p:ph idx="10" type="dt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7"/>
          <p:cNvSpPr txBox="1"/>
          <p:nvPr>
            <p:ph idx="11" type="ftr"/>
          </p:nvPr>
        </p:nvSpPr>
        <p:spPr>
          <a:xfrm>
            <a:off x="521208" y="10058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517869" y="508090"/>
            <a:ext cx="11153214" cy="149279"/>
          </a:xfrm>
          <a:custGeom>
            <a:rect b="b" l="l" r="r" t="t"/>
            <a:pathLst>
              <a:path extrusionOk="0" h="149279" w="8085002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 amt="40000"/>
          </a:blip>
          <a:srcRect b="0" l="0" r="0" t="25000"/>
          <a:stretch/>
        </p:blipFill>
        <p:spPr>
          <a:xfrm>
            <a:off x="-2" y="-4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>
            <p:ph type="ctrTitle"/>
          </p:nvPr>
        </p:nvSpPr>
        <p:spPr>
          <a:xfrm>
            <a:off x="517870" y="978408"/>
            <a:ext cx="10628720" cy="2450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0" lang="en-US" sz="7000">
                <a:latin typeface="Merriweather"/>
                <a:ea typeface="Merriweather"/>
                <a:cs typeface="Merriweather"/>
                <a:sym typeface="Merriweather"/>
              </a:rPr>
              <a:t>The AI Disruption W</a:t>
            </a:r>
            <a:r>
              <a:rPr b="0" lang="en-US" sz="7000">
                <a:latin typeface="Merriweather"/>
                <a:ea typeface="Merriweather"/>
                <a:cs typeface="Merriweather"/>
                <a:sym typeface="Merriweather"/>
              </a:rPr>
              <a:t>e've</a:t>
            </a:r>
            <a:r>
              <a:rPr b="0" lang="en-US" sz="7000">
                <a:latin typeface="Merriweather"/>
                <a:ea typeface="Merriweather"/>
                <a:cs typeface="Merriweather"/>
                <a:sym typeface="Merriweather"/>
              </a:rPr>
              <a:t> Been Waiting For Has Arrived</a:t>
            </a:r>
            <a:endParaRPr sz="132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Arial"/>
              <a:buNone/>
            </a:pPr>
            <a:r>
              <a:t/>
            </a:r>
            <a:endParaRPr sz="51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6652366" y="4017818"/>
            <a:ext cx="5040785" cy="1828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 sz="2400">
                <a:solidFill>
                  <a:srgbClr val="FFFFFF"/>
                </a:solidFill>
              </a:rPr>
              <a:t>Week of March 15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 sz="2400">
                <a:solidFill>
                  <a:srgbClr val="FFFFFF"/>
                </a:solidFill>
              </a:rPr>
              <a:t>Jacob Appling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/>
          <p:nvPr/>
        </p:nvSpPr>
        <p:spPr>
          <a:xfrm>
            <a:off x="517869" y="508090"/>
            <a:ext cx="11153214" cy="149279"/>
          </a:xfrm>
          <a:custGeom>
            <a:rect b="b" l="l" r="r" t="t"/>
            <a:pathLst>
              <a:path extrusionOk="0" h="149279" w="8085002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17870" y="6209925"/>
            <a:ext cx="11155680" cy="45719"/>
          </a:xfrm>
          <a:custGeom>
            <a:rect b="b" l="l" r="r" t="t"/>
            <a:pathLst>
              <a:path extrusionOk="0" h="45719" w="8715708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>
            <p:ph type="title"/>
          </p:nvPr>
        </p:nvSpPr>
        <p:spPr>
          <a:xfrm>
            <a:off x="521208" y="5289381"/>
            <a:ext cx="7263804" cy="1008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Article #4 (Row 4 via Google Sheet)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517869" y="508090"/>
            <a:ext cx="11153214" cy="149279"/>
          </a:xfrm>
          <a:custGeom>
            <a:rect b="b" l="l" r="r" t="t"/>
            <a:pathLst>
              <a:path extrusionOk="0" h="149279" w="8085002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2" title="Screenshot 2026-03-21 at 11.45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79" y="752074"/>
            <a:ext cx="5788850" cy="36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 title="Screenshot 2026-03-21 at 11.45.3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5975" y="2386701"/>
            <a:ext cx="5945102" cy="209389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Link to the Source    </a:t>
            </a:r>
            <a:endParaRPr/>
          </a:p>
        </p:txBody>
      </p:sp>
      <p:sp>
        <p:nvSpPr>
          <p:cNvPr id="124" name="Google Shape;124;p3"/>
          <p:cNvSpPr txBox="1"/>
          <p:nvPr>
            <p:ph idx="1" type="body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800"/>
              <a:buChar char="•"/>
            </a:pPr>
            <a:r>
              <a:rPr lang="en-US" sz="2800">
                <a:solidFill>
                  <a:srgbClr val="1155CC"/>
                </a:solidFill>
              </a:rPr>
              <a:t>https://www.nytimes.com/2026/02/18/opinion/ai-software.html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521208" y="802562"/>
            <a:ext cx="11155680" cy="740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Main Findings</a:t>
            </a:r>
            <a:endParaRPr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521208" y="1416070"/>
            <a:ext cx="11155680" cy="4607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article centers on </a:t>
            </a:r>
            <a:r>
              <a:rPr b="1" lang="en-US" sz="1600"/>
              <a:t>“vibe coding,”</a:t>
            </a:r>
            <a:r>
              <a:rPr lang="en-US" sz="1600"/>
              <a:t> which means creating software by giving prompts to A.I. tools instead of manually writing all the code.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author argues that </a:t>
            </a:r>
            <a:r>
              <a:rPr b="1" lang="en-US" sz="1600"/>
              <a:t>A.I. coding tools have improved dramatically</a:t>
            </a:r>
            <a:r>
              <a:rPr lang="en-US" sz="1600"/>
              <a:t>, especially in recent months, and can now build usable websites, apps, databases, and digital tools much faster than before.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 major finding is that </a:t>
            </a:r>
            <a:r>
              <a:rPr b="1" lang="en-US" sz="1600"/>
              <a:t>A.I. can complete work that once required teams of developers, designers, and months of labor</a:t>
            </a:r>
            <a:r>
              <a:rPr lang="en-US" sz="1600"/>
              <a:t>, often at a fraction of the cost.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author says the biggest disruption is not that A.I. code is perfect, but that it is often </a:t>
            </a:r>
            <a:r>
              <a:rPr b="1" lang="en-US" sz="1600"/>
              <a:t>fast, cheap, and good enough</a:t>
            </a:r>
            <a:r>
              <a:rPr lang="en-US" sz="1600"/>
              <a:t> to meet real needs.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article suggests this could </a:t>
            </a:r>
            <a:r>
              <a:rPr b="1" lang="en-US" sz="1600"/>
              <a:t>reduce demand for traditional software jobs</a:t>
            </a:r>
            <a:r>
              <a:rPr lang="en-US" sz="1600"/>
              <a:t>, especially for coders, designers, and other technical workers whose tasks can now be automated.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At the same time, the author argues that A.I. could </a:t>
            </a:r>
            <a:r>
              <a:rPr b="1" lang="en-US" sz="1600"/>
              <a:t>democratize software creation</a:t>
            </a:r>
            <a:r>
              <a:rPr lang="en-US" sz="1600"/>
              <a:t>, allowing more people to build tools for themselves without relying on expensive tech firms.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article also warns that A.I.-generated software has drawbacks, including </a:t>
            </a:r>
            <a:r>
              <a:rPr b="1" lang="en-US" sz="1600"/>
              <a:t>security risks, lower quality, cookie-cutter solutions, environmental costs, and worker burnout</a:t>
            </a:r>
            <a:r>
              <a:rPr lang="en-US" sz="1600"/>
              <a:t>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Overall, the author presents a mixed view: </a:t>
            </a:r>
            <a:r>
              <a:rPr b="1" lang="en-US" sz="1600"/>
              <a:t>A.I. coding is exciting and empowering, but also destabilizing and threatening to existing industries and careers.</a:t>
            </a:r>
            <a:endParaRPr b="1" sz="16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t/>
            </a:r>
            <a:endParaRPr sz="2000"/>
          </a:p>
          <a:p>
            <a:pPr indent="0" lvl="0" marL="2286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rgbClr val="242424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>
              <a:solidFill>
                <a:srgbClr val="242424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521208" y="763485"/>
            <a:ext cx="11155680" cy="720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4000"/>
              <a:buFont typeface="Quattrocento Sans"/>
              <a:buNone/>
            </a:pPr>
            <a:r>
              <a:rPr lang="en-US" sz="4000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Broader implications for society</a:t>
            </a:r>
            <a:endParaRPr b="0" sz="4000">
              <a:solidFill>
                <a:srgbClr val="24242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521208" y="1679839"/>
            <a:ext cx="11155680" cy="4666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A.I. may reshape white-collar work far beyond software, affecting legal services, finance, insurance, real estate, healthcare, and project management.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technology could make many professional tasks </a:t>
            </a:r>
            <a:r>
              <a:rPr b="1" lang="en-US" sz="1600"/>
              <a:t>faster, cheaper, and more accessible</a:t>
            </a:r>
            <a:r>
              <a:rPr lang="en-US" sz="1600"/>
              <a:t>, especially for individuals and small organizations with limited budgets.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More people may gain the ability to create their own tools, dashboards, reports, and apps, which could </a:t>
            </a:r>
            <a:r>
              <a:rPr b="1" lang="en-US" sz="1600"/>
              <a:t>increase productivity and innovation</a:t>
            </a:r>
            <a:r>
              <a:rPr lang="en-US" sz="1600"/>
              <a:t>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However, the article suggests society may also face </a:t>
            </a:r>
            <a:r>
              <a:rPr b="1" lang="en-US" sz="1600"/>
              <a:t>job displacement</a:t>
            </a:r>
            <a:r>
              <a:rPr lang="en-US" sz="1600"/>
              <a:t>, as many current roles may no longer be needed in the same way.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author raises concerns about </a:t>
            </a:r>
            <a:r>
              <a:rPr b="1" lang="en-US" sz="1600"/>
              <a:t>lack of regulation and governance</a:t>
            </a:r>
            <a:r>
              <a:rPr lang="en-US" sz="1600"/>
              <a:t>, arguing that the pace of A.I. development is moving faster than public policy.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There are also concerns about </a:t>
            </a:r>
            <a:r>
              <a:rPr b="1" lang="en-US" sz="1600"/>
              <a:t>environmental impact</a:t>
            </a:r>
            <a:r>
              <a:rPr lang="en-US" sz="1600"/>
              <a:t>, since large A.I. systems rely on data centers that consume major energy and water resources.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The article implies that society is entering a </a:t>
            </a:r>
            <a:r>
              <a:rPr b="1" lang="en-US" sz="1600"/>
              <a:t>“brakeless era”</a:t>
            </a:r>
            <a:r>
              <a:rPr lang="en-US" sz="1600"/>
              <a:t> where technological change is happening rapidly, whether people are ready or not.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/>
              <a:t>In the long term, the author believes the tradeoff may be worthwhile if A.I. helps people get </a:t>
            </a:r>
            <a:r>
              <a:rPr b="1" lang="en-US" sz="1600"/>
              <a:t>better tools, better systems, and less frustrating software</a:t>
            </a:r>
            <a:r>
              <a:rPr lang="en-US" sz="1600"/>
              <a:t> in everyday life.</a:t>
            </a:r>
            <a:endParaRPr b="1" sz="2200"/>
          </a:p>
          <a:p>
            <a:pPr indent="-50800" lvl="0" marL="2286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3400">
              <a:solidFill>
                <a:srgbClr val="242424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>
            <p:ph type="title"/>
          </p:nvPr>
        </p:nvSpPr>
        <p:spPr>
          <a:xfrm>
            <a:off x="521208" y="673608"/>
            <a:ext cx="111556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4000"/>
              <a:buFont typeface="Quattrocento Sans"/>
              <a:buNone/>
            </a:pPr>
            <a:r>
              <a:rPr lang="en-US" sz="4000">
                <a:solidFill>
                  <a:srgbClr val="2424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Relevance and potential influence on the construction industry</a:t>
            </a:r>
            <a:endParaRPr b="0" sz="4000">
              <a:solidFill>
                <a:srgbClr val="242424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2" name="Google Shape;142;p6"/>
          <p:cNvSpPr txBox="1"/>
          <p:nvPr>
            <p:ph idx="1" type="body"/>
          </p:nvPr>
        </p:nvSpPr>
        <p:spPr>
          <a:xfrm>
            <a:off x="521208" y="2138994"/>
            <a:ext cx="11155680" cy="47051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The article is highly relevant to construction because the industry depends on </a:t>
            </a:r>
            <a:r>
              <a:rPr b="1" lang="en-US" sz="1400"/>
              <a:t>software, project tracking, reporting, scheduling, and coordination tools</a:t>
            </a:r>
            <a:r>
              <a:rPr lang="en-US" sz="1400"/>
              <a:t> that are often slow, expensive, or difficult to customize.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A.I. could allow construction firms to create </a:t>
            </a:r>
            <a:r>
              <a:rPr b="1" lang="en-US" sz="1400"/>
              <a:t>custom dashboards, field reporting tools, safety trackers, cost databases, equipment logs, and project management apps</a:t>
            </a:r>
            <a:r>
              <a:rPr lang="en-US" sz="1400"/>
              <a:t> much more quickly and cheaply.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Smaller contractors and firms with limited budgets could benefit by using A.I. to build tools that were previously only affordable to large companies.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A.I.-generated tools could improve </a:t>
            </a:r>
            <a:r>
              <a:rPr b="1" lang="en-US" sz="1400"/>
              <a:t>communication between field teams, project managers, estimators, and owners</a:t>
            </a:r>
            <a:r>
              <a:rPr lang="en-US" sz="1400"/>
              <a:t> by making information easier to collect and share.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The technology could help firms automate repetitive administrative work such as </a:t>
            </a:r>
            <a:r>
              <a:rPr b="1" lang="en-US" sz="1400"/>
              <a:t>document organization, reporting, data migration, and workflow tracking</a:t>
            </a:r>
            <a:r>
              <a:rPr lang="en-US" sz="1400"/>
              <a:t>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In safety and operations, A.I. could support </a:t>
            </a:r>
            <a:r>
              <a:rPr b="1" lang="en-US" sz="1400"/>
              <a:t>faster analysis of incidents, trends, inspections, and compliance data</a:t>
            </a:r>
            <a:r>
              <a:rPr lang="en-US" sz="1400"/>
              <a:t>, helping companies make quicker decisions.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However, construction companies would still need human oversight because A.I.-generated tools may produce </a:t>
            </a:r>
            <a:r>
              <a:rPr b="1" lang="en-US" sz="1400"/>
              <a:t>errors, insecure systems, or poor solutions</a:t>
            </a:r>
            <a:r>
              <a:rPr lang="en-US" sz="1400"/>
              <a:t> if used without review.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The article suggests that construction professionals who learn to use A.I. effectively may gain an advantage, because they can </a:t>
            </a:r>
            <a:r>
              <a:rPr b="1" lang="en-US" sz="1400"/>
              <a:t>build or improve tools themselves instead of waiting on outside vendors or IT departments</a:t>
            </a:r>
            <a:r>
              <a:rPr lang="en-US" sz="1400"/>
              <a:t>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Overall, the potential influence on construction is significant: </a:t>
            </a:r>
            <a:r>
              <a:rPr b="1" lang="en-US" sz="1400"/>
              <a:t>A.I. could reduce software costs, speed up innovation, and improve decision-making</a:t>
            </a:r>
            <a:r>
              <a:rPr lang="en-US" sz="1400"/>
              <a:t>, but it will also require careful management, training, and quality control. </a:t>
            </a:r>
            <a:endParaRPr b="1" sz="3100">
              <a:solidFill>
                <a:srgbClr val="242424"/>
              </a:solidFill>
              <a:highlight>
                <a:srgbClr val="FFFFFF"/>
              </a:highlight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staltVTI">
  <a:themeElements>
    <a:clrScheme name="Gestalt">
      <a:dk1>
        <a:srgbClr val="000000"/>
      </a:dk1>
      <a:lt1>
        <a:srgbClr val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staltVTI">
  <a:themeElements>
    <a:clrScheme name="Gestalt">
      <a:dk1>
        <a:srgbClr val="000000"/>
      </a:dk1>
      <a:lt1>
        <a:srgbClr val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2026-01-21T18:15:53Z</dcterms:created>
</cp:coreProperties>
</file>
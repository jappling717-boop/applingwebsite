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70F9FC-37FE-2EB2-7460-AC206D61B0B8}" v="38" dt="2026-04-03T18:22:03.0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51604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11643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456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3109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98235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8604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1268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6933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428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6880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4/3/2026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5660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4/3/2026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880014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whitehouse.gov/presidential-actions/2025/12/eliminating-state-law-obstruction-of-national-artificial-intelligence-policy/"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8BEC44CD-E290-4D60-A056-5BA05B182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E07D40-A245-9D21-990E-163093592FF5}"/>
              </a:ext>
            </a:extLst>
          </p:cNvPr>
          <p:cNvPicPr>
            <a:picLocks noChangeAspect="1"/>
          </p:cNvPicPr>
          <p:nvPr/>
        </p:nvPicPr>
        <p:blipFill>
          <a:blip r:embed="rId2">
            <a:alphaModFix amt="40000"/>
          </a:blip>
          <a:srcRect t="25000"/>
          <a:stretch>
            <a:fillRect/>
          </a:stretch>
        </p:blipFill>
        <p:spPr>
          <a:xfrm>
            <a:off x="-2" y="-4"/>
            <a:ext cx="12192001" cy="6858001"/>
          </a:xfrm>
          <a:prstGeom prst="rect">
            <a:avLst/>
          </a:prstGeom>
        </p:spPr>
      </p:pic>
      <p:sp>
        <p:nvSpPr>
          <p:cNvPr id="2" name="Title 1"/>
          <p:cNvSpPr>
            <a:spLocks noGrp="1"/>
          </p:cNvSpPr>
          <p:nvPr>
            <p:ph type="ctrTitle"/>
          </p:nvPr>
        </p:nvSpPr>
        <p:spPr>
          <a:xfrm>
            <a:off x="517870" y="780852"/>
            <a:ext cx="10628720" cy="2450592"/>
          </a:xfrm>
        </p:spPr>
        <p:txBody>
          <a:bodyPr vert="horz" lIns="91440" tIns="45720" rIns="91440" bIns="45720" rtlCol="0" anchor="t">
            <a:noAutofit/>
          </a:bodyPr>
          <a:lstStyle/>
          <a:p>
            <a:r>
              <a:rPr lang="en-US" b="0"/>
              <a:t>ENSURING A NATIONAL POLICY FRAMEWORK FOR ARTIFICIAL INTELLIGENCE</a:t>
            </a:r>
            <a:endParaRPr lang="en-US"/>
          </a:p>
          <a:p>
            <a:endParaRPr lang="en-US" sz="6000" b="0" dirty="0">
              <a:ea typeface="+mj-lt"/>
              <a:cs typeface="+mj-lt"/>
            </a:endParaRPr>
          </a:p>
          <a:p>
            <a:endParaRPr lang="en-US" b="0" dirty="0"/>
          </a:p>
          <a:p>
            <a:endParaRPr lang="en-US" b="0" dirty="0"/>
          </a:p>
          <a:p>
            <a:pPr>
              <a:lnSpc>
                <a:spcPct val="90000"/>
              </a:lnSpc>
            </a:pPr>
            <a:endParaRPr lang="en-US" sz="5100" dirty="0">
              <a:solidFill>
                <a:srgbClr val="FFFFFF"/>
              </a:solidFill>
              <a:latin typeface="Segoe UI"/>
              <a:cs typeface="Segoe UI"/>
            </a:endParaRPr>
          </a:p>
        </p:txBody>
      </p:sp>
      <p:sp>
        <p:nvSpPr>
          <p:cNvPr id="3" name="Subtitle 2"/>
          <p:cNvSpPr>
            <a:spLocks noGrp="1"/>
          </p:cNvSpPr>
          <p:nvPr>
            <p:ph type="subTitle" idx="1"/>
          </p:nvPr>
        </p:nvSpPr>
        <p:spPr>
          <a:xfrm>
            <a:off x="7969403" y="4149522"/>
            <a:ext cx="5040785" cy="1828799"/>
          </a:xfrm>
        </p:spPr>
        <p:txBody>
          <a:bodyPr anchor="b">
            <a:normAutofit/>
          </a:bodyPr>
          <a:lstStyle/>
          <a:p>
            <a:r>
              <a:rPr lang="en-US" sz="2400">
                <a:solidFill>
                  <a:srgbClr val="FFFFFF"/>
                </a:solidFill>
              </a:rPr>
              <a:t>Week of March 30</a:t>
            </a:r>
            <a:endParaRPr lang="en-US">
              <a:solidFill>
                <a:srgbClr val="FFFFFF"/>
              </a:solidFill>
            </a:endParaRPr>
          </a:p>
          <a:p>
            <a:r>
              <a:rPr lang="en-US" sz="2400" dirty="0">
                <a:solidFill>
                  <a:srgbClr val="FFFFFF"/>
                </a:solidFill>
              </a:rPr>
              <a:t>Jacob Appling</a:t>
            </a:r>
            <a:endParaRPr lang="en-US" dirty="0"/>
          </a:p>
        </p:txBody>
      </p:sp>
      <p:sp>
        <p:nvSpPr>
          <p:cNvPr id="24" name="Rectangle 23">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1189494-2B67-46D2-93D6-A122A09BF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209925"/>
            <a:ext cx="5021183" cy="4571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Freeform: Shape 3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7" name="Rectangle 36">
            <a:extLst>
              <a:ext uri="{FF2B5EF4-FFF2-40B4-BE49-F238E27FC236}">
                <a16:creationId xmlns:a16="http://schemas.microsoft.com/office/drawing/2014/main" id="{C7EFAAB5-34A3-C2FC-70BA-7720CC8AD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DC23DC2D-0DFD-B0BD-C646-933B6D10DB32}"/>
              </a:ext>
            </a:extLst>
          </p:cNvPr>
          <p:cNvSpPr>
            <a:spLocks noGrp="1"/>
          </p:cNvSpPr>
          <p:nvPr>
            <p:ph type="title"/>
          </p:nvPr>
        </p:nvSpPr>
        <p:spPr>
          <a:xfrm>
            <a:off x="521208" y="5289381"/>
            <a:ext cx="7263804" cy="1008208"/>
          </a:xfrm>
        </p:spPr>
        <p:txBody>
          <a:bodyPr vert="horz" lIns="91440" tIns="45720" rIns="91440" bIns="45720" rtlCol="0" anchor="ctr">
            <a:normAutofit/>
          </a:bodyPr>
          <a:lstStyle/>
          <a:p>
            <a:pPr>
              <a:lnSpc>
                <a:spcPct val="90000"/>
              </a:lnSpc>
            </a:pPr>
            <a:r>
              <a:rPr lang="en-US" sz="1600"/>
              <a:t>Article #4 (Row 4 via Google Sheet)</a:t>
            </a:r>
          </a:p>
        </p:txBody>
      </p:sp>
      <p:sp>
        <p:nvSpPr>
          <p:cNvPr id="39" name="Freeform: Shape 38">
            <a:extLst>
              <a:ext uri="{FF2B5EF4-FFF2-40B4-BE49-F238E27FC236}">
                <a16:creationId xmlns:a16="http://schemas.microsoft.com/office/drawing/2014/main" id="{FDD57DDC-2075-7CBD-00B4-0A5FF0991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blue and white website&#10;&#10;AI-generated content may be incorrect.">
            <a:extLst>
              <a:ext uri="{FF2B5EF4-FFF2-40B4-BE49-F238E27FC236}">
                <a16:creationId xmlns:a16="http://schemas.microsoft.com/office/drawing/2014/main" id="{EBF9E600-4B1E-2EA1-47D1-E182F546830B}"/>
              </a:ext>
            </a:extLst>
          </p:cNvPr>
          <p:cNvPicPr>
            <a:picLocks noChangeAspect="1"/>
          </p:cNvPicPr>
          <p:nvPr/>
        </p:nvPicPr>
        <p:blipFill>
          <a:blip r:embed="rId2"/>
          <a:stretch>
            <a:fillRect/>
          </a:stretch>
        </p:blipFill>
        <p:spPr>
          <a:xfrm>
            <a:off x="686741" y="905524"/>
            <a:ext cx="9830741" cy="4040360"/>
          </a:xfrm>
          <a:prstGeom prst="rect">
            <a:avLst/>
          </a:prstGeom>
        </p:spPr>
      </p:pic>
    </p:spTree>
    <p:extLst>
      <p:ext uri="{BB962C8B-B14F-4D97-AF65-F5344CB8AC3E}">
        <p14:creationId xmlns:p14="http://schemas.microsoft.com/office/powerpoint/2010/main" val="2777920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710FC-6EAE-BA9C-1641-3B63159CE6B4}"/>
              </a:ext>
            </a:extLst>
          </p:cNvPr>
          <p:cNvSpPr>
            <a:spLocks noGrp="1"/>
          </p:cNvSpPr>
          <p:nvPr>
            <p:ph type="title"/>
          </p:nvPr>
        </p:nvSpPr>
        <p:spPr/>
        <p:txBody>
          <a:bodyPr/>
          <a:lstStyle/>
          <a:p>
            <a:r>
              <a:rPr lang="en-US" dirty="0"/>
              <a:t>Link to the Source    </a:t>
            </a:r>
          </a:p>
        </p:txBody>
      </p:sp>
      <p:sp>
        <p:nvSpPr>
          <p:cNvPr id="3" name="Content Placeholder 2">
            <a:extLst>
              <a:ext uri="{FF2B5EF4-FFF2-40B4-BE49-F238E27FC236}">
                <a16:creationId xmlns:a16="http://schemas.microsoft.com/office/drawing/2014/main" id="{B3D4E899-76A9-7A08-8C46-D08850176F0C}"/>
              </a:ext>
            </a:extLst>
          </p:cNvPr>
          <p:cNvSpPr>
            <a:spLocks noGrp="1"/>
          </p:cNvSpPr>
          <p:nvPr>
            <p:ph idx="1"/>
          </p:nvPr>
        </p:nvSpPr>
        <p:spPr/>
        <p:txBody>
          <a:bodyPr vert="horz" lIns="91440" tIns="45720" rIns="91440" bIns="45720" rtlCol="0" anchor="t">
            <a:normAutofit/>
          </a:bodyPr>
          <a:lstStyle/>
          <a:p>
            <a:r>
              <a:rPr lang="en-US" sz="2800" dirty="0">
                <a:solidFill>
                  <a:srgbClr val="1155CC"/>
                </a:solidFill>
                <a:ea typeface="+mn-lt"/>
                <a:cs typeface="+mn-lt"/>
                <a:hlinkClick r:id="rId2"/>
              </a:rPr>
              <a:t>https://www.whitehouse.gov/presidential-actions/2025/12/eliminating-state-law-obstruction-of-national-artificial-intelligence-policy/</a:t>
            </a:r>
            <a:endParaRPr lang="en-US"/>
          </a:p>
          <a:p>
            <a:endParaRPr lang="en-US" sz="2800" dirty="0">
              <a:solidFill>
                <a:srgbClr val="1155CC"/>
              </a:solidFill>
              <a:ea typeface="+mn-lt"/>
              <a:cs typeface="+mn-lt"/>
            </a:endParaRPr>
          </a:p>
        </p:txBody>
      </p:sp>
    </p:spTree>
    <p:extLst>
      <p:ext uri="{BB962C8B-B14F-4D97-AF65-F5344CB8AC3E}">
        <p14:creationId xmlns:p14="http://schemas.microsoft.com/office/powerpoint/2010/main" val="2821818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0A62-D915-1CA6-8C2A-76FBC0EE7B96}"/>
              </a:ext>
            </a:extLst>
          </p:cNvPr>
          <p:cNvSpPr>
            <a:spLocks noGrp="1"/>
          </p:cNvSpPr>
          <p:nvPr>
            <p:ph type="title"/>
          </p:nvPr>
        </p:nvSpPr>
        <p:spPr>
          <a:xfrm>
            <a:off x="521208" y="802562"/>
            <a:ext cx="11155680" cy="740117"/>
          </a:xfrm>
        </p:spPr>
        <p:txBody>
          <a:bodyPr>
            <a:normAutofit fontScale="90000"/>
          </a:bodyPr>
          <a:lstStyle/>
          <a:p>
            <a:r>
              <a:rPr lang="en-US" dirty="0"/>
              <a:t>Main Findings</a:t>
            </a:r>
          </a:p>
        </p:txBody>
      </p:sp>
      <p:sp>
        <p:nvSpPr>
          <p:cNvPr id="3" name="Content Placeholder 2">
            <a:extLst>
              <a:ext uri="{FF2B5EF4-FFF2-40B4-BE49-F238E27FC236}">
                <a16:creationId xmlns:a16="http://schemas.microsoft.com/office/drawing/2014/main" id="{5A9EB02B-DC8F-5BE0-79DB-2C3117E5AE21}"/>
              </a:ext>
            </a:extLst>
          </p:cNvPr>
          <p:cNvSpPr>
            <a:spLocks noGrp="1"/>
          </p:cNvSpPr>
          <p:nvPr>
            <p:ph idx="1"/>
          </p:nvPr>
        </p:nvSpPr>
        <p:spPr>
          <a:xfrm>
            <a:off x="521208" y="1416070"/>
            <a:ext cx="11155680" cy="4607481"/>
          </a:xfrm>
        </p:spPr>
        <p:txBody>
          <a:bodyPr vert="horz" lIns="91440" tIns="45720" rIns="91440" bIns="45720" rtlCol="0" anchor="t">
            <a:noAutofit/>
          </a:bodyPr>
          <a:lstStyle/>
          <a:p>
            <a:r>
              <a:rPr lang="en-US">
                <a:solidFill>
                  <a:srgbClr val="000000"/>
                </a:solidFill>
                <a:highlight>
                  <a:srgbClr val="FFFFFF"/>
                </a:highlight>
                <a:latin typeface="Segoe UI"/>
                <a:cs typeface="Segoe UI"/>
              </a:rPr>
              <a:t>The order says the U.S. is in a strategic competition for AI leadership and must reduce barriers to innovation.</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It criticizes state-by-state AI regulation as creating a confusing patchwork of rules that makes compliance difficult.</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It argues some state laws may force AI systems to change or suppress truthful outputs, which the order frames as ideological bias or even deceptive conduct.</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It creates an AI Litigation Task Force in the Justice Department to challenge state AI laws seen as inconsistent with federal policy.</a:t>
            </a:r>
            <a:endParaRPr lang="en-US">
              <a:solidFill>
                <a:srgbClr val="000000"/>
              </a:solidFill>
              <a:highlight>
                <a:srgbClr val="606060"/>
              </a:highlight>
              <a:latin typeface="Segoe UI"/>
              <a:cs typeface="Segoe UI"/>
            </a:endParaRPr>
          </a:p>
          <a:p>
            <a:r>
              <a:rPr lang="en-US" dirty="0">
                <a:solidFill>
                  <a:srgbClr val="000000"/>
                </a:solidFill>
                <a:highlight>
                  <a:srgbClr val="FFFFFF"/>
                </a:highlight>
                <a:latin typeface="Segoe UI"/>
                <a:cs typeface="Segoe UI"/>
              </a:rPr>
              <a:t>It directs the Commerce Department to review state AI laws and identify ones considered too burdensome.</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It also proposes using federal funding pressure by limiting some grants or broadband-related funds for states with disfavored AI laws.</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The order pushes toward future federal legislation that would preempt conflicting state AI laws, while still allowing states to regulate some areas like child safety, AI infrastructure, and state government use of AI.</a:t>
            </a:r>
            <a:endParaRPr lang="en-US">
              <a:solidFill>
                <a:srgbClr val="000000"/>
              </a:solidFill>
              <a:highlight>
                <a:srgbClr val="606060"/>
              </a:highlight>
              <a:latin typeface="Segoe UI"/>
              <a:cs typeface="Segoe UI"/>
            </a:endParaRPr>
          </a:p>
          <a:p>
            <a:endParaRPr lang="en-US" sz="2000" dirty="0">
              <a:solidFill>
                <a:srgbClr val="242424"/>
              </a:solidFill>
              <a:highlight>
                <a:srgbClr val="606060"/>
              </a:highlight>
              <a:latin typeface="Aptos"/>
              <a:cs typeface="Segoe UI"/>
            </a:endParaRPr>
          </a:p>
          <a:p>
            <a:endParaRPr lang="en-US" sz="1400"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898071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75790-8890-3628-B7DD-81E1954290AD}"/>
              </a:ext>
            </a:extLst>
          </p:cNvPr>
          <p:cNvSpPr>
            <a:spLocks noGrp="1"/>
          </p:cNvSpPr>
          <p:nvPr>
            <p:ph type="title"/>
          </p:nvPr>
        </p:nvSpPr>
        <p:spPr>
          <a:xfrm>
            <a:off x="521208" y="763485"/>
            <a:ext cx="11155680" cy="720579"/>
          </a:xfrm>
        </p:spPr>
        <p:txBody>
          <a:bodyPr>
            <a:normAutofit/>
          </a:bodyPr>
          <a:lstStyle/>
          <a:p>
            <a:r>
              <a:rPr lang="en-US" sz="4000" dirty="0">
                <a:solidFill>
                  <a:srgbClr val="242424"/>
                </a:solidFill>
                <a:latin typeface="Segoe UI"/>
                <a:cs typeface="Segoe UI"/>
              </a:rPr>
              <a:t>Broader implications for society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91F7E37E-6308-33F8-8F93-FC5CF544A68A}"/>
              </a:ext>
            </a:extLst>
          </p:cNvPr>
          <p:cNvSpPr>
            <a:spLocks noGrp="1"/>
          </p:cNvSpPr>
          <p:nvPr>
            <p:ph idx="1"/>
          </p:nvPr>
        </p:nvSpPr>
        <p:spPr>
          <a:xfrm>
            <a:off x="521208" y="1679839"/>
            <a:ext cx="11155680" cy="4666097"/>
          </a:xfrm>
        </p:spPr>
        <p:txBody>
          <a:bodyPr vert="horz" lIns="91440" tIns="45720" rIns="91440" bIns="45720" rtlCol="0" anchor="t">
            <a:noAutofit/>
          </a:bodyPr>
          <a:lstStyle/>
          <a:p>
            <a:r>
              <a:rPr lang="en-US">
                <a:solidFill>
                  <a:srgbClr val="000000"/>
                </a:solidFill>
                <a:highlight>
                  <a:srgbClr val="FFFFFF"/>
                </a:highlight>
                <a:latin typeface="Segoe UI"/>
                <a:cs typeface="Segoe UI"/>
              </a:rPr>
              <a:t>It signals a strong shift toward federal control over AI policy, reducing the power of individual states to set their own rules.</a:t>
            </a:r>
            <a:endParaRPr lang="en-US">
              <a:solidFill>
                <a:srgbClr val="000000"/>
              </a:solidFill>
              <a:highlight>
                <a:srgbClr val="606060"/>
              </a:highlight>
              <a:latin typeface="Segoe UI"/>
              <a:cs typeface="Segoe UI"/>
            </a:endParaRPr>
          </a:p>
          <a:p>
            <a:r>
              <a:rPr lang="en-US" dirty="0">
                <a:solidFill>
                  <a:srgbClr val="000000"/>
                </a:solidFill>
                <a:highlight>
                  <a:srgbClr val="FFFFFF"/>
                </a:highlight>
                <a:latin typeface="Segoe UI"/>
                <a:cs typeface="Segoe UI"/>
              </a:rPr>
              <a:t>Supporters would likely argue this could speed up innovation, attract investment, and help the U.S. compete globally.</a:t>
            </a:r>
            <a:endParaRPr lang="en-US">
              <a:solidFill>
                <a:srgbClr val="000000"/>
              </a:solidFill>
              <a:highlight>
                <a:srgbClr val="606060"/>
              </a:highlight>
              <a:latin typeface="Segoe UI"/>
              <a:cs typeface="Segoe UI"/>
            </a:endParaRPr>
          </a:p>
          <a:p>
            <a:r>
              <a:rPr lang="en-US" dirty="0">
                <a:solidFill>
                  <a:srgbClr val="000000"/>
                </a:solidFill>
                <a:highlight>
                  <a:srgbClr val="FFFFFF"/>
                </a:highlight>
                <a:latin typeface="Segoe UI"/>
                <a:cs typeface="Segoe UI"/>
              </a:rPr>
              <a:t>Critics would likely worry it weakens protections against harms such as bias, misinformation, privacy violations, and lack of transparency.</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The order suggests a tension between innovation and regulation: it prioritizes economic growth and global competition over more cautious oversight.</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It may increase legal and political conflict between federal and state governments, especially around constitutional questions like interstate commerce and free speech.</a:t>
            </a:r>
            <a:endParaRPr lang="en-US">
              <a:solidFill>
                <a:srgbClr val="000000"/>
              </a:solidFill>
              <a:highlight>
                <a:srgbClr val="606060"/>
              </a:highlight>
              <a:latin typeface="Segoe UI"/>
              <a:cs typeface="Segoe UI"/>
            </a:endParaRPr>
          </a:p>
          <a:p>
            <a:r>
              <a:rPr lang="en-US">
                <a:solidFill>
                  <a:srgbClr val="000000"/>
                </a:solidFill>
                <a:highlight>
                  <a:srgbClr val="FFFFFF"/>
                </a:highlight>
                <a:latin typeface="Segoe UI"/>
                <a:cs typeface="Segoe UI"/>
              </a:rPr>
              <a:t>Society could see faster AI deployment, but potentially with fewer local safeguards unless Congress creates a balanced national framework.</a:t>
            </a:r>
            <a:endParaRPr lang="en-US">
              <a:solidFill>
                <a:srgbClr val="000000"/>
              </a:solidFill>
              <a:highlight>
                <a:srgbClr val="606060"/>
              </a:highlight>
              <a:latin typeface="Segoe UI"/>
              <a:cs typeface="Segoe UI"/>
            </a:endParaRPr>
          </a:p>
          <a:p>
            <a:endParaRPr lang="en-US" sz="3600"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496355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24BB7-78A4-A9DA-7DA1-9EB2C8A6DE93}"/>
              </a:ext>
            </a:extLst>
          </p:cNvPr>
          <p:cNvSpPr>
            <a:spLocks noGrp="1"/>
          </p:cNvSpPr>
          <p:nvPr>
            <p:ph type="title"/>
          </p:nvPr>
        </p:nvSpPr>
        <p:spPr>
          <a:xfrm>
            <a:off x="521208" y="673608"/>
            <a:ext cx="11155680" cy="1463040"/>
          </a:xfrm>
        </p:spPr>
        <p:txBody>
          <a:bodyPr>
            <a:normAutofit/>
          </a:bodyPr>
          <a:lstStyle/>
          <a:p>
            <a:r>
              <a:rPr lang="en-US" sz="4000" dirty="0">
                <a:solidFill>
                  <a:srgbClr val="242424"/>
                </a:solidFill>
                <a:latin typeface="Segoe UI"/>
                <a:cs typeface="Segoe UI"/>
              </a:rPr>
              <a:t>Relevance and potential influence on the construction industry</a:t>
            </a:r>
            <a:endParaRPr lang="en-US" sz="4000" b="0" dirty="0">
              <a:solidFill>
                <a:srgbClr val="242424"/>
              </a:solidFill>
              <a:latin typeface="Segoe UI"/>
              <a:cs typeface="Segoe UI"/>
            </a:endParaRPr>
          </a:p>
        </p:txBody>
      </p:sp>
      <p:sp>
        <p:nvSpPr>
          <p:cNvPr id="3" name="Content Placeholder 2">
            <a:extLst>
              <a:ext uri="{FF2B5EF4-FFF2-40B4-BE49-F238E27FC236}">
                <a16:creationId xmlns:a16="http://schemas.microsoft.com/office/drawing/2014/main" id="{6C5EF147-DC52-21BF-3341-DF3BD5996821}"/>
              </a:ext>
            </a:extLst>
          </p:cNvPr>
          <p:cNvSpPr>
            <a:spLocks noGrp="1"/>
          </p:cNvSpPr>
          <p:nvPr>
            <p:ph idx="1"/>
          </p:nvPr>
        </p:nvSpPr>
        <p:spPr>
          <a:xfrm>
            <a:off x="521208" y="2138994"/>
            <a:ext cx="11155680" cy="4705172"/>
          </a:xfrm>
        </p:spPr>
        <p:txBody>
          <a:bodyPr vert="horz" lIns="91440" tIns="45720" rIns="91440" bIns="45720" rtlCol="0" anchor="t">
            <a:noAutofit/>
          </a:bodyPr>
          <a:lstStyle/>
          <a:p>
            <a:pPr>
              <a:buFont typeface="Arial"/>
              <a:buChar char="•"/>
            </a:pPr>
            <a:r>
              <a:rPr lang="en-US">
                <a:solidFill>
                  <a:srgbClr val="000000"/>
                </a:solidFill>
                <a:highlight>
                  <a:srgbClr val="FFFFFF"/>
                </a:highlight>
                <a:latin typeface="Segoe UI"/>
                <a:cs typeface="Segoe UI"/>
              </a:rPr>
              <a:t>A lighter national AI framework could make it easier for construction firms to adopt AI tools across multiple states without dealing with different state regulations.</a:t>
            </a:r>
            <a:endParaRPr lang="en-US">
              <a:solidFill>
                <a:srgbClr val="000000"/>
              </a:solidFill>
              <a:highlight>
                <a:srgbClr val="606060"/>
              </a:highlight>
              <a:latin typeface="Segoe UI"/>
              <a:cs typeface="Segoe UI"/>
            </a:endParaRPr>
          </a:p>
          <a:p>
            <a:pPr>
              <a:buFont typeface="Arial"/>
              <a:buChar char="•"/>
            </a:pPr>
            <a:r>
              <a:rPr lang="en-US" dirty="0">
                <a:solidFill>
                  <a:srgbClr val="000000"/>
                </a:solidFill>
                <a:highlight>
                  <a:srgbClr val="FFFFFF"/>
                </a:highlight>
                <a:latin typeface="Segoe UI"/>
                <a:cs typeface="Segoe UI"/>
              </a:rPr>
              <a:t>Large contractors, consultants, and software vendors could benefit from more uniform rules when using AI for scheduling, estimating, clash detection, risk analysis, document review, and project controls.</a:t>
            </a:r>
            <a:endParaRPr lang="en-US">
              <a:solidFill>
                <a:srgbClr val="000000"/>
              </a:solidFill>
              <a:highlight>
                <a:srgbClr val="606060"/>
              </a:highlight>
              <a:latin typeface="Segoe UI"/>
              <a:cs typeface="Segoe UI"/>
            </a:endParaRPr>
          </a:p>
          <a:p>
            <a:pPr>
              <a:buFont typeface="Arial"/>
              <a:buChar char="•"/>
            </a:pPr>
            <a:r>
              <a:rPr lang="en-US">
                <a:solidFill>
                  <a:srgbClr val="000000"/>
                </a:solidFill>
                <a:highlight>
                  <a:srgbClr val="FFFFFF"/>
                </a:highlight>
                <a:latin typeface="Segoe UI"/>
                <a:cs typeface="Segoe UI"/>
              </a:rPr>
              <a:t>Startups in construction tech may find it easier to scale AI products nationally if compliance becomes simpler.</a:t>
            </a:r>
            <a:endParaRPr lang="en-US">
              <a:solidFill>
                <a:srgbClr val="000000"/>
              </a:solidFill>
              <a:highlight>
                <a:srgbClr val="606060"/>
              </a:highlight>
              <a:latin typeface="Segoe UI"/>
              <a:cs typeface="Segoe UI"/>
            </a:endParaRPr>
          </a:p>
          <a:p>
            <a:pPr>
              <a:buFont typeface="Arial"/>
              <a:buChar char="•"/>
            </a:pPr>
            <a:r>
              <a:rPr lang="en-US">
                <a:solidFill>
                  <a:srgbClr val="000000"/>
                </a:solidFill>
                <a:highlight>
                  <a:srgbClr val="FFFFFF"/>
                </a:highlight>
                <a:latin typeface="Segoe UI"/>
                <a:cs typeface="Segoe UI"/>
              </a:rPr>
              <a:t>AI adoption in areas like predictive maintenance, jobsite monitoring, workforce planning, procurement, and BIM-related analytics could accelerate.</a:t>
            </a:r>
            <a:endParaRPr lang="en-US">
              <a:solidFill>
                <a:srgbClr val="000000"/>
              </a:solidFill>
              <a:highlight>
                <a:srgbClr val="606060"/>
              </a:highlight>
              <a:latin typeface="Segoe UI"/>
              <a:cs typeface="Segoe UI"/>
            </a:endParaRPr>
          </a:p>
          <a:p>
            <a:pPr>
              <a:buFont typeface="Arial"/>
              <a:buChar char="•"/>
            </a:pPr>
            <a:r>
              <a:rPr lang="en-US">
                <a:solidFill>
                  <a:srgbClr val="000000"/>
                </a:solidFill>
                <a:highlight>
                  <a:srgbClr val="FFFFFF"/>
                </a:highlight>
                <a:latin typeface="Segoe UI"/>
                <a:cs typeface="Segoe UI"/>
              </a:rPr>
              <a:t>On the other hand, fewer state restrictions could raise concerns about accountability if AI tools make flawed recommendations related to safety, hiring, design coordination, or cost forecasting.</a:t>
            </a:r>
            <a:endParaRPr lang="en-US">
              <a:solidFill>
                <a:srgbClr val="000000"/>
              </a:solidFill>
              <a:highlight>
                <a:srgbClr val="606060"/>
              </a:highlight>
              <a:latin typeface="Segoe UI"/>
              <a:cs typeface="Segoe UI"/>
            </a:endParaRPr>
          </a:p>
          <a:p>
            <a:pPr>
              <a:buFont typeface="Arial"/>
              <a:buChar char="•"/>
            </a:pPr>
            <a:r>
              <a:rPr lang="en-US">
                <a:solidFill>
                  <a:srgbClr val="000000"/>
                </a:solidFill>
                <a:highlight>
                  <a:srgbClr val="FFFFFF"/>
                </a:highlight>
                <a:latin typeface="Segoe UI"/>
                <a:cs typeface="Segoe UI"/>
              </a:rPr>
              <a:t>For owners and contractors, the order may encourage broader experimentation with AI, but it may also create uncertainty until federal standards are fully defined.</a:t>
            </a:r>
            <a:endParaRPr lang="en-US">
              <a:solidFill>
                <a:srgbClr val="000000"/>
              </a:solidFill>
              <a:highlight>
                <a:srgbClr val="606060"/>
              </a:highlight>
              <a:latin typeface="Segoe UI"/>
              <a:cs typeface="Segoe UI"/>
            </a:endParaRPr>
          </a:p>
          <a:p>
            <a:pPr>
              <a:buFont typeface="Arial"/>
              <a:buChar char="•"/>
            </a:pPr>
            <a:endParaRPr lang="en-US" sz="2000" dirty="0">
              <a:solidFill>
                <a:srgbClr val="242424"/>
              </a:solidFill>
              <a:highlight>
                <a:srgbClr val="606060"/>
              </a:highlight>
              <a:latin typeface="Aptos"/>
              <a:cs typeface="Segoe UI"/>
            </a:endParaRPr>
          </a:p>
          <a:p>
            <a:pPr>
              <a:buFont typeface="Arial"/>
              <a:buChar char="•"/>
            </a:pPr>
            <a:endParaRPr lang="en-US" sz="2000" dirty="0">
              <a:solidFill>
                <a:srgbClr val="242424"/>
              </a:solidFill>
              <a:highlight>
                <a:srgbClr val="FFFFFF"/>
              </a:highlight>
              <a:latin typeface="Segoe UI"/>
              <a:cs typeface="Segoe UI"/>
            </a:endParaRPr>
          </a:p>
          <a:p>
            <a:pPr>
              <a:buNone/>
            </a:pPr>
            <a:endParaRPr lang="en-US" sz="2400" dirty="0">
              <a:solidFill>
                <a:srgbClr val="242424"/>
              </a:solidFill>
              <a:highlight>
                <a:srgbClr val="FFFFFF"/>
              </a:highlight>
              <a:latin typeface="Aptos"/>
              <a:cs typeface="Segoe UI"/>
            </a:endParaRPr>
          </a:p>
          <a:p>
            <a:pPr indent="0">
              <a:lnSpc>
                <a:spcPct val="100000"/>
              </a:lnSpc>
              <a:spcBef>
                <a:spcPts val="200"/>
              </a:spcBef>
              <a:buNone/>
            </a:pPr>
            <a:endParaRPr lang="en-US" sz="2800" b="1" dirty="0">
              <a:solidFill>
                <a:srgbClr val="242424"/>
              </a:solidFill>
              <a:highlight>
                <a:srgbClr val="FFFFFF"/>
              </a:highlight>
              <a:latin typeface="Segoe UI"/>
              <a:cs typeface="Segoe UI"/>
            </a:endParaRPr>
          </a:p>
        </p:txBody>
      </p:sp>
    </p:spTree>
    <p:extLst>
      <p:ext uri="{BB962C8B-B14F-4D97-AF65-F5344CB8AC3E}">
        <p14:creationId xmlns:p14="http://schemas.microsoft.com/office/powerpoint/2010/main" val="21149386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GestaltVTI</vt:lpstr>
      <vt:lpstr>ENSURING A NATIONAL POLICY FRAMEWORK FOR ARTIFICIAL INTELLIGENCE    </vt:lpstr>
      <vt:lpstr>Article #4 (Row 4 via Google Sheet)</vt:lpstr>
      <vt:lpstr>Link to the Source    </vt:lpstr>
      <vt:lpstr>Main Findings</vt:lpstr>
      <vt:lpstr>Broader implications for society</vt:lpstr>
      <vt:lpstr>Relevance and potential influence on the construction industry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265</cp:revision>
  <dcterms:created xsi:type="dcterms:W3CDTF">2026-01-21T18:15:53Z</dcterms:created>
  <dcterms:modified xsi:type="dcterms:W3CDTF">2026-04-03T19:24:45Z</dcterms:modified>
</cp:coreProperties>
</file>
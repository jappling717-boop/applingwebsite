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FBF376-3CE5-A5F7-1616-E9B2AD20F22F}" v="99" dt="2026-02-13T19:40:12.0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604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643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566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090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235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04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268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33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282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806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660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800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8BEC44CD-E290-4D60-A056-5BA05B18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E07D40-A245-9D21-990E-163093592FF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5000"/>
          <a:stretch>
            <a:fillRect/>
          </a:stretch>
        </p:blipFill>
        <p:spPr>
          <a:xfrm>
            <a:off x="-2" y="-4"/>
            <a:ext cx="12192001" cy="68580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7870" y="978408"/>
            <a:ext cx="10628720" cy="245059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b="0"/>
              <a:t>The Bold Claim That AGI And AI Superintelligence Will Radically Fragment Society</a:t>
            </a:r>
            <a:endParaRPr lang="en-US"/>
          </a:p>
          <a:p>
            <a:endParaRPr lang="en-US" b="0" dirty="0"/>
          </a:p>
          <a:p>
            <a:pPr>
              <a:lnSpc>
                <a:spcPct val="90000"/>
              </a:lnSpc>
            </a:pPr>
            <a:endParaRPr lang="en-US" sz="5100" dirty="0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52366" y="4017818"/>
            <a:ext cx="5040785" cy="1828799"/>
          </a:xfrm>
        </p:spPr>
        <p:txBody>
          <a:bodyPr anchor="b">
            <a:normAutofit/>
          </a:bodyPr>
          <a:lstStyle/>
          <a:p>
            <a:r>
              <a:rPr lang="en-US" sz="2400">
                <a:solidFill>
                  <a:srgbClr val="FFFFFF"/>
                </a:solidFill>
              </a:rPr>
              <a:t>Week of February 9</a:t>
            </a:r>
            <a:endParaRPr lang="en-US">
              <a:solidFill>
                <a:srgbClr val="FFFFFF"/>
              </a:solidFill>
            </a:endParaRPr>
          </a:p>
          <a:p>
            <a:r>
              <a:rPr lang="en-US" sz="2400">
                <a:solidFill>
                  <a:srgbClr val="FFFFFF"/>
                </a:solidFill>
              </a:rPr>
              <a:t>Jacob Appling</a:t>
            </a:r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DC23DC2D-0DFD-B0BD-C646-933B6D10D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8177" y="5621614"/>
            <a:ext cx="3556683" cy="71912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600"/>
              <a:t>Article #4 (Row 4 via Google Sheet)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BD0C058D-27D4-3139-E199-E2C11099B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Picture 2" descr="A person and person looking at a screen&#10;&#10;AI-generated content may be incorrect.">
            <a:extLst>
              <a:ext uri="{FF2B5EF4-FFF2-40B4-BE49-F238E27FC236}">
                <a16:creationId xmlns:a16="http://schemas.microsoft.com/office/drawing/2014/main" id="{C89ED21A-CF0C-C3F6-9257-AD213F6CE0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826" y="766398"/>
            <a:ext cx="7333488" cy="4565095"/>
          </a:xfrm>
          <a:prstGeom prst="rect">
            <a:avLst/>
          </a:prstGeom>
        </p:spPr>
      </p:pic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E94E0531-D614-3CB6-996E-FF0184A33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920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710FC-6EAE-BA9C-1641-3B63159CE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 to the Source    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4E899-76A9-7A08-8C46-D08850176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dirty="0">
                <a:solidFill>
                  <a:srgbClr val="1155CC"/>
                </a:solidFill>
                <a:ea typeface="+mn-lt"/>
                <a:cs typeface="+mn-lt"/>
              </a:rPr>
              <a:t>https://www.forbes.com/sites/lanceeliot/2025/10/12/the-bold-claim-that-agi-and-ai-superintelligence-will-radically-fragment-society/</a:t>
            </a:r>
          </a:p>
        </p:txBody>
      </p:sp>
    </p:spTree>
    <p:extLst>
      <p:ext uri="{BB962C8B-B14F-4D97-AF65-F5344CB8AC3E}">
        <p14:creationId xmlns:p14="http://schemas.microsoft.com/office/powerpoint/2010/main" val="2821818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C0A62-D915-1CA6-8C2A-76FBC0EE7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802562"/>
            <a:ext cx="11155680" cy="740117"/>
          </a:xfrm>
        </p:spPr>
        <p:txBody>
          <a:bodyPr>
            <a:normAutofit fontScale="90000"/>
          </a:bodyPr>
          <a:lstStyle/>
          <a:p>
            <a:r>
              <a:rPr lang="en-US" dirty="0"/>
              <a:t>Main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EB02B-DC8F-5BE0-79DB-2C3117E5A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416070"/>
            <a:ext cx="11155680" cy="460748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b="1">
                <a:solidFill>
                  <a:srgbClr val="242424"/>
                </a:solidFill>
                <a:highlight>
                  <a:srgbClr val="FFFFFF"/>
                </a:highlight>
                <a:latin typeface="Segoe UI"/>
                <a:cs typeface="Segoe UI"/>
              </a:rPr>
              <a:t>Central Thesis: 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  <a:latin typeface="Segoe UI"/>
                <a:cs typeface="Segoe UI"/>
              </a:rPr>
              <a:t>The article explores a provocative idea that the advent of Artificial General Intelligence (AGI) and potentially Artificial Superintelligence (ASI) could fragment human society into competing and divided factions rather than unify humanity. </a:t>
            </a:r>
            <a:endParaRPr lang="en-US"/>
          </a:p>
          <a:p>
            <a:r>
              <a:rPr lang="en-US" b="1" dirty="0">
                <a:solidFill>
                  <a:srgbClr val="242424"/>
                </a:solidFill>
                <a:highlight>
                  <a:srgbClr val="FFFFFF"/>
                </a:highlight>
                <a:latin typeface="Segoe UI"/>
                <a:cs typeface="Segoe UI"/>
              </a:rPr>
              <a:t>Why Fragmentation Might Occur: </a:t>
            </a:r>
            <a:r>
              <a:rPr lang="en-US" dirty="0">
                <a:solidFill>
                  <a:srgbClr val="242424"/>
                </a:solidFill>
                <a:highlight>
                  <a:srgbClr val="FFFFFF"/>
                </a:highlight>
                <a:latin typeface="Segoe UI"/>
                <a:cs typeface="Segoe UI"/>
              </a:rPr>
              <a:t>The claim rests on the notion that different groups of people will interpret and respond to AGI guidance in radically different ways. Instead of a cohesive societal consensus, people may form ideological camps — much like political or religious factions — based on who they trust, how they use AGI, and what AGI “advice” they follow. </a:t>
            </a:r>
            <a:endParaRPr lang="en-US"/>
          </a:p>
          <a:p>
            <a:r>
              <a:rPr lang="en-US" b="1" dirty="0">
                <a:solidFill>
                  <a:srgbClr val="242424"/>
                </a:solidFill>
                <a:highlight>
                  <a:srgbClr val="FFFFFF"/>
                </a:highlight>
                <a:latin typeface="Segoe UI"/>
                <a:cs typeface="Segoe UI"/>
              </a:rPr>
              <a:t>Zealotry Around AGI: </a:t>
            </a:r>
            <a:r>
              <a:rPr lang="en-US" dirty="0">
                <a:solidFill>
                  <a:srgbClr val="242424"/>
                </a:solidFill>
                <a:highlight>
                  <a:srgbClr val="FFFFFF"/>
                </a:highlight>
                <a:latin typeface="Segoe UI"/>
                <a:cs typeface="Segoe UI"/>
              </a:rPr>
              <a:t>One key argument is that some individuals might view AGI as a kind of oracle, supreme prophet, or absolute authority. This perception could drive belief systems and behaviors that further divide groups of people. </a:t>
            </a:r>
            <a:endParaRPr lang="en-US"/>
          </a:p>
          <a:p>
            <a:r>
              <a:rPr lang="en-US" b="1">
                <a:solidFill>
                  <a:srgbClr val="242424"/>
                </a:solidFill>
                <a:highlight>
                  <a:srgbClr val="FFFFFF"/>
                </a:highlight>
                <a:latin typeface="Segoe UI"/>
                <a:cs typeface="Segoe UI"/>
              </a:rPr>
              <a:t>Polarized Dependence: 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  <a:latin typeface="Segoe UI"/>
                <a:cs typeface="Segoe UI"/>
              </a:rPr>
              <a:t>As AGI becomes deeply embedded in social, economic, and personal decision-making, differing interpretations of AGI outputs could amplify existing divisions and create new ones, intensifying polarization.</a:t>
            </a:r>
            <a:endParaRPr lang="en-US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898071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75790-8890-3628-B7DD-81E195429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763485"/>
            <a:ext cx="11155680" cy="72057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242424"/>
                </a:solidFill>
                <a:latin typeface="Segoe UI"/>
                <a:cs typeface="Segoe UI"/>
              </a:rPr>
              <a:t>Broader implications for society</a:t>
            </a:r>
            <a:endParaRPr lang="en-US" sz="4000" b="0" dirty="0">
              <a:solidFill>
                <a:srgbClr val="242424"/>
              </a:solidFill>
              <a:latin typeface="Segoe UI"/>
              <a:cs typeface="Segoe U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7E37E-6308-33F8-8F93-FC5CF544A6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679839"/>
            <a:ext cx="11155680" cy="466609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b="1">
                <a:solidFill>
                  <a:srgbClr val="242424"/>
                </a:solidFill>
                <a:highlight>
                  <a:srgbClr val="FFFFFF"/>
                </a:highlight>
                <a:latin typeface="Segoe UI"/>
                <a:cs typeface="Segoe UI"/>
              </a:rPr>
              <a:t>New Social Fault Lines: 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  <a:latin typeface="Segoe UI"/>
                <a:cs typeface="Segoe UI"/>
              </a:rPr>
              <a:t>Rather than a unified human response to AGI, the article suggests societies might split along lines of trust, allegiance, or ideology tied to different AI paradigms and recommendations. </a:t>
            </a:r>
          </a:p>
          <a:p>
            <a:r>
              <a:rPr lang="en-US" b="1">
                <a:solidFill>
                  <a:srgbClr val="242424"/>
                </a:solidFill>
                <a:highlight>
                  <a:srgbClr val="FFFFFF"/>
                </a:highlight>
                <a:latin typeface="Segoe UI"/>
                <a:cs typeface="Segoe UI"/>
              </a:rPr>
              <a:t>Risk of Ideological Extremes: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  <a:latin typeface="Segoe UI"/>
                <a:cs typeface="Segoe UI"/>
              </a:rPr>
              <a:t> People treating AGI as an unquestionable authority may reject expert consensus, democratic processes, or scientific evidence in favor of following AI-derived “truths,” potentially fueling extremism or misinformation loops. </a:t>
            </a:r>
            <a:endParaRPr lang="en-US"/>
          </a:p>
          <a:p>
            <a:r>
              <a:rPr lang="en-US" b="1">
                <a:solidFill>
                  <a:srgbClr val="242424"/>
                </a:solidFill>
                <a:highlight>
                  <a:srgbClr val="FFFFFF"/>
                </a:highlight>
                <a:latin typeface="Segoe UI"/>
                <a:cs typeface="Segoe UI"/>
              </a:rPr>
              <a:t>Erosion of Shared Reality: 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  <a:latin typeface="Segoe UI"/>
                <a:cs typeface="Segoe UI"/>
              </a:rPr>
              <a:t>If subsets of the population begin acting on different AI outputs or interpretations, shared societal narratives — which are necessary for collective decision-making — may collapse, making coordinated responses to crises (pandemics, climate change, war, etc.) harder or impossible.</a:t>
            </a:r>
            <a:endParaRPr lang="en-US"/>
          </a:p>
          <a:p>
            <a:r>
              <a:rPr lang="en-US" b="1">
                <a:solidFill>
                  <a:srgbClr val="242424"/>
                </a:solidFill>
                <a:highlight>
                  <a:srgbClr val="FFFFFF"/>
                </a:highlight>
                <a:latin typeface="Segoe UI"/>
                <a:cs typeface="Segoe UI"/>
              </a:rPr>
              <a:t>Psychological and Cultural Shifts: </a:t>
            </a: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  <a:latin typeface="Segoe UI"/>
                <a:cs typeface="Segoe UI"/>
              </a:rPr>
              <a:t>Trust in human institutions (governments, education systems, media) might erode if AGI is seen as superior or infallible by significant segments of the population.</a:t>
            </a:r>
            <a:br>
              <a:rPr lang="en-US" sz="3200" dirty="0"/>
            </a:b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2496355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24BB7-78A4-A9DA-7DA1-9EB2C8A6D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73608"/>
            <a:ext cx="11155680" cy="146304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242424"/>
                </a:solidFill>
                <a:latin typeface="Segoe UI"/>
                <a:cs typeface="Segoe UI"/>
              </a:rPr>
              <a:t>Relevance and potential influence on the construction industry</a:t>
            </a:r>
            <a:endParaRPr lang="en-US" sz="4000" b="0" dirty="0">
              <a:solidFill>
                <a:srgbClr val="242424"/>
              </a:solidFill>
              <a:latin typeface="Segoe UI"/>
              <a:cs typeface="Segoe U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EF147-DC52-21BF-3341-DF3BD5996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138994"/>
            <a:ext cx="11155680" cy="470517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400">
                <a:solidFill>
                  <a:srgbClr val="242424"/>
                </a:solidFill>
                <a:highlight>
                  <a:srgbClr val="FFFFFF"/>
                </a:highlight>
                <a:latin typeface="Segoe UI"/>
                <a:cs typeface="Segoe UI"/>
              </a:rPr>
              <a:t>Though not specific to construction, the themes in the article can be connected to that sector in several consequential ways</a:t>
            </a:r>
            <a:endParaRPr lang="en-US" sz="1400"/>
          </a:p>
          <a:p>
            <a:r>
              <a:rPr lang="en-US" sz="1200" b="1">
                <a:solidFill>
                  <a:srgbClr val="242424"/>
                </a:solidFill>
                <a:highlight>
                  <a:srgbClr val="FFFFFF"/>
                </a:highlight>
                <a:latin typeface="Segoe UI"/>
                <a:cs typeface="Segoe UI"/>
              </a:rPr>
              <a:t>Workforce and Organizational Fragmentation:</a:t>
            </a:r>
            <a:r>
              <a:rPr lang="en-US" sz="1200">
                <a:solidFill>
                  <a:srgbClr val="242424"/>
                </a:solidFill>
                <a:highlight>
                  <a:srgbClr val="FFFFFF"/>
                </a:highlight>
                <a:latin typeface="Segoe UI"/>
                <a:cs typeface="Segoe UI"/>
              </a:rPr>
              <a:t> Division in Adoption: Within construction firms, different teams or companies might adopt different AGI tools or rely on different AGI-derived methodologies, leading to non-standard practices, compatibility issues, and fractured workflows across the industry.</a:t>
            </a:r>
            <a:endParaRPr lang="en-US" sz="1200" dirty="0">
              <a:solidFill>
                <a:srgbClr val="242424"/>
              </a:solidFill>
              <a:highlight>
                <a:srgbClr val="FFFFFF"/>
              </a:highlight>
              <a:latin typeface="Segoe UI"/>
              <a:cs typeface="Segoe UI"/>
            </a:endParaRPr>
          </a:p>
          <a:p>
            <a:r>
              <a:rPr lang="en-US" sz="1200" b="1">
                <a:solidFill>
                  <a:srgbClr val="242424"/>
                </a:solidFill>
                <a:highlight>
                  <a:srgbClr val="FFFFFF"/>
                </a:highlight>
                <a:latin typeface="Segoe UI"/>
                <a:cs typeface="Segoe UI"/>
              </a:rPr>
              <a:t>Decision-Making and Guidance: Conflicting Guidance:</a:t>
            </a:r>
            <a:r>
              <a:rPr lang="en-US" sz="1200">
                <a:solidFill>
                  <a:srgbClr val="242424"/>
                </a:solidFill>
                <a:highlight>
                  <a:srgbClr val="FFFFFF"/>
                </a:highlight>
                <a:latin typeface="Segoe UI"/>
                <a:cs typeface="Segoe UI"/>
              </a:rPr>
              <a:t> If AGI systems provide differing design or management recommendations — especially in complex areas like safety planning, risk assessment, or scheduling — factions within projects could form around which AI “expert” to trust. This might slow decision cycles or create internal disputes.</a:t>
            </a:r>
            <a:endParaRPr lang="en-US" sz="1200" dirty="0">
              <a:solidFill>
                <a:srgbClr val="242424"/>
              </a:solidFill>
              <a:highlight>
                <a:srgbClr val="FFFFFF"/>
              </a:highlight>
              <a:latin typeface="Segoe UI"/>
              <a:cs typeface="Segoe UI"/>
            </a:endParaRPr>
          </a:p>
          <a:p>
            <a:r>
              <a:rPr lang="en-US" sz="1200" b="1">
                <a:solidFill>
                  <a:srgbClr val="242424"/>
                </a:solidFill>
                <a:highlight>
                  <a:srgbClr val="FFFFFF"/>
                </a:highlight>
                <a:latin typeface="Segoe UI"/>
                <a:cs typeface="Segoe UI"/>
              </a:rPr>
              <a:t>Training and Standards: </a:t>
            </a:r>
            <a:r>
              <a:rPr lang="en-US" sz="1200">
                <a:solidFill>
                  <a:srgbClr val="242424"/>
                </a:solidFill>
                <a:highlight>
                  <a:srgbClr val="FFFFFF"/>
                </a:highlight>
                <a:latin typeface="Segoe UI"/>
                <a:cs typeface="Segoe UI"/>
              </a:rPr>
              <a:t>Fragmented Training Regimes: AGI-based training systems could teach different techniques or safety norms based on their underlying models. Without industry-wide alignment, this risks inconsistent skill levels and safety standards among workers.</a:t>
            </a:r>
            <a:endParaRPr lang="en-US" sz="1200" dirty="0">
              <a:solidFill>
                <a:srgbClr val="242424"/>
              </a:solidFill>
              <a:highlight>
                <a:srgbClr val="FFFFFF"/>
              </a:highlight>
              <a:latin typeface="Segoe UI"/>
              <a:cs typeface="Segoe UI"/>
            </a:endParaRPr>
          </a:p>
          <a:p>
            <a:r>
              <a:rPr lang="en-US" sz="1200" b="1" dirty="0">
                <a:solidFill>
                  <a:srgbClr val="242424"/>
                </a:solidFill>
                <a:highlight>
                  <a:srgbClr val="FFFFFF"/>
                </a:highlight>
                <a:latin typeface="Segoe UI"/>
                <a:cs typeface="Segoe UI"/>
              </a:rPr>
              <a:t>Technology Governance and </a:t>
            </a:r>
            <a:r>
              <a:rPr lang="en-US" sz="1200" b="1">
                <a:solidFill>
                  <a:srgbClr val="242424"/>
                </a:solidFill>
                <a:highlight>
                  <a:srgbClr val="FFFFFF"/>
                </a:highlight>
                <a:latin typeface="Segoe UI"/>
                <a:cs typeface="Segoe UI"/>
              </a:rPr>
              <a:t>Regulation:</a:t>
            </a:r>
            <a:r>
              <a:rPr lang="en-US" sz="1200">
                <a:solidFill>
                  <a:srgbClr val="242424"/>
                </a:solidFill>
                <a:highlight>
                  <a:srgbClr val="FFFFFF"/>
                </a:highlight>
                <a:latin typeface="Segoe UI"/>
                <a:cs typeface="Segoe UI"/>
              </a:rPr>
              <a:t> Divergent</a:t>
            </a:r>
            <a:r>
              <a:rPr lang="en-US" sz="1200" dirty="0">
                <a:solidFill>
                  <a:srgbClr val="242424"/>
                </a:solidFill>
                <a:highlight>
                  <a:srgbClr val="FFFFFF"/>
                </a:highlight>
                <a:latin typeface="Segoe UI"/>
                <a:cs typeface="Segoe UI"/>
              </a:rPr>
              <a:t> Regulation: Fragmented societal attitudes toward AGI could result in inconsistent regional or company-specific regulations affecting how AI is used in construction (e.g., permitting decisions, risk assessments, autonomous equipment operations).</a:t>
            </a:r>
          </a:p>
          <a:p>
            <a:r>
              <a:rPr lang="en-US" sz="1200" b="1">
                <a:solidFill>
                  <a:srgbClr val="242424"/>
                </a:solidFill>
                <a:highlight>
                  <a:srgbClr val="FFFFFF"/>
                </a:highlight>
                <a:latin typeface="Segoe UI"/>
                <a:cs typeface="Segoe UI"/>
              </a:rPr>
              <a:t>Innovation Pace:</a:t>
            </a:r>
            <a:r>
              <a:rPr lang="en-US" sz="1200">
                <a:solidFill>
                  <a:srgbClr val="242424"/>
                </a:solidFill>
                <a:highlight>
                  <a:srgbClr val="FFFFFF"/>
                </a:highlight>
                <a:latin typeface="Segoe UI"/>
                <a:cs typeface="Segoe UI"/>
              </a:rPr>
              <a:t> Rapid AI Adoption vs Resistance: Some firms might quickly integrate AGI-powered design and project management systems, while others resist, creating competitive imbalances and fractured supply chains.</a:t>
            </a:r>
            <a:endParaRPr lang="en-US" sz="1200" dirty="0">
              <a:solidFill>
                <a:srgbClr val="242424"/>
              </a:solidFill>
              <a:highlight>
                <a:srgbClr val="FFFFFF"/>
              </a:highlight>
              <a:latin typeface="Segoe UI"/>
              <a:cs typeface="Segoe UI"/>
            </a:endParaRPr>
          </a:p>
          <a:p>
            <a:endParaRPr lang="en-US" sz="1200" dirty="0">
              <a:solidFill>
                <a:srgbClr val="242424"/>
              </a:solidFill>
              <a:highlight>
                <a:srgbClr val="FFFFFF"/>
              </a:highlight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lang="en-US" sz="1400" b="1" dirty="0">
              <a:solidFill>
                <a:srgbClr val="242424"/>
              </a:solidFill>
              <a:highlight>
                <a:srgbClr val="FFFFFF"/>
              </a:highlight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114938638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GestaltVTI</vt:lpstr>
      <vt:lpstr>The Bold Claim That AGI And AI Superintelligence Will Radically Fragment Society  </vt:lpstr>
      <vt:lpstr>Article #4 (Row 4 via Google Sheet)</vt:lpstr>
      <vt:lpstr>Link to the Source    </vt:lpstr>
      <vt:lpstr>Main Findings</vt:lpstr>
      <vt:lpstr>Broader implications for society</vt:lpstr>
      <vt:lpstr>Relevance and potential influence on the construction industry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186</cp:revision>
  <dcterms:created xsi:type="dcterms:W3CDTF">2026-01-21T18:15:53Z</dcterms:created>
  <dcterms:modified xsi:type="dcterms:W3CDTF">2026-02-13T20:35:54Z</dcterms:modified>
</cp:coreProperties>
</file>